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23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135C8-8E1D-48E4-921F-6D4DCB6C2787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08A1-6906-4D38-A7C7-B44CBC6C5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77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18504-2EF6-21E4-DB6C-CFC8E93E2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7069C4-9398-509F-E50E-BC7957CB3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B6996-D322-043A-84EE-BAF1993A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ABB09-FFE6-A1A8-6DE2-21E2BAAE2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9D05A5-57B2-99EB-A90D-2D3AC8858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95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3865D-25D0-154C-5435-266C2A3CC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8B349D-39E7-3001-89D7-AD685C971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42102B-FF68-BF19-F5D9-B84989CE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C1E3CC-AD1C-2D55-CDE7-05FCC7898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E509DD-0393-5AB5-2B69-FF9EA275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799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8D4C3-65E4-A8D9-DFEB-B1DDC4481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EF2FC3-EBAB-E3C9-0DD0-87FE7E528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E03029-E3B8-C42E-8DD7-52AED4988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CE8D2D-E1C8-FB44-E150-7430B59A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5C609-6CBE-1EB6-7E9E-311485A3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608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A423-B278-F307-751C-23F75C6A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DD0AF-9D78-48E0-4CEF-A5B4FE4BE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63FDB0-7095-2AED-6DC3-692FEA804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A6CFB6-D2FA-42E1-C623-6091EB9D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7EDC9E-DCE3-D08C-0521-5E7B0629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EBCE19-65FD-0761-0E4E-A24279B8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31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332BA2-3740-B576-4B59-6CCF921F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ED3D5A-A7DF-D2B7-9C52-78E72B74C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B622AC-7408-C218-10CF-1B826663C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306C7F-1ECB-1E7E-6DBF-6C96E98246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8922D7-BF32-AB53-D996-D0774AB5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828884-E33F-40E0-2D78-C3D2C5CB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D86AB6F-1BD6-A81A-2B6F-6ED20CDA3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0A87114-BAAB-A633-A880-34B2B3E0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7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724CC-1154-8BED-2EBD-7BD7620B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85D8D4-C0AE-0543-7345-1A13792C3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23FEA9-6A07-4836-AAB8-98D5AFBD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FB1DBF-B87E-6568-5F7C-D53DFD89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91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9B88D2-4AA4-9A11-1AEA-B67E96E9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CC1E1F-1C7A-BBD2-E3ED-E8325A63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5F9039-EC6C-A307-70AB-504F29BC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58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3B7AC-7E66-B394-BE5D-B6B997CC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F9CE4F-6421-AEF5-C392-F5937745F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2343CF-0281-2F6E-788D-06F489CD5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D34218-C390-C952-336A-1482CFEE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8339AE-B179-3D12-D39B-8A05CF7F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4121C7-0492-CCDD-B591-C19BD2F1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14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13573-F21B-CBB3-E02F-DA51C932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BDB077-6F9B-090E-C07A-10284BF92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B5275D-DDBD-2C45-238E-C1B234CBF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F8C45-2382-B175-0D76-F18B6BD01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99B2FE-C14E-C537-3011-B7369052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5C5D5D-09A9-86EF-3183-F70FE360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270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0710B-196B-447A-22E2-27C5FB10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08C253-9722-F855-DAA2-6833B0DF5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B0D520-1B5D-9FFD-537E-87B04E44B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32C774-BBBA-62FD-21BA-58BF93F3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09164C-9250-2D81-5768-E95ACDD1D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687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FA8E94-E26A-03EB-CF9B-6C85A9AA0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1B0C24-488D-7820-C11B-1CBA1041E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BFBB2-5C2B-740C-561D-C7F856DC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47BD8D-89D5-8F38-227E-2971E31FE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75E95-F62E-2AD6-7E40-9D5E4E1A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26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20FCD6-D71D-7126-491F-BC6A11E1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D2602C-F11A-91DF-FB5A-ED6E9BC55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A82347-69AC-B756-D402-6A7D2C55B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73772F-0FD5-40C6-878E-04F734D731CA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0E8D05-518B-CCC3-9D7B-08680403D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FC3650-49E8-9540-A859-355932CF2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024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C6DE45-2CB3-BE87-C337-7E86383D34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static_assert()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374655-014B-75D9-EDA5-66508C3790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컴파일 타임에 타입 안전성 확보하기 </a:t>
            </a:r>
            <a:r>
              <a:rPr lang="en-US" altLang="ko-KR"/>
              <a:t>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021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13E439-5C2A-97B0-FD57-5F9D9E483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타입 안전성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0EBE8B-1DB3-EFBD-010B-56D3662B3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9252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/>
              <a:t>어떤 타입이 정의</a:t>
            </a:r>
            <a:r>
              <a:rPr lang="en-US" altLang="ko-KR" sz="2000"/>
              <a:t>/</a:t>
            </a:r>
            <a:r>
              <a:rPr lang="ko-KR" altLang="en-US" sz="2000"/>
              <a:t>허용되지 않은 연산을 수행하지 않도록 보장</a:t>
            </a:r>
            <a:endParaRPr lang="en-US" altLang="ko-KR" sz="2000"/>
          </a:p>
          <a:p>
            <a:pPr>
              <a:buFontTx/>
              <a:buChar char="-"/>
            </a:pPr>
            <a:r>
              <a:rPr lang="en-US" altLang="ko-KR" sz="2000"/>
              <a:t>python</a:t>
            </a:r>
            <a:r>
              <a:rPr lang="ko-KR" altLang="en-US" sz="2000"/>
              <a:t>은 </a:t>
            </a:r>
            <a:r>
              <a:rPr lang="en-US" altLang="ko-KR" sz="2000"/>
              <a:t>a = 10. a = “hello”. b = a/3. </a:t>
            </a:r>
            <a:r>
              <a:rPr lang="ko-KR" altLang="en-US" sz="2000"/>
              <a:t>이 가능하다 </a:t>
            </a:r>
            <a:r>
              <a:rPr lang="en-US" altLang="ko-KR" sz="2000"/>
              <a:t>(</a:t>
            </a:r>
            <a:r>
              <a:rPr lang="ko-KR" altLang="en-US" sz="2000"/>
              <a:t>타입 에러가 나온다</a:t>
            </a:r>
            <a:r>
              <a:rPr lang="en-US" altLang="ko-KR" sz="2000"/>
              <a:t>)</a:t>
            </a:r>
          </a:p>
          <a:p>
            <a:pPr>
              <a:buFontTx/>
              <a:buChar char="-"/>
            </a:pPr>
            <a:r>
              <a:rPr lang="ko-KR" altLang="en-US" sz="2000"/>
              <a:t>이것도 나름의 타입 안전성이 존재한다 </a:t>
            </a:r>
            <a:r>
              <a:rPr lang="en-US" altLang="ko-KR" sz="2000"/>
              <a:t>(</a:t>
            </a:r>
            <a:r>
              <a:rPr lang="ko-KR" altLang="en-US" sz="2000"/>
              <a:t>오류가 </a:t>
            </a:r>
            <a:r>
              <a:rPr lang="en-US" altLang="ko-KR" sz="2000"/>
              <a:t>UB </a:t>
            </a:r>
            <a:r>
              <a:rPr lang="ko-KR" altLang="en-US" sz="2000"/>
              <a:t>가 아니면 타입안전함</a:t>
            </a:r>
            <a:r>
              <a:rPr lang="en-US" altLang="ko-KR" sz="2000"/>
              <a:t>)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ko-KR" altLang="en-US" sz="2000"/>
              <a:t>런타임 중의 </a:t>
            </a:r>
            <a:r>
              <a:rPr lang="en-US" altLang="ko-KR" sz="2000"/>
              <a:t>UB =&gt; </a:t>
            </a:r>
            <a:r>
              <a:rPr lang="ko-KR" altLang="en-US" sz="2000"/>
              <a:t>유저님들</a:t>
            </a:r>
            <a:r>
              <a:rPr lang="en-US" altLang="ko-KR" sz="2000"/>
              <a:t>… </a:t>
            </a:r>
            <a:r>
              <a:rPr lang="ko-KR" altLang="en-US" sz="2000"/>
              <a:t>이 버그 재현이 안됩니다</a:t>
            </a:r>
            <a:r>
              <a:rPr lang="en-US" altLang="ko-KR" sz="2000"/>
              <a:t>... </a:t>
            </a:r>
            <a:r>
              <a:rPr lang="ko-KR" altLang="en-US" sz="2000"/>
              <a:t>모르겠어요</a:t>
            </a:r>
            <a:r>
              <a:rPr lang="en-US" altLang="ko-KR" sz="2000"/>
              <a:t>…</a:t>
            </a:r>
          </a:p>
          <a:p>
            <a:pPr marL="0" indent="0">
              <a:buNone/>
            </a:pPr>
            <a:r>
              <a:rPr lang="ko-KR" altLang="en-US" sz="2000"/>
              <a:t>런타임의 버그 </a:t>
            </a:r>
            <a:r>
              <a:rPr lang="en-US" altLang="ko-KR" sz="2000"/>
              <a:t>=&gt; </a:t>
            </a:r>
            <a:r>
              <a:rPr lang="ko-KR" altLang="en-US" sz="2000"/>
              <a:t>이 상황에서 크래시납니다</a:t>
            </a:r>
            <a:r>
              <a:rPr lang="en-US" altLang="ko-KR" sz="2000"/>
              <a:t>… </a:t>
            </a:r>
            <a:r>
              <a:rPr lang="ko-KR" altLang="en-US" sz="2000"/>
              <a:t>빨리 핫픽스 패치</a:t>
            </a:r>
            <a:r>
              <a:rPr lang="en-US" altLang="ko-KR" sz="2000"/>
              <a:t>…</a:t>
            </a:r>
          </a:p>
          <a:p>
            <a:pPr marL="0" indent="0">
              <a:buNone/>
            </a:pPr>
            <a:r>
              <a:rPr lang="ko-KR" altLang="en-US" sz="2000"/>
              <a:t>빌드 중의 버그</a:t>
            </a:r>
            <a:r>
              <a:rPr lang="en-US" altLang="ko-KR" sz="2000"/>
              <a:t>(</a:t>
            </a:r>
            <a:r>
              <a:rPr lang="ko-KR" altLang="en-US" sz="2000"/>
              <a:t>링킹 등</a:t>
            </a:r>
            <a:r>
              <a:rPr lang="en-US" altLang="ko-KR" sz="2000"/>
              <a:t>)</a:t>
            </a:r>
            <a:r>
              <a:rPr lang="ko-KR" altLang="en-US" sz="2000"/>
              <a:t>는 감당 가능 </a:t>
            </a:r>
            <a:r>
              <a:rPr lang="en-US" altLang="ko-KR" sz="2000"/>
              <a:t>=&gt; </a:t>
            </a:r>
            <a:r>
              <a:rPr lang="ko-KR" altLang="en-US" sz="2000"/>
              <a:t>이거 커밋한사람 고쳐라</a:t>
            </a:r>
            <a:endParaRPr lang="en-US" altLang="ko-KR" sz="2000"/>
          </a:p>
          <a:p>
            <a:pPr marL="0" indent="0">
              <a:buNone/>
            </a:pPr>
            <a:r>
              <a:rPr lang="ko-KR" altLang="en-US" sz="2000"/>
              <a:t>빌드 전의 버그 </a:t>
            </a:r>
            <a:r>
              <a:rPr lang="en-US" altLang="ko-KR" sz="2000"/>
              <a:t>=&gt; </a:t>
            </a:r>
            <a:r>
              <a:rPr lang="ko-KR" altLang="en-US" sz="2000"/>
              <a:t>나 혼자</a:t>
            </a:r>
            <a:r>
              <a:rPr lang="en-US" altLang="ko-KR" sz="2000"/>
              <a:t>… </a:t>
            </a:r>
            <a:r>
              <a:rPr lang="ko-KR" altLang="en-US" sz="2000"/>
              <a:t>고치면 된다</a:t>
            </a:r>
            <a:r>
              <a:rPr lang="en-US" altLang="ko-KR" sz="2000"/>
              <a:t>!</a:t>
            </a:r>
          </a:p>
          <a:p>
            <a:pPr marL="0" indent="0">
              <a:buNone/>
            </a:pPr>
            <a:r>
              <a:rPr lang="ko-KR" altLang="en-US" sz="2000"/>
              <a:t>머지 중에 문제가 생기더라도</a:t>
            </a:r>
            <a:r>
              <a:rPr lang="en-US" altLang="ko-KR" sz="2000"/>
              <a:t>, </a:t>
            </a:r>
            <a:r>
              <a:rPr lang="ko-KR" altLang="en-US" sz="2000"/>
              <a:t>해당 사람이 왜 문제인지 파악하고 대처할 수 있다</a:t>
            </a: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4247378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A5642-BEDC-9280-07B2-178960B3C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assert(</a:t>
            </a:r>
            <a:r>
              <a:rPr lang="ko-KR" altLang="en-US"/>
              <a:t>조건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10F117-0169-40A8-7EA5-7CD3E744E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조건이 </a:t>
            </a:r>
            <a:r>
              <a:rPr lang="en-US" altLang="ko-KR" sz="2000"/>
              <a:t>false </a:t>
            </a:r>
            <a:r>
              <a:rPr lang="ko-KR" altLang="en-US" sz="2000"/>
              <a:t>면 실행</a:t>
            </a:r>
            <a:endParaRPr lang="en-US" altLang="ko-KR" sz="2000"/>
          </a:p>
          <a:p>
            <a:r>
              <a:rPr lang="ko-KR" altLang="en-US" sz="2000"/>
              <a:t>디버그 모드에서만 조건적으로 </a:t>
            </a:r>
            <a:r>
              <a:rPr lang="en-US" altLang="ko-KR" sz="2000"/>
              <a:t>abort() </a:t>
            </a:r>
            <a:r>
              <a:rPr lang="ko-KR" altLang="en-US" sz="2000"/>
              <a:t>를 호출하는 매크로</a:t>
            </a:r>
            <a:endParaRPr lang="en-US" altLang="ko-KR" sz="2000"/>
          </a:p>
          <a:p>
            <a:r>
              <a:rPr lang="ko-KR" altLang="en-US" sz="2000"/>
              <a:t>프로그램을 비정상 종료시킴 </a:t>
            </a:r>
            <a:r>
              <a:rPr lang="en-US" altLang="ko-KR" sz="2000"/>
              <a:t>(</a:t>
            </a:r>
            <a:r>
              <a:rPr lang="ko-KR" altLang="en-US" sz="2000"/>
              <a:t>기본 사양으로는 예외처리나 중단점이 아님</a:t>
            </a:r>
            <a:r>
              <a:rPr lang="en-US" altLang="ko-KR" sz="2000"/>
              <a:t>)</a:t>
            </a:r>
          </a:p>
          <a:p>
            <a:endParaRPr lang="ko-KR" altLang="en-US" sz="20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A29944-43AB-0373-1F0F-934F93EDC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704" y="3429000"/>
            <a:ext cx="6396529" cy="187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175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704E2-7FC3-1B58-2F11-3A0066A63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static_assert()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984136-B3FB-90F1-9CB2-DA046D097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컴파일 타임에 조건 검증</a:t>
            </a:r>
            <a:r>
              <a:rPr lang="en-US" altLang="ko-KR"/>
              <a:t>, </a:t>
            </a:r>
            <a:r>
              <a:rPr lang="ko-KR" altLang="en-US"/>
              <a:t>조건이 </a:t>
            </a:r>
            <a:r>
              <a:rPr lang="en-US" altLang="ko-KR"/>
              <a:t>false</a:t>
            </a:r>
            <a:r>
              <a:rPr lang="ko-KR" altLang="en-US"/>
              <a:t>면 컴파일이 실패</a:t>
            </a:r>
            <a:endParaRPr lang="en-US" altLang="ko-KR"/>
          </a:p>
          <a:p>
            <a:r>
              <a:rPr lang="ko-KR" altLang="en-US"/>
              <a:t>조건은 무조건 컴파일 타임에 결정되어야 하며</a:t>
            </a:r>
            <a:r>
              <a:rPr lang="en-US" altLang="ko-KR"/>
              <a:t>, </a:t>
            </a:r>
            <a:r>
              <a:rPr lang="ko-KR" altLang="en-US"/>
              <a:t>런타임 변수는 불가능</a:t>
            </a:r>
            <a:endParaRPr lang="en-US" altLang="ko-KR"/>
          </a:p>
          <a:p>
            <a:r>
              <a:rPr lang="ko-KR" altLang="en-US"/>
              <a:t>컴파일 후 코드에 남지 않아 런타임 비용 </a:t>
            </a:r>
            <a:r>
              <a:rPr lang="en-US" altLang="ko-KR"/>
              <a:t>0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555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58D52A-9832-3EF6-CED1-BE73942E6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Read(T&amp;)</a:t>
            </a:r>
            <a:r>
              <a:rPr lang="ko-KR" altLang="en-US"/>
              <a:t>의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4B3099-112C-0804-5979-D7609974F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직접 구현한 </a:t>
            </a:r>
            <a:r>
              <a:rPr lang="en-US" altLang="ko-KR"/>
              <a:t>Read(T&amp; value) </a:t>
            </a:r>
            <a:r>
              <a:rPr lang="ko-KR" altLang="en-US"/>
              <a:t>는 인자로 들어온 </a:t>
            </a:r>
            <a:r>
              <a:rPr lang="en-US" altLang="ko-KR"/>
              <a:t>value</a:t>
            </a:r>
            <a:r>
              <a:rPr lang="ko-KR" altLang="en-US"/>
              <a:t>에 값을 담아서 반환한다</a:t>
            </a:r>
            <a:endParaRPr lang="en-US" altLang="ko-KR"/>
          </a:p>
          <a:p>
            <a:r>
              <a:rPr lang="en-US" altLang="ko-KR"/>
              <a:t>array</a:t>
            </a:r>
            <a:r>
              <a:rPr lang="ko-KR" altLang="en-US"/>
              <a:t>가 들어온다면</a:t>
            </a:r>
            <a:r>
              <a:rPr lang="en-US" altLang="ko-KR"/>
              <a:t>: </a:t>
            </a:r>
            <a:r>
              <a:rPr lang="ko-KR" altLang="en-US"/>
              <a:t>배열은 별도의 오버로딩으로 처리 </a:t>
            </a:r>
            <a:r>
              <a:rPr lang="en-US" altLang="ko-KR"/>
              <a:t>(Read(T*, int size))</a:t>
            </a:r>
          </a:p>
          <a:p>
            <a:r>
              <a:rPr lang="en-US" altLang="ko-KR"/>
              <a:t>ptr</a:t>
            </a:r>
            <a:r>
              <a:rPr lang="ko-KR" altLang="en-US"/>
              <a:t>이 들어온다면</a:t>
            </a:r>
            <a:r>
              <a:rPr lang="en-US" altLang="ko-KR"/>
              <a:t>: </a:t>
            </a:r>
            <a:r>
              <a:rPr lang="ko-KR" altLang="en-US"/>
              <a:t>주소를 저장</a:t>
            </a:r>
            <a:r>
              <a:rPr lang="en-US" altLang="ko-KR"/>
              <a:t>/</a:t>
            </a:r>
            <a:r>
              <a:rPr lang="ko-KR" altLang="en-US"/>
              <a:t>불러오는 것은 컴퓨터마다 달라질테니 위험한 동작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C7580B-063C-1F8D-6C0F-DE8382318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10803860" cy="17359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9C3EDC9-769E-A7E5-34F6-D14762D7E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422802"/>
            <a:ext cx="2617343" cy="1070073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8435880-D3C9-CFFF-F281-04EF7E65841F}"/>
              </a:ext>
            </a:extLst>
          </p:cNvPr>
          <p:cNvSpPr txBox="1">
            <a:spLocks/>
          </p:cNvSpPr>
          <p:nvPr/>
        </p:nvSpPr>
        <p:spPr>
          <a:xfrm>
            <a:off x="3605463" y="5422802"/>
            <a:ext cx="7748337" cy="1345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컴파일 타임에 경고가 뜨며 빌드가 안 됨</a:t>
            </a:r>
            <a:endParaRPr lang="en-US" altLang="ko-KR"/>
          </a:p>
          <a:p>
            <a:r>
              <a:rPr lang="en-US" altLang="ko-KR"/>
              <a:t>if(…) </a:t>
            </a:r>
            <a:r>
              <a:rPr lang="ko-KR" altLang="en-US"/>
              <a:t>메시지박스</a:t>
            </a:r>
            <a:r>
              <a:rPr lang="en-US" altLang="ko-KR"/>
              <a:t>(</a:t>
            </a:r>
            <a:r>
              <a:rPr lang="ko-KR" altLang="en-US"/>
              <a:t>코딩다시해라</a:t>
            </a:r>
            <a:r>
              <a:rPr lang="en-US" altLang="ko-KR"/>
              <a:t>) </a:t>
            </a:r>
            <a:r>
              <a:rPr lang="ko-KR" altLang="en-US"/>
              <a:t>보다 알아차리는게 훨씬 빠름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(</a:t>
            </a:r>
            <a:r>
              <a:rPr lang="ko-KR" altLang="en-US"/>
              <a:t>큰 규모의 프로젝트는 풀 빌드가 </a:t>
            </a:r>
            <a:r>
              <a:rPr lang="en-US" altLang="ko-KR"/>
              <a:t>1</a:t>
            </a:r>
            <a:r>
              <a:rPr lang="ko-KR" altLang="en-US"/>
              <a:t>시간</a:t>
            </a:r>
            <a:r>
              <a:rPr lang="en-US" altLang="ko-KR"/>
              <a:t>, </a:t>
            </a:r>
            <a:r>
              <a:rPr lang="ko-KR" altLang="en-US"/>
              <a:t>작은 빌드여도 </a:t>
            </a:r>
            <a:r>
              <a:rPr lang="en-US" altLang="ko-KR"/>
              <a:t>5~20</a:t>
            </a:r>
            <a:r>
              <a:rPr lang="ko-KR" altLang="en-US"/>
              <a:t>분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767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B87F4E-AD42-5D56-425E-6DB5C193A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클로드가 제안하는 </a:t>
            </a:r>
            <a:r>
              <a:rPr lang="en-US" altLang="ko-KR"/>
              <a:t>static_assert()</a:t>
            </a:r>
            <a:endParaRPr lang="ko-KR" altLang="en-US"/>
          </a:p>
        </p:txBody>
      </p:sp>
      <p:pic>
        <p:nvPicPr>
          <p:cNvPr id="7" name="내용 개체 틀 6" descr="확인 표시 단색으로 채워진">
            <a:extLst>
              <a:ext uri="{FF2B5EF4-FFF2-40B4-BE49-F238E27FC236}">
                <a16:creationId xmlns:a16="http://schemas.microsoft.com/office/drawing/2014/main" id="{3FAA6BC6-4F35-DF8A-125D-D28C9B8BB6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6960" y="3276011"/>
            <a:ext cx="914400" cy="914400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A9FB414-571E-5A81-79B3-65A8EB7F7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158" y="1720771"/>
            <a:ext cx="8159251" cy="4158080"/>
          </a:xfrm>
          <a:prstGeom prst="rect">
            <a:avLst/>
          </a:prstGeom>
        </p:spPr>
      </p:pic>
      <p:pic>
        <p:nvPicPr>
          <p:cNvPr id="9" name="그래픽 8" descr="물음표 단색으로 채워진">
            <a:extLst>
              <a:ext uri="{FF2B5EF4-FFF2-40B4-BE49-F238E27FC236}">
                <a16:creationId xmlns:a16="http://schemas.microsoft.com/office/drawing/2014/main" id="{81F8BB45-D3E1-059B-4AE2-0E8C0CD71B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1720771"/>
            <a:ext cx="914400" cy="914400"/>
          </a:xfrm>
          <a:prstGeom prst="rect">
            <a:avLst/>
          </a:prstGeom>
        </p:spPr>
      </p:pic>
      <p:pic>
        <p:nvPicPr>
          <p:cNvPr id="13" name="그래픽 12" descr="물음표 단색으로 채워진">
            <a:extLst>
              <a:ext uri="{FF2B5EF4-FFF2-40B4-BE49-F238E27FC236}">
                <a16:creationId xmlns:a16="http://schemas.microsoft.com/office/drawing/2014/main" id="{3226E8DE-7604-2BD0-4266-8DDF77C1DC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4831251"/>
            <a:ext cx="914400" cy="914400"/>
          </a:xfrm>
          <a:prstGeom prst="rect">
            <a:avLst/>
          </a:prstGeom>
        </p:spPr>
      </p:pic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90E21EF-08D0-403C-F768-BF8E36B5C4D7}"/>
              </a:ext>
            </a:extLst>
          </p:cNvPr>
          <p:cNvSpPr txBox="1">
            <a:spLocks/>
          </p:cNvSpPr>
          <p:nvPr/>
        </p:nvSpPr>
        <p:spPr>
          <a:xfrm>
            <a:off x="192505" y="4190411"/>
            <a:ext cx="2614863" cy="3612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/>
              <a:t>(</a:t>
            </a:r>
            <a:r>
              <a:rPr lang="ko-KR" altLang="en-US"/>
              <a:t>내 예시와 같음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635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F46D9-F449-197B-3AA3-0ED365050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D2173-1DE0-3EDE-9B72-0EA72E74C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클로드가 제안하는 </a:t>
            </a:r>
            <a:r>
              <a:rPr lang="en-US" altLang="ko-KR"/>
              <a:t>static_assert()</a:t>
            </a:r>
            <a:endParaRPr lang="ko-KR" altLang="en-US"/>
          </a:p>
        </p:txBody>
      </p:sp>
      <p:pic>
        <p:nvPicPr>
          <p:cNvPr id="9" name="그래픽 8" descr="물음표 단색으로 채워진">
            <a:extLst>
              <a:ext uri="{FF2B5EF4-FFF2-40B4-BE49-F238E27FC236}">
                <a16:creationId xmlns:a16="http://schemas.microsoft.com/office/drawing/2014/main" id="{3BF326FD-3E9E-7737-80A6-3AD289829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1553" y="1767892"/>
            <a:ext cx="914400" cy="914400"/>
          </a:xfrm>
          <a:prstGeom prst="rect">
            <a:avLst/>
          </a:prstGeom>
        </p:spPr>
      </p:pic>
      <p:pic>
        <p:nvPicPr>
          <p:cNvPr id="13" name="그래픽 12" descr="물음표 단색으로 채워진">
            <a:extLst>
              <a:ext uri="{FF2B5EF4-FFF2-40B4-BE49-F238E27FC236}">
                <a16:creationId xmlns:a16="http://schemas.microsoft.com/office/drawing/2014/main" id="{580E1426-724A-9F67-6BC0-C8827C3EB6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1553" y="5806059"/>
            <a:ext cx="914400" cy="9144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4D67267-B807-5322-1BDC-BDB4742A4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055" y="1690688"/>
            <a:ext cx="7331243" cy="4755055"/>
          </a:xfrm>
          <a:prstGeom prst="rect">
            <a:avLst/>
          </a:prstGeom>
        </p:spPr>
      </p:pic>
      <p:pic>
        <p:nvPicPr>
          <p:cNvPr id="11" name="그래픽 10" descr="물음표 단색으로 채워진">
            <a:extLst>
              <a:ext uri="{FF2B5EF4-FFF2-40B4-BE49-F238E27FC236}">
                <a16:creationId xmlns:a16="http://schemas.microsoft.com/office/drawing/2014/main" id="{CC0AD48A-53E1-E56D-E1DC-9FFAC80B5A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1553" y="3612293"/>
            <a:ext cx="914400" cy="914400"/>
          </a:xfrm>
          <a:prstGeom prst="rect">
            <a:avLst/>
          </a:prstGeom>
        </p:spPr>
      </p:pic>
      <p:pic>
        <p:nvPicPr>
          <p:cNvPr id="15" name="그래픽 14" descr="물음표 단색으로 채워진">
            <a:extLst>
              <a:ext uri="{FF2B5EF4-FFF2-40B4-BE49-F238E27FC236}">
                <a16:creationId xmlns:a16="http://schemas.microsoft.com/office/drawing/2014/main" id="{FB9ECFE8-7C17-35F3-AAD6-2755FA14FA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1553" y="4709176"/>
            <a:ext cx="914400" cy="91440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4FFB2944-673F-B42E-E1FA-D90331ED9B01}"/>
              </a:ext>
            </a:extLst>
          </p:cNvPr>
          <p:cNvSpPr/>
          <p:nvPr/>
        </p:nvSpPr>
        <p:spPr>
          <a:xfrm>
            <a:off x="5678905" y="2225092"/>
            <a:ext cx="5149516" cy="8201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구조체가 패킷으로 사용된다거나</a:t>
            </a:r>
            <a:r>
              <a:rPr lang="en-US" altLang="ko-KR"/>
              <a:t>.. </a:t>
            </a:r>
            <a:r>
              <a:rPr lang="ko-KR" altLang="en-US"/>
              <a:t>해서 </a:t>
            </a:r>
            <a:endParaRPr lang="en-US" altLang="ko-KR"/>
          </a:p>
          <a:p>
            <a:pPr algn="ctr"/>
            <a:r>
              <a:rPr lang="ko-KR" altLang="en-US"/>
              <a:t>최대 크기 제한이 있다면</a:t>
            </a:r>
            <a:r>
              <a:rPr lang="en-US" altLang="ko-KR"/>
              <a:t>? </a:t>
            </a:r>
            <a:r>
              <a:rPr lang="ko-KR" altLang="en-US"/>
              <a:t>그나마</a:t>
            </a:r>
            <a:r>
              <a:rPr lang="en-US" altLang="ko-KR"/>
              <a:t>??</a:t>
            </a:r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29A32EA-C924-CFF9-352E-E48DE1074B3D}"/>
              </a:ext>
            </a:extLst>
          </p:cNvPr>
          <p:cNvSpPr/>
          <p:nvPr/>
        </p:nvSpPr>
        <p:spPr>
          <a:xfrm>
            <a:off x="6416427" y="4526693"/>
            <a:ext cx="5478656" cy="8201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플랫폼이 다른 것은</a:t>
            </a:r>
            <a:r>
              <a:rPr lang="en-US" altLang="ko-KR"/>
              <a:t> </a:t>
            </a:r>
          </a:p>
          <a:p>
            <a:pPr algn="ctr"/>
            <a:r>
              <a:rPr lang="ko-KR" altLang="en-US"/>
              <a:t>실제로 동작을 다르게 하여 메시지로 표시하든가</a:t>
            </a:r>
            <a:endParaRPr lang="en-US" altLang="ko-KR"/>
          </a:p>
          <a:p>
            <a:pPr algn="ctr"/>
            <a:r>
              <a:rPr lang="ko-KR" altLang="en-US"/>
              <a:t>컴파일 상황에 확인할 요소가 아님</a:t>
            </a:r>
          </a:p>
        </p:txBody>
      </p:sp>
    </p:spTree>
    <p:extLst>
      <p:ext uri="{BB962C8B-B14F-4D97-AF65-F5344CB8AC3E}">
        <p14:creationId xmlns:p14="http://schemas.microsoft.com/office/powerpoint/2010/main" val="1090179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303</Words>
  <Application>Microsoft Office PowerPoint</Application>
  <PresentationFormat>와이드스크린</PresentationFormat>
  <Paragraphs>35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static_assert()</vt:lpstr>
      <vt:lpstr>타입 안전성</vt:lpstr>
      <vt:lpstr>assert(조건)</vt:lpstr>
      <vt:lpstr>static_assert()</vt:lpstr>
      <vt:lpstr>Read(T&amp;)의 사례</vt:lpstr>
      <vt:lpstr>클로드가 제안하는 static_assert()</vt:lpstr>
      <vt:lpstr>클로드가 제안하는 static_assert()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SungHyun Moon</dc:creator>
  <cp:lastModifiedBy>SungHyun Moon</cp:lastModifiedBy>
  <cp:revision>16</cp:revision>
  <dcterms:created xsi:type="dcterms:W3CDTF">2026-09-03T18:17:10Z</dcterms:created>
  <dcterms:modified xsi:type="dcterms:W3CDTF">2026-09-11T03:59:46Z</dcterms:modified>
</cp:coreProperties>
</file>