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5240000" cy="85725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72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재료 생성은 ChickenHarvester.LaunchRawChickensProcess에서 for 반복문과 CoroutineUtil.WaitForSeconds를 사용한다. 각 재료의 비행이 끝날 때까지 기다리는 구조가 아니라 다음 발사 사이의 간격을 조절한다.</a:t>
            </a:r>
          </a:p>
          <a:p>
            <a:r>
              <a:t>RawChickenPhysicsItem.LaunchPour는 위치 이동을 중단한 뒤 IsPouring 상태를 설정하고 Rigidbody를 Kinematic으로 유지하며 물리 Collider를 비활성화한다. ST.Position.MoveParabola의 완료 콜백 BeginTrayDrop에서 수용 대기 상태를 만들고 Collider를 켠다.</a:t>
            </a:r>
          </a:p>
          <a:p>
            <a:r>
              <a:t>RawChickenPourZone의 OnTriggerEnter 또는 OnTriggerStay가 트레이의 수용을 확인한 뒤 EnableDynamicPhysics를 호출한다. RawChickenKinematicFloor의 OnTriggerStay에서는 비행 또는 수용 대기가 끝났고 상호작용 물리가 활성화되지 않은 아이템의 속도를 초기화한 뒤 Kinematic 상태로 전환한다.</a:t>
            </a:r>
          </a:p>
          <a:p>
            <a:r>
              <a:t>ChickenTray.StartGivingRawChicken에서 코루틴을 시작하며 IsGivingActive로 중복 실행을 막는다. 반복마다 수량, 빈 슬롯, 수신 가능 여부를 확인한다. 전달 전에 PrepareRawChickenForHandoff로 기존 위치·크기 이동을 중단하고 속도를 정리하며 Kinematic 상태와 Collider 비활성화 상태를 설정한다.</a:t>
            </a:r>
          </a:p>
          <a:p>
            <a:r>
              <a:t>전달에 성공하면 CoroutineUtil.WaitForSeconds로 대기하며 실제 간격에는 전달 누적 개수에 따른 배율을 적용한다. 활성 상호작용 중 전달할 수 없는 경우에는 yield return null로 다음 프레임을 기다린다. 슬라이드의 interval은 이 계산 결과를 나타낸다.</a:t>
            </a:r>
          </a:p>
          <a:p>
            <a:r>
              <a:t>출처: D:/gihyeon/Pizza Ready 051/Assets/Supercent/PizzaReady/Playable051/Scripts/Facilities/ChickenHarvester.cs, ChickenTray.cs, RawChickenPourZone.cs, RawChickenKinematicFloor.cs 및 Scripts/Stacking/RawChickenPhysicsItem.cs.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리뷰의 핵심은 코루틴 자체가 아니라 종료 조건이 현재의 batchSize = 2에 의존한다는 점이다. 현재 코드에서는 FinishGivingRawChicken이 _isGiving을 false로, _finishCoroutineAfterTick을 true로 설정해 즉시 코루틴을 중단하지 않는다.</a:t>
            </a:r>
          </a:p>
          <a:p>
            <a:r>
              <a:t>GiveRawChickenProcess는 전달 처리 후 종료 여부를 검사한다. exitCompletionUsed는 미완료 배치에 대한 continue를 한 번만 허용한다. 해당 플래그가 true인 다음 검사에서는 givenInBatch가 0이 아니어도 break한다.</a:t>
            </a:r>
          </a:p>
          <a:p>
            <a:r>
              <a:t>예시 전제: batchSize = 4이며 첫 번째 아이템을 전달한 뒤 대기 중에 상호작용이 종료된다. 남은 재료와 수신 슬롯은 충분하다. 종료 플래그로 재개한 반복에서 두 번째를 전달한 뒤 continue를 한 번 허용하고, 다음 반복에서 세 번째를 전달한 뒤 종료하므로 네 번째가 남는다.</a:t>
            </a:r>
          </a:p>
          <a:p>
            <a:r>
              <a:t>사용자가 제시한 개선 방향은 _isGiving이 true이거나 현재 배치가 진행 중일 때 반복하도록 하고, 성공적으로 전달한 개수를 기준으로 givenInBatch를 갱신하는 것이다. 배치가 완료되면 0으로 초기화해 상호작용 종료 상태에서 새로운 배치를 시작하지 않는다.</a:t>
            </a:r>
          </a:p>
          <a:p>
            <a:r>
              <a:t>개선 후 코드는 핵심 구조를 설명하기 위한 요약 예시다. 수량 검사, 빈 슬롯 검사, 아이템 꺼내기 및 실패 처리는 생략되어 있다. WaitForNextItem은 기존 전달 간격 대기를 나타낸다. 실제 적용 시 배치 시작 조건과 전달 불가 상황의 대기·종료 정책을 유지해야 한다.</a:t>
            </a:r>
          </a:p>
          <a:p>
            <a:r>
              <a:t>코루틴을 batchSize개 시작한다는 뜻이 아니라, 하나의 전달 코루틴 내부 반복문이 현재 배치 수량을 채울 때까지 진행된다는 뜻이다.</a:t>
            </a:r>
          </a:p>
          <a:p>
            <a:r>
              <a:t>출처: D:/gihyeon/Pizza Ready 051/Assets/Supercent/PizzaReady/Playable051/Scripts/Facilities/ChickenTray.cs:119-181. 개선 후 구조는 사용자가 설명한 수정 방향을 바탕으로 한 예시다.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2D061A3-F63C-4220-8A70-96ABE20D1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238500"/>
            <a:ext cx="12192000" cy="12382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22D0B1F2-6B09-4328-83EF-1162D84F37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4714875"/>
            <a:ext cx="10668000" cy="9525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601A1AF-2547-4C77-B01D-C7056FEE9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571875"/>
            <a:ext cx="12192000" cy="1428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2B0F633-F3DD-41F4-B72B-640166E92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6ACFB968-50EC-4324-961D-63FB9B3D9D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13525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AFD32277-C372-45A9-86D6-FE50D4BA7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701949DF-0205-4640-85B6-6B4EB7357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F47B3E97-59CC-4144-87FE-B3F704C994C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096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59B5F57-61A7-40A0-846B-86AA72C4B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0ED6308E-DA96-4EC2-980A-780C7291F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-title">
            <a:extLst>
              <a:ext uri="{FF2B5EF4-FFF2-40B4-BE49-F238E27FC236}">
                <a16:creationId xmlns:a16="http://schemas.microsoft.com/office/drawing/2014/main" id="{D6E5FDC0-873C-4988-9849-C89D282F7D6B}"/>
              </a:ext>
            </a:extLst>
          </p:cNvPr>
          <p:cNvSpPr>
            <a:spLocks noGrp="1"/>
          </p:cNvSpPr>
          <p:nvPr/>
        </p:nvSpPr>
        <p:spPr>
          <a:xfrm>
            <a:off x="762000" y="552450"/>
            <a:ext cx="13716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4200" b="1">
                <a:solidFill>
                  <a:srgbClr val="172B3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4200" b="1">
                <a:solidFill>
                  <a:srgbClr val="172B3A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72B3A"/>
                </a:solidFill>
                <a:latin typeface="Malgun Gothic"/>
                <a:ea typeface="Malgun Gothic"/>
                <a:cs typeface="Malgun Gothic"/>
              </a:rPr>
              <a:t>아이템 이동 단계에 따른 물리 제어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D4054629-1F6A-40C9-8B62-DADA4E03514E}"/>
              </a:ext>
            </a:extLst>
          </p:cNvPr>
          <p:cNvSpPr>
            <a:spLocks noGrp="1"/>
          </p:cNvSpPr>
          <p:nvPr/>
        </p:nvSpPr>
        <p:spPr>
          <a:xfrm>
            <a:off x="781050" y="1476375"/>
            <a:ext cx="13677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2175">
                <a:solidFill>
                  <a:srgbClr val="536572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2175">
                <a:solidFill>
                  <a:srgbClr val="53657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>
                <a:solidFill>
                  <a:srgbClr val="536572"/>
                </a:solidFill>
                <a:latin typeface="Malgun Gothic"/>
                <a:ea typeface="Malgun Gothic"/>
                <a:cs typeface="Malgun Gothic"/>
              </a:rPr>
              <a:t>닭고기의 생성부터 트레이 낙하, 플레이어 적재까지 단계별로 제어</a:t>
            </a:r>
          </a:p>
        </p:txBody>
      </p:sp>
      <p:sp>
        <p:nvSpPr>
          <p:cNvPr id="3" name="physics-section-title">
            <a:extLst>
              <a:ext uri="{FF2B5EF4-FFF2-40B4-BE49-F238E27FC236}">
                <a16:creationId xmlns:a16="http://schemas.microsoft.com/office/drawing/2014/main" id="{1748AFC6-C569-45AF-91F4-D04C16D71512}"/>
              </a:ext>
            </a:extLst>
          </p:cNvPr>
          <p:cNvSpPr>
            <a:spLocks noGrp="1"/>
          </p:cNvSpPr>
          <p:nvPr/>
        </p:nvSpPr>
        <p:spPr>
          <a:xfrm>
            <a:off x="762000" y="2200275"/>
            <a:ext cx="676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2550" b="1">
                <a:solidFill>
                  <a:srgbClr val="172B3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2550" b="1">
                <a:solidFill>
                  <a:srgbClr val="172B3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2B3A"/>
                </a:solidFill>
                <a:latin typeface="Malgun Gothic"/>
                <a:ea typeface="Malgun Gothic"/>
                <a:cs typeface="Malgun Gothic"/>
              </a:rPr>
              <a:t>이동 단계와 물리 상태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F8E9BF0-37AF-4FE2-AE9A-7F8FCF13ED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2153978"/>
              </p:ext>
            </p:extLst>
          </p:nvPr>
        </p:nvGraphicFramePr>
        <p:xfrm>
          <a:off x="762000" y="2821557"/>
          <a:ext cx="6762750" cy="4640292"/>
        </p:xfrm>
        <a:graphic>
          <a:graphicData uri="http://schemas.openxmlformats.org/drawingml/2006/table">
            <a:tbl>
              <a:tblPr/>
              <a:tblGrid>
                <a:gridCol w="20329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9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31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이동 단계</a:t>
                      </a:r>
                    </a:p>
                  </a:txBody>
                  <a:tcPr marL="171450" marR="152400" marT="95250" marB="95250" anchor="ctr">
                    <a:lnL w="9525">
                      <a:solidFill>
                        <a:srgbClr val="D8DFE3"/>
                      </a:solidFill>
                      <a:prstDash val="solid"/>
                    </a:lnL>
                    <a:lnR w="9525">
                      <a:solidFill>
                        <a:srgbClr val="D8DFE3"/>
                      </a:solidFill>
                      <a:prstDash val="solid"/>
                    </a:lnR>
                    <a:lnT w="9525">
                      <a:solidFill>
                        <a:srgbClr val="D8DFE3"/>
                      </a:solidFill>
                      <a:prstDash val="solid"/>
                    </a:lnT>
                    <a:lnB w="9525">
                      <a:solidFill>
                        <a:srgbClr val="D8DFE3"/>
                      </a:solidFill>
                      <a:prstDash val="solid"/>
                    </a:lnB>
                    <a:solidFill>
                      <a:srgbClr val="17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방식</a:t>
                      </a:r>
                    </a:p>
                  </a:txBody>
                  <a:tcPr marL="171450" marR="152400" marT="95250" marB="95250" anchor="ctr">
                    <a:lnL w="9525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DFE3"/>
                      </a:solidFill>
                      <a:prstDash val="solid"/>
                    </a:lnR>
                    <a:lnT w="9525">
                      <a:solidFill>
                        <a:srgbClr val="D8DFE3"/>
                      </a:solidFill>
                      <a:prstDash val="solid"/>
                    </a:lnT>
                    <a:lnB w="9525">
                      <a:solidFill>
                        <a:srgbClr val="D8DFE3"/>
                      </a:solidFill>
                      <a:prstDash val="solid"/>
                    </a:lnB>
                    <a:solidFill>
                      <a:srgbClr val="172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785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3618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생성·비행</a:t>
                      </a:r>
                    </a:p>
                  </a:txBody>
                  <a:tcPr marL="171450" marR="152400" marT="95250" marB="95250" anchor="ctr">
                    <a:lnL w="9525">
                      <a:solidFill>
                        <a:srgbClr val="D8DFE3"/>
                      </a:solidFill>
                      <a:prstDash val="solid"/>
                    </a:lnL>
                    <a:lnR w="9525">
                      <a:solidFill>
                        <a:srgbClr val="D8DFE3"/>
                      </a:solidFill>
                      <a:prstDash val="solid"/>
                    </a:lnR>
                    <a:lnT w="9525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DFE3"/>
                      </a:solidFill>
                      <a:prstDash val="solid"/>
                    </a:lnB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dirty="0">
                          <a:solidFill>
                            <a:srgbClr val="172B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Kinematic </a:t>
                      </a:r>
                      <a:r>
                        <a:rPr sz="1950" dirty="0" err="1">
                          <a:solidFill>
                            <a:srgbClr val="172B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유지</a:t>
                      </a:r>
                      <a:endParaRPr sz="1950" dirty="0">
                        <a:solidFill>
                          <a:srgbClr val="172B3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r>
                        <a:rPr sz="1950" dirty="0" err="1">
                          <a:solidFill>
                            <a:srgbClr val="172B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스크립트로</a:t>
                      </a:r>
                      <a:r>
                        <a:rPr sz="1950" dirty="0">
                          <a:solidFill>
                            <a:srgbClr val="172B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950" dirty="0" err="1">
                          <a:solidFill>
                            <a:srgbClr val="172B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포물선</a:t>
                      </a:r>
                      <a:r>
                        <a:rPr sz="1950" dirty="0">
                          <a:solidFill>
                            <a:srgbClr val="172B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950" dirty="0" err="1">
                          <a:solidFill>
                            <a:srgbClr val="172B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이동</a:t>
                      </a:r>
                      <a:endParaRPr sz="1950" dirty="0">
                        <a:solidFill>
                          <a:srgbClr val="172B3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71450" marR="152400" marT="95250" marB="95250" anchor="ctr">
                    <a:lnL w="9525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DFE3"/>
                      </a:solidFill>
                      <a:prstDash val="solid"/>
                    </a:lnR>
                    <a:lnT w="9525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DFE3"/>
                      </a:solidFill>
                      <a:prstDash val="solid"/>
                    </a:lnB>
                    <a:solidFill>
                      <a:srgbClr val="FAF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640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3618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트레이 진입</a:t>
                      </a:r>
                    </a:p>
                  </a:txBody>
                  <a:tcPr marL="171450" marR="152400" marT="95250" marB="95250" anchor="ctr">
                    <a:lnL w="9525">
                      <a:solidFill>
                        <a:srgbClr val="D8DFE3"/>
                      </a:solidFill>
                      <a:prstDash val="solid"/>
                    </a:lnL>
                    <a:lnR w="9525">
                      <a:solidFill>
                        <a:srgbClr val="D8DFE3"/>
                      </a:solidFill>
                      <a:prstDash val="solid"/>
                    </a:lnR>
                    <a:lnT w="9525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DFE3"/>
                      </a:solidFill>
                      <a:prstDash val="solid"/>
                    </a:lnB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dirty="0" err="1">
                          <a:solidFill>
                            <a:srgbClr val="172B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Trigger에서</a:t>
                      </a:r>
                      <a:r>
                        <a:rPr sz="1950" dirty="0">
                          <a:solidFill>
                            <a:srgbClr val="172B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950" dirty="0" err="1">
                          <a:solidFill>
                            <a:srgbClr val="172B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수용</a:t>
                      </a:r>
                      <a:r>
                        <a:rPr sz="1950" dirty="0">
                          <a:solidFill>
                            <a:srgbClr val="172B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950" dirty="0" err="1">
                          <a:solidFill>
                            <a:srgbClr val="172B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  <a:endParaRPr sz="1950" dirty="0">
                        <a:solidFill>
                          <a:srgbClr val="172B3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r>
                        <a:rPr sz="1950" dirty="0">
                          <a:solidFill>
                            <a:srgbClr val="172B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Collider </a:t>
                      </a:r>
                      <a:r>
                        <a:rPr sz="1950" dirty="0" err="1">
                          <a:solidFill>
                            <a:srgbClr val="172B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활성화</a:t>
                      </a:r>
                      <a:r>
                        <a:rPr sz="1950" dirty="0">
                          <a:solidFill>
                            <a:srgbClr val="172B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</a:t>
                      </a:r>
                      <a:r>
                        <a:rPr sz="1950" dirty="0" err="1">
                          <a:solidFill>
                            <a:srgbClr val="172B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동적</a:t>
                      </a:r>
                      <a:r>
                        <a:rPr sz="1950" dirty="0">
                          <a:solidFill>
                            <a:srgbClr val="172B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950" dirty="0" err="1">
                          <a:solidFill>
                            <a:srgbClr val="172B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물리</a:t>
                      </a:r>
                      <a:r>
                        <a:rPr sz="1950" dirty="0">
                          <a:solidFill>
                            <a:srgbClr val="172B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950" dirty="0" err="1">
                          <a:solidFill>
                            <a:srgbClr val="172B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전환</a:t>
                      </a:r>
                      <a:r>
                        <a:rPr lang="en-US" sz="1950" dirty="0">
                          <a:solidFill>
                            <a:srgbClr val="172B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(Kinematic false)</a:t>
                      </a:r>
                      <a:endParaRPr sz="1950" dirty="0">
                        <a:solidFill>
                          <a:srgbClr val="172B3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71450" marR="152400" marT="95250" marB="95250" anchor="ctr">
                    <a:lnL w="9525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DFE3"/>
                      </a:solidFill>
                      <a:prstDash val="solid"/>
                    </a:lnR>
                    <a:lnT w="9525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DFE3"/>
                      </a:solidFill>
                      <a:prstDash val="solid"/>
                    </a:lnB>
                    <a:solidFill>
                      <a:srgbClr val="FAF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785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3618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바닥 도착</a:t>
                      </a:r>
                    </a:p>
                  </a:txBody>
                  <a:tcPr marL="171450" marR="152400" marT="95250" marB="95250" anchor="ctr">
                    <a:lnL w="9525">
                      <a:solidFill>
                        <a:srgbClr val="D8DFE3"/>
                      </a:solidFill>
                      <a:prstDash val="solid"/>
                    </a:lnL>
                    <a:lnR w="9525">
                      <a:solidFill>
                        <a:srgbClr val="D8DFE3"/>
                      </a:solidFill>
                      <a:prstDash val="solid"/>
                    </a:lnR>
                    <a:lnT w="9525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DFE3"/>
                      </a:solidFill>
                      <a:prstDash val="solid"/>
                    </a:lnB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B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이동·회전 속도 초기화</a:t>
                      </a:r>
                    </a:p>
                    <a:p>
                      <a:r>
                        <a:rPr sz="1950">
                          <a:solidFill>
                            <a:srgbClr val="172B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Kinematic으로 전환</a:t>
                      </a:r>
                    </a:p>
                  </a:txBody>
                  <a:tcPr marL="171450" marR="152400" marT="95250" marB="95250" anchor="ctr">
                    <a:lnL w="9525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DFE3"/>
                      </a:solidFill>
                      <a:prstDash val="solid"/>
                    </a:lnR>
                    <a:lnT w="9525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DFE3"/>
                      </a:solidFill>
                      <a:prstDash val="solid"/>
                    </a:lnB>
                    <a:solidFill>
                      <a:srgbClr val="FAF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785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3618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플레이어 전달</a:t>
                      </a:r>
                    </a:p>
                  </a:txBody>
                  <a:tcPr marL="171450" marR="152400" marT="95250" marB="95250" anchor="ctr">
                    <a:lnL w="9525">
                      <a:solidFill>
                        <a:srgbClr val="D8DFE3"/>
                      </a:solidFill>
                      <a:prstDash val="solid"/>
                    </a:lnL>
                    <a:lnR w="9525">
                      <a:solidFill>
                        <a:srgbClr val="D8DFE3"/>
                      </a:solidFill>
                      <a:prstDash val="solid"/>
                    </a:lnR>
                    <a:lnT w="9525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DFE3"/>
                      </a:solidFill>
                      <a:prstDash val="solid"/>
                    </a:lnB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dirty="0" err="1">
                          <a:solidFill>
                            <a:srgbClr val="172B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</a:t>
                      </a:r>
                      <a:r>
                        <a:rPr sz="1950" dirty="0">
                          <a:solidFill>
                            <a:srgbClr val="172B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950" dirty="0" err="1">
                          <a:solidFill>
                            <a:srgbClr val="172B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이동</a:t>
                      </a:r>
                      <a:r>
                        <a:rPr sz="1950" dirty="0">
                          <a:solidFill>
                            <a:srgbClr val="172B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950" dirty="0" err="1">
                          <a:solidFill>
                            <a:srgbClr val="172B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중단·물리</a:t>
                      </a:r>
                      <a:r>
                        <a:rPr sz="1950" dirty="0">
                          <a:solidFill>
                            <a:srgbClr val="172B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950" dirty="0" err="1">
                          <a:solidFill>
                            <a:srgbClr val="172B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</a:t>
                      </a:r>
                      <a:r>
                        <a:rPr sz="1950" dirty="0">
                          <a:solidFill>
                            <a:srgbClr val="172B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950" dirty="0" err="1">
                          <a:solidFill>
                            <a:srgbClr val="172B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정리</a:t>
                      </a:r>
                      <a:endParaRPr sz="1950" dirty="0">
                        <a:solidFill>
                          <a:srgbClr val="172B3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r>
                        <a:rPr sz="1950" dirty="0" err="1">
                          <a:solidFill>
                            <a:srgbClr val="172B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적재</a:t>
                      </a:r>
                      <a:r>
                        <a:rPr sz="1950" dirty="0">
                          <a:solidFill>
                            <a:srgbClr val="172B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950" dirty="0" err="1">
                          <a:solidFill>
                            <a:srgbClr val="172B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이동</a:t>
                      </a:r>
                      <a:r>
                        <a:rPr sz="1950" dirty="0">
                          <a:solidFill>
                            <a:srgbClr val="172B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950" dirty="0" err="1">
                          <a:solidFill>
                            <a:srgbClr val="172B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시작</a:t>
                      </a:r>
                      <a:endParaRPr sz="1950" dirty="0">
                        <a:solidFill>
                          <a:srgbClr val="172B3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71450" marR="152400" marT="95250" marB="95250" anchor="ctr">
                    <a:lnL w="9525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DFE3"/>
                      </a:solidFill>
                      <a:prstDash val="solid"/>
                    </a:lnR>
                    <a:lnT w="9525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DFE3"/>
                      </a:solidFill>
                      <a:prstDash val="solid"/>
                    </a:lnB>
                    <a:solidFill>
                      <a:srgbClr val="FAF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coroutine-section-title">
            <a:extLst>
              <a:ext uri="{FF2B5EF4-FFF2-40B4-BE49-F238E27FC236}">
                <a16:creationId xmlns:a16="http://schemas.microsoft.com/office/drawing/2014/main" id="{AB2C3457-48F9-4837-BD67-57F32ECA3591}"/>
              </a:ext>
            </a:extLst>
          </p:cNvPr>
          <p:cNvSpPr>
            <a:spLocks noGrp="1"/>
          </p:cNvSpPr>
          <p:nvPr/>
        </p:nvSpPr>
        <p:spPr>
          <a:xfrm>
            <a:off x="8143875" y="2200275"/>
            <a:ext cx="63341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2550" b="1">
                <a:solidFill>
                  <a:srgbClr val="172B3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2550" b="1">
                <a:solidFill>
                  <a:srgbClr val="172B3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2B3A"/>
                </a:solidFill>
                <a:latin typeface="Malgun Gothic"/>
                <a:ea typeface="Malgun Gothic"/>
                <a:cs typeface="Malgun Gothic"/>
              </a:rPr>
              <a:t>코루틴의 전달 흐름</a:t>
            </a:r>
          </a:p>
        </p:txBody>
      </p:sp>
      <p:sp>
        <p:nvSpPr>
          <p:cNvPr id="6" name="start-label">
            <a:extLst>
              <a:ext uri="{FF2B5EF4-FFF2-40B4-BE49-F238E27FC236}">
                <a16:creationId xmlns:a16="http://schemas.microsoft.com/office/drawing/2014/main" id="{B576129C-33D5-4606-AD7A-6A07D66A4C14}"/>
              </a:ext>
            </a:extLst>
          </p:cNvPr>
          <p:cNvSpPr>
            <a:spLocks noGrp="1"/>
          </p:cNvSpPr>
          <p:nvPr/>
        </p:nvSpPr>
        <p:spPr>
          <a:xfrm>
            <a:off x="8143874" y="3124200"/>
            <a:ext cx="6334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2100" b="1">
                <a:solidFill>
                  <a:srgbClr val="172B3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2100" b="1">
                <a:solidFill>
                  <a:srgbClr val="172B3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dirty="0" err="1">
                <a:solidFill>
                  <a:srgbClr val="172B3A"/>
                </a:solidFill>
                <a:latin typeface="Malgun Gothic"/>
                <a:ea typeface="Malgun Gothic"/>
                <a:cs typeface="Malgun Gothic"/>
              </a:rPr>
              <a:t>상호작용</a:t>
            </a:r>
            <a:r>
              <a:rPr sz="2100" b="1" dirty="0">
                <a:solidFill>
                  <a:srgbClr val="172B3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00" b="1" dirty="0" err="1">
                <a:solidFill>
                  <a:srgbClr val="172B3A"/>
                </a:solidFill>
                <a:latin typeface="Malgun Gothic"/>
                <a:ea typeface="Malgun Gothic"/>
                <a:cs typeface="Malgun Gothic"/>
              </a:rPr>
              <a:t>진입</a:t>
            </a:r>
            <a:r>
              <a:rPr sz="2100" b="1" dirty="0">
                <a:solidFill>
                  <a:srgbClr val="172B3A"/>
                </a:solidFill>
                <a:latin typeface="Malgun Gothic"/>
                <a:ea typeface="Malgun Gothic"/>
                <a:cs typeface="Malgun Gothic"/>
              </a:rPr>
              <a:t> 시 </a:t>
            </a:r>
            <a:r>
              <a:rPr sz="2100" b="1" dirty="0" err="1">
                <a:solidFill>
                  <a:srgbClr val="172B3A"/>
                </a:solidFill>
                <a:latin typeface="Malgun Gothic"/>
                <a:ea typeface="Malgun Gothic"/>
                <a:cs typeface="Malgun Gothic"/>
              </a:rPr>
              <a:t>전달</a:t>
            </a:r>
            <a:r>
              <a:rPr sz="2100" b="1" dirty="0">
                <a:solidFill>
                  <a:srgbClr val="172B3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00" b="1" dirty="0" err="1">
                <a:solidFill>
                  <a:srgbClr val="172B3A"/>
                </a:solidFill>
                <a:latin typeface="Malgun Gothic"/>
                <a:ea typeface="Malgun Gothic"/>
                <a:cs typeface="Malgun Gothic"/>
              </a:rPr>
              <a:t>코루틴</a:t>
            </a:r>
            <a:r>
              <a:rPr sz="2100" b="1" dirty="0">
                <a:solidFill>
                  <a:srgbClr val="172B3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00" b="1" dirty="0" err="1">
                <a:solidFill>
                  <a:srgbClr val="172B3A"/>
                </a:solidFill>
                <a:latin typeface="Malgun Gothic"/>
                <a:ea typeface="Malgun Gothic"/>
                <a:cs typeface="Malgun Gothic"/>
              </a:rPr>
              <a:t>시작</a:t>
            </a:r>
            <a:endParaRPr sz="2100" b="1" dirty="0">
              <a:solidFill>
                <a:srgbClr val="172B3A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" name="transfer-label">
            <a:extLst>
              <a:ext uri="{FF2B5EF4-FFF2-40B4-BE49-F238E27FC236}">
                <a16:creationId xmlns:a16="http://schemas.microsoft.com/office/drawing/2014/main" id="{98C754EE-E1E3-4F8D-9897-C5E03DC278E9}"/>
              </a:ext>
            </a:extLst>
          </p:cNvPr>
          <p:cNvSpPr>
            <a:spLocks noGrp="1"/>
          </p:cNvSpPr>
          <p:nvPr/>
        </p:nvSpPr>
        <p:spPr>
          <a:xfrm>
            <a:off x="8143874" y="3700462"/>
            <a:ext cx="6334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2100" b="1">
                <a:solidFill>
                  <a:srgbClr val="172B3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2100" b="1">
                <a:solidFill>
                  <a:srgbClr val="172B3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dirty="0" err="1">
                <a:solidFill>
                  <a:srgbClr val="172B3A"/>
                </a:solidFill>
                <a:latin typeface="Malgun Gothic"/>
                <a:ea typeface="Malgun Gothic"/>
                <a:cs typeface="Malgun Gothic"/>
              </a:rPr>
              <a:t>반복마다</a:t>
            </a:r>
            <a:r>
              <a:rPr sz="2100" b="1" dirty="0">
                <a:solidFill>
                  <a:srgbClr val="172B3A"/>
                </a:solidFill>
                <a:latin typeface="Malgun Gothic"/>
                <a:ea typeface="Malgun Gothic"/>
                <a:cs typeface="Malgun Gothic"/>
              </a:rPr>
              <a:t> 1개 </a:t>
            </a:r>
            <a:r>
              <a:rPr sz="2100" b="1" dirty="0" err="1">
                <a:solidFill>
                  <a:srgbClr val="172B3A"/>
                </a:solidFill>
                <a:latin typeface="Malgun Gothic"/>
                <a:ea typeface="Malgun Gothic"/>
                <a:cs typeface="Malgun Gothic"/>
              </a:rPr>
              <a:t>전달</a:t>
            </a:r>
            <a:r>
              <a:rPr sz="2100" b="1" dirty="0">
                <a:solidFill>
                  <a:srgbClr val="172B3A"/>
                </a:solidFill>
                <a:latin typeface="Malgun Gothic"/>
                <a:ea typeface="Malgun Gothic"/>
                <a:cs typeface="Malgun Gothic"/>
              </a:rPr>
              <a:t> 후 </a:t>
            </a:r>
            <a:r>
              <a:rPr sz="2100" b="1" dirty="0" err="1">
                <a:solidFill>
                  <a:srgbClr val="172B3A"/>
                </a:solidFill>
                <a:latin typeface="Malgun Gothic"/>
                <a:ea typeface="Malgun Gothic"/>
                <a:cs typeface="Malgun Gothic"/>
              </a:rPr>
              <a:t>다음</a:t>
            </a:r>
            <a:r>
              <a:rPr sz="2100" b="1" dirty="0">
                <a:solidFill>
                  <a:srgbClr val="172B3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00" b="1" dirty="0" err="1">
                <a:solidFill>
                  <a:srgbClr val="172B3A"/>
                </a:solidFill>
                <a:latin typeface="Malgun Gothic"/>
                <a:ea typeface="Malgun Gothic"/>
                <a:cs typeface="Malgun Gothic"/>
              </a:rPr>
              <a:t>전달까지</a:t>
            </a:r>
            <a:r>
              <a:rPr sz="2100" b="1" dirty="0">
                <a:solidFill>
                  <a:srgbClr val="172B3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00" b="1" dirty="0" err="1">
                <a:solidFill>
                  <a:srgbClr val="172B3A"/>
                </a:solidFill>
                <a:latin typeface="Malgun Gothic"/>
                <a:ea typeface="Malgun Gothic"/>
                <a:cs typeface="Malgun Gothic"/>
              </a:rPr>
              <a:t>대기</a:t>
            </a:r>
            <a:endParaRPr sz="2100" b="1" dirty="0">
              <a:solidFill>
                <a:srgbClr val="172B3A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6" name="takeaway">
            <a:extLst>
              <a:ext uri="{FF2B5EF4-FFF2-40B4-BE49-F238E27FC236}">
                <a16:creationId xmlns:a16="http://schemas.microsoft.com/office/drawing/2014/main" id="{6ECE1E8D-9A66-494C-A4B5-865C5747E5CA}"/>
              </a:ext>
            </a:extLst>
          </p:cNvPr>
          <p:cNvSpPr>
            <a:spLocks noGrp="1"/>
          </p:cNvSpPr>
          <p:nvPr/>
        </p:nvSpPr>
        <p:spPr>
          <a:xfrm>
            <a:off x="781050" y="7732647"/>
            <a:ext cx="13716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2175" b="1">
                <a:solidFill>
                  <a:srgbClr val="23618C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2175" b="1">
                <a:solidFill>
                  <a:srgbClr val="23618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 dirty="0" err="1">
                <a:solidFill>
                  <a:srgbClr val="23618C"/>
                </a:solidFill>
                <a:latin typeface="Malgun Gothic"/>
                <a:ea typeface="Malgun Gothic"/>
                <a:cs typeface="Malgun Gothic"/>
              </a:rPr>
              <a:t>코루틴은</a:t>
            </a:r>
            <a:r>
              <a:rPr sz="2175" b="1" dirty="0">
                <a:solidFill>
                  <a:srgbClr val="23618C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75" b="1" dirty="0" err="1">
                <a:solidFill>
                  <a:srgbClr val="23618C"/>
                </a:solidFill>
                <a:latin typeface="Malgun Gothic"/>
                <a:ea typeface="Malgun Gothic"/>
                <a:cs typeface="Malgun Gothic"/>
              </a:rPr>
              <a:t>순서와</a:t>
            </a:r>
            <a:r>
              <a:rPr sz="2175" b="1" dirty="0">
                <a:solidFill>
                  <a:srgbClr val="23618C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75" b="1" dirty="0" err="1">
                <a:solidFill>
                  <a:srgbClr val="23618C"/>
                </a:solidFill>
                <a:latin typeface="Malgun Gothic"/>
                <a:ea typeface="Malgun Gothic"/>
                <a:cs typeface="Malgun Gothic"/>
              </a:rPr>
              <a:t>간격을</a:t>
            </a:r>
            <a:r>
              <a:rPr sz="2175" b="1" dirty="0">
                <a:solidFill>
                  <a:srgbClr val="23618C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2175" b="1" dirty="0" err="1">
                <a:solidFill>
                  <a:srgbClr val="23618C"/>
                </a:solidFill>
                <a:latin typeface="Malgun Gothic"/>
                <a:ea typeface="Malgun Gothic"/>
                <a:cs typeface="Malgun Gothic"/>
              </a:rPr>
              <a:t>이동</a:t>
            </a:r>
            <a:r>
              <a:rPr sz="2175" b="1" dirty="0">
                <a:solidFill>
                  <a:srgbClr val="23618C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75" b="1" dirty="0" err="1">
                <a:solidFill>
                  <a:srgbClr val="23618C"/>
                </a:solidFill>
                <a:latin typeface="Malgun Gothic"/>
                <a:ea typeface="Malgun Gothic"/>
                <a:cs typeface="Malgun Gothic"/>
              </a:rPr>
              <a:t>완료</a:t>
            </a:r>
            <a:r>
              <a:rPr sz="2175" b="1" dirty="0">
                <a:solidFill>
                  <a:srgbClr val="23618C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75" b="1" dirty="0" err="1">
                <a:solidFill>
                  <a:srgbClr val="23618C"/>
                </a:solidFill>
                <a:latin typeface="Malgun Gothic"/>
                <a:ea typeface="Malgun Gothic"/>
                <a:cs typeface="Malgun Gothic"/>
              </a:rPr>
              <a:t>콜백과</a:t>
            </a:r>
            <a:r>
              <a:rPr sz="2175" b="1" dirty="0">
                <a:solidFill>
                  <a:srgbClr val="23618C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75" b="1" dirty="0" err="1">
                <a:solidFill>
                  <a:srgbClr val="23618C"/>
                </a:solidFill>
                <a:latin typeface="Malgun Gothic"/>
                <a:ea typeface="Malgun Gothic"/>
                <a:cs typeface="Malgun Gothic"/>
              </a:rPr>
              <a:t>Trigger는</a:t>
            </a:r>
            <a:r>
              <a:rPr sz="2175" b="1" dirty="0">
                <a:solidFill>
                  <a:srgbClr val="23618C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75" b="1" dirty="0" err="1">
                <a:solidFill>
                  <a:srgbClr val="23618C"/>
                </a:solidFill>
                <a:latin typeface="Malgun Gothic"/>
                <a:ea typeface="Malgun Gothic"/>
                <a:cs typeface="Malgun Gothic"/>
              </a:rPr>
              <a:t>물리</a:t>
            </a:r>
            <a:r>
              <a:rPr sz="2175" b="1" dirty="0">
                <a:solidFill>
                  <a:srgbClr val="23618C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75" b="1" dirty="0" err="1">
                <a:solidFill>
                  <a:srgbClr val="23618C"/>
                </a:solidFill>
                <a:latin typeface="Malgun Gothic"/>
                <a:ea typeface="Malgun Gothic"/>
                <a:cs typeface="Malgun Gothic"/>
              </a:rPr>
              <a:t>전환을</a:t>
            </a:r>
            <a:r>
              <a:rPr sz="2175" b="1" dirty="0">
                <a:solidFill>
                  <a:srgbClr val="23618C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75" b="1" dirty="0" err="1">
                <a:solidFill>
                  <a:srgbClr val="23618C"/>
                </a:solidFill>
                <a:latin typeface="Malgun Gothic"/>
                <a:ea typeface="Malgun Gothic"/>
                <a:cs typeface="Malgun Gothic"/>
              </a:rPr>
              <a:t>담당</a:t>
            </a:r>
            <a:endParaRPr sz="2175" b="1" dirty="0">
              <a:solidFill>
                <a:srgbClr val="23618C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519479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-title">
            <a:extLst>
              <a:ext uri="{FF2B5EF4-FFF2-40B4-BE49-F238E27FC236}">
                <a16:creationId xmlns:a16="http://schemas.microsoft.com/office/drawing/2014/main" id="{87B06A34-99D1-431C-9242-345A643DF1B6}"/>
              </a:ext>
            </a:extLst>
          </p:cNvPr>
          <p:cNvSpPr>
            <a:spLocks noGrp="1"/>
          </p:cNvSpPr>
          <p:nvPr/>
        </p:nvSpPr>
        <p:spPr>
          <a:xfrm>
            <a:off x="762000" y="552450"/>
            <a:ext cx="13716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4200" b="1">
                <a:solidFill>
                  <a:srgbClr val="172B3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4200" b="1">
                <a:solidFill>
                  <a:srgbClr val="172B3A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72B3A"/>
                </a:solidFill>
                <a:latin typeface="Malgun Gothic"/>
                <a:ea typeface="Malgun Gothic"/>
                <a:cs typeface="Malgun Gothic"/>
              </a:rPr>
              <a:t>코드 리뷰: 배치 크기에 따른 종료 조건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44AC67D5-62FC-45B3-9400-2E301CD6BE84}"/>
              </a:ext>
            </a:extLst>
          </p:cNvPr>
          <p:cNvSpPr>
            <a:spLocks noGrp="1"/>
          </p:cNvSpPr>
          <p:nvPr/>
        </p:nvSpPr>
        <p:spPr>
          <a:xfrm>
            <a:off x="781050" y="1476375"/>
            <a:ext cx="13677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2175">
                <a:solidFill>
                  <a:srgbClr val="536572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2175">
                <a:solidFill>
                  <a:srgbClr val="53657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>
                <a:solidFill>
                  <a:srgbClr val="536572"/>
                </a:solidFill>
                <a:latin typeface="Malgun Gothic"/>
                <a:ea typeface="Malgun Gothic"/>
                <a:cs typeface="Malgun Gothic"/>
              </a:rPr>
              <a:t>추가 반복 1회 제한을 현재 배치 완료 조건으로 개선</a:t>
            </a:r>
          </a:p>
        </p:txBody>
      </p:sp>
      <p:sp>
        <p:nvSpPr>
          <p:cNvPr id="3" name="before-label">
            <a:extLst>
              <a:ext uri="{FF2B5EF4-FFF2-40B4-BE49-F238E27FC236}">
                <a16:creationId xmlns:a16="http://schemas.microsoft.com/office/drawing/2014/main" id="{18199427-4E87-4D4A-BECB-42351C3B88DE}"/>
              </a:ext>
            </a:extLst>
          </p:cNvPr>
          <p:cNvSpPr>
            <a:spLocks noGrp="1"/>
          </p:cNvSpPr>
          <p:nvPr/>
        </p:nvSpPr>
        <p:spPr>
          <a:xfrm>
            <a:off x="762000" y="2209800"/>
            <a:ext cx="6572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2550" b="1">
                <a:solidFill>
                  <a:srgbClr val="BD5828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2550" b="1">
                <a:solidFill>
                  <a:srgbClr val="BD5828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BD5828"/>
                </a:solidFill>
                <a:latin typeface="Malgun Gothic"/>
                <a:ea typeface="Malgun Gothic"/>
                <a:cs typeface="Malgun Gothic"/>
              </a:rPr>
              <a:t>기존 코드</a:t>
            </a:r>
          </a:p>
        </p:txBody>
      </p:sp>
      <p:sp>
        <p:nvSpPr>
          <p:cNvPr id="4" name="after-label">
            <a:extLst>
              <a:ext uri="{FF2B5EF4-FFF2-40B4-BE49-F238E27FC236}">
                <a16:creationId xmlns:a16="http://schemas.microsoft.com/office/drawing/2014/main" id="{A08692D8-B9E8-483C-A359-45FF9E94F251}"/>
              </a:ext>
            </a:extLst>
          </p:cNvPr>
          <p:cNvSpPr>
            <a:spLocks noGrp="1"/>
          </p:cNvSpPr>
          <p:nvPr/>
        </p:nvSpPr>
        <p:spPr>
          <a:xfrm>
            <a:off x="8143875" y="2209800"/>
            <a:ext cx="63341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2550" b="1">
                <a:solidFill>
                  <a:srgbClr val="23618C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2550" b="1">
                <a:solidFill>
                  <a:srgbClr val="23618C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3618C"/>
                </a:solidFill>
                <a:latin typeface="Malgun Gothic"/>
                <a:ea typeface="Malgun Gothic"/>
                <a:cs typeface="Malgun Gothic"/>
              </a:rPr>
              <a:t>개선 후 구조 (요약)</a:t>
            </a:r>
          </a:p>
        </p:txBody>
      </p:sp>
      <p:sp>
        <p:nvSpPr>
          <p:cNvPr id="5" name="before-1">
            <a:extLst>
              <a:ext uri="{FF2B5EF4-FFF2-40B4-BE49-F238E27FC236}">
                <a16:creationId xmlns:a16="http://schemas.microsoft.com/office/drawing/2014/main" id="{5926FB33-E408-436D-9D84-8A9B78111566}"/>
              </a:ext>
            </a:extLst>
          </p:cNvPr>
          <p:cNvSpPr>
            <a:spLocks noGrp="1"/>
          </p:cNvSpPr>
          <p:nvPr/>
        </p:nvSpPr>
        <p:spPr>
          <a:xfrm>
            <a:off x="762000" y="2905125"/>
            <a:ext cx="6572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875">
                <a:solidFill>
                  <a:srgbClr val="172B3A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defRPr sz="1875">
                <a:solidFill>
                  <a:srgbClr val="172B3A"/>
                </a:solidFill>
                <a:latin typeface="Consolas"/>
                <a:ea typeface="Consolas"/>
                <a:cs typeface="Consolas"/>
              </a:defRPr>
            </a:pPr>
            <a:r>
              <a:rPr sz="1875">
                <a:solidFill>
                  <a:srgbClr val="23618C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875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 (!_isGiving)</a:t>
            </a:r>
          </a:p>
        </p:txBody>
      </p:sp>
      <p:sp>
        <p:nvSpPr>
          <p:cNvPr id="6" name="before-2">
            <a:extLst>
              <a:ext uri="{FF2B5EF4-FFF2-40B4-BE49-F238E27FC236}">
                <a16:creationId xmlns:a16="http://schemas.microsoft.com/office/drawing/2014/main" id="{E8560153-CD6C-4D77-8B10-95CB02116A0C}"/>
              </a:ext>
            </a:extLst>
          </p:cNvPr>
          <p:cNvSpPr>
            <a:spLocks noGrp="1"/>
          </p:cNvSpPr>
          <p:nvPr/>
        </p:nvSpPr>
        <p:spPr>
          <a:xfrm>
            <a:off x="762000" y="3209925"/>
            <a:ext cx="6572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875">
                <a:solidFill>
                  <a:srgbClr val="172B3A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defRPr sz="1875">
                <a:solidFill>
                  <a:srgbClr val="172B3A"/>
                </a:solidFill>
                <a:latin typeface="Consolas"/>
                <a:ea typeface="Consolas"/>
                <a:cs typeface="Consolas"/>
              </a:defRPr>
            </a:pPr>
            <a:r>
              <a:rPr sz="1875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{</a:t>
            </a:r>
          </a:p>
        </p:txBody>
      </p:sp>
      <p:sp>
        <p:nvSpPr>
          <p:cNvPr id="7" name="before-3">
            <a:extLst>
              <a:ext uri="{FF2B5EF4-FFF2-40B4-BE49-F238E27FC236}">
                <a16:creationId xmlns:a16="http://schemas.microsoft.com/office/drawing/2014/main" id="{FF700B93-C88C-4877-A43F-13C47AF50996}"/>
              </a:ext>
            </a:extLst>
          </p:cNvPr>
          <p:cNvSpPr>
            <a:spLocks noGrp="1"/>
          </p:cNvSpPr>
          <p:nvPr/>
        </p:nvSpPr>
        <p:spPr>
          <a:xfrm>
            <a:off x="762000" y="3514725"/>
            <a:ext cx="6572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875">
                <a:solidFill>
                  <a:srgbClr val="172B3A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defRPr sz="1875">
                <a:solidFill>
                  <a:srgbClr val="172B3A"/>
                </a:solidFill>
                <a:latin typeface="Consolas"/>
                <a:ea typeface="Consolas"/>
                <a:cs typeface="Consolas"/>
              </a:defRPr>
            </a:pPr>
            <a:r>
              <a:rPr sz="1875" dirty="0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875" dirty="0">
                <a:solidFill>
                  <a:srgbClr val="23618C"/>
                </a:solidFill>
                <a:latin typeface="Consolas"/>
                <a:ea typeface="Consolas"/>
                <a:cs typeface="Consolas"/>
              </a:rPr>
              <a:t>if (</a:t>
            </a:r>
            <a:r>
              <a:rPr sz="1875" dirty="0" err="1">
                <a:solidFill>
                  <a:srgbClr val="23618C"/>
                </a:solidFill>
                <a:latin typeface="Consolas"/>
                <a:ea typeface="Consolas"/>
                <a:cs typeface="Consolas"/>
              </a:rPr>
              <a:t>givenInBatch</a:t>
            </a:r>
            <a:r>
              <a:rPr sz="1875" dirty="0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 != 0 &amp;&amp;</a:t>
            </a:r>
          </a:p>
        </p:txBody>
      </p:sp>
      <p:sp>
        <p:nvSpPr>
          <p:cNvPr id="8" name="before-4">
            <a:extLst>
              <a:ext uri="{FF2B5EF4-FFF2-40B4-BE49-F238E27FC236}">
                <a16:creationId xmlns:a16="http://schemas.microsoft.com/office/drawing/2014/main" id="{F761C071-DA13-4230-931F-C31CB6FD2A2A}"/>
              </a:ext>
            </a:extLst>
          </p:cNvPr>
          <p:cNvSpPr>
            <a:spLocks noGrp="1"/>
          </p:cNvSpPr>
          <p:nvPr/>
        </p:nvSpPr>
        <p:spPr>
          <a:xfrm>
            <a:off x="762000" y="3819525"/>
            <a:ext cx="6572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875">
                <a:solidFill>
                  <a:srgbClr val="172B3A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defRPr sz="1875">
                <a:solidFill>
                  <a:srgbClr val="172B3A"/>
                </a:solidFill>
                <a:latin typeface="Consolas"/>
                <a:ea typeface="Consolas"/>
                <a:cs typeface="Consolas"/>
              </a:defRPr>
            </a:pPr>
            <a:r>
              <a:rPr sz="1875" dirty="0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        !</a:t>
            </a:r>
            <a:r>
              <a:rPr sz="1875" dirty="0" err="1">
                <a:solidFill>
                  <a:srgbClr val="BD5828"/>
                </a:solidFill>
                <a:latin typeface="Consolas"/>
                <a:ea typeface="Consolas"/>
                <a:cs typeface="Consolas"/>
              </a:rPr>
              <a:t>exitCompletionUsed</a:t>
            </a:r>
            <a:r>
              <a:rPr sz="1875" dirty="0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9" name="before-5">
            <a:extLst>
              <a:ext uri="{FF2B5EF4-FFF2-40B4-BE49-F238E27FC236}">
                <a16:creationId xmlns:a16="http://schemas.microsoft.com/office/drawing/2014/main" id="{0F4FFF66-AC30-4E02-89CB-68C13D15923A}"/>
              </a:ext>
            </a:extLst>
          </p:cNvPr>
          <p:cNvSpPr>
            <a:spLocks noGrp="1"/>
          </p:cNvSpPr>
          <p:nvPr/>
        </p:nvSpPr>
        <p:spPr>
          <a:xfrm>
            <a:off x="762000" y="4124325"/>
            <a:ext cx="6572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875">
                <a:solidFill>
                  <a:srgbClr val="172B3A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defRPr sz="1875">
                <a:solidFill>
                  <a:srgbClr val="172B3A"/>
                </a:solidFill>
                <a:latin typeface="Consolas"/>
                <a:ea typeface="Consolas"/>
                <a:cs typeface="Consolas"/>
              </a:defRPr>
            </a:pPr>
            <a:r>
              <a:rPr sz="1875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    {</a:t>
            </a:r>
          </a:p>
        </p:txBody>
      </p:sp>
      <p:sp>
        <p:nvSpPr>
          <p:cNvPr id="10" name="before-6">
            <a:extLst>
              <a:ext uri="{FF2B5EF4-FFF2-40B4-BE49-F238E27FC236}">
                <a16:creationId xmlns:a16="http://schemas.microsoft.com/office/drawing/2014/main" id="{A5B6D9FB-97CF-4E84-8111-9B0E2FAE34A0}"/>
              </a:ext>
            </a:extLst>
          </p:cNvPr>
          <p:cNvSpPr>
            <a:spLocks noGrp="1"/>
          </p:cNvSpPr>
          <p:nvPr/>
        </p:nvSpPr>
        <p:spPr>
          <a:xfrm>
            <a:off x="762000" y="4429125"/>
            <a:ext cx="6572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875">
                <a:solidFill>
                  <a:srgbClr val="172B3A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defRPr sz="1875">
                <a:solidFill>
                  <a:srgbClr val="172B3A"/>
                </a:solidFill>
                <a:latin typeface="Consolas"/>
                <a:ea typeface="Consolas"/>
                <a:cs typeface="Consolas"/>
              </a:defRPr>
            </a:pPr>
            <a:r>
              <a:rPr sz="1875" dirty="0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875" dirty="0" err="1">
                <a:solidFill>
                  <a:srgbClr val="BD5828"/>
                </a:solidFill>
                <a:latin typeface="Consolas"/>
                <a:ea typeface="Consolas"/>
                <a:cs typeface="Consolas"/>
              </a:rPr>
              <a:t>exitCompletionUsed</a:t>
            </a:r>
            <a:r>
              <a:rPr sz="1875" dirty="0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875" dirty="0">
                <a:solidFill>
                  <a:srgbClr val="23618C"/>
                </a:solidFill>
                <a:latin typeface="Consolas"/>
                <a:ea typeface="Consolas"/>
                <a:cs typeface="Consolas"/>
              </a:rPr>
              <a:t>true;</a:t>
            </a:r>
          </a:p>
        </p:txBody>
      </p:sp>
      <p:sp>
        <p:nvSpPr>
          <p:cNvPr id="11" name="before-7">
            <a:extLst>
              <a:ext uri="{FF2B5EF4-FFF2-40B4-BE49-F238E27FC236}">
                <a16:creationId xmlns:a16="http://schemas.microsoft.com/office/drawing/2014/main" id="{8FB8A93F-10AA-44E8-B42B-D0F2B59F45B4}"/>
              </a:ext>
            </a:extLst>
          </p:cNvPr>
          <p:cNvSpPr>
            <a:spLocks noGrp="1"/>
          </p:cNvSpPr>
          <p:nvPr/>
        </p:nvSpPr>
        <p:spPr>
          <a:xfrm>
            <a:off x="762000" y="4733925"/>
            <a:ext cx="6572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875">
                <a:solidFill>
                  <a:srgbClr val="172B3A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defRPr sz="1875">
                <a:solidFill>
                  <a:srgbClr val="172B3A"/>
                </a:solidFill>
                <a:latin typeface="Consolas"/>
                <a:ea typeface="Consolas"/>
                <a:cs typeface="Consolas"/>
              </a:defRPr>
            </a:pPr>
            <a:r>
              <a:rPr sz="1875" dirty="0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        _</a:t>
            </a:r>
            <a:r>
              <a:rPr sz="1875" dirty="0" err="1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finishCoroutineAfterTick</a:t>
            </a:r>
            <a:r>
              <a:rPr sz="1875" dirty="0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875" dirty="0">
                <a:solidFill>
                  <a:srgbClr val="23618C"/>
                </a:solidFill>
                <a:latin typeface="Consolas"/>
                <a:ea typeface="Consolas"/>
                <a:cs typeface="Consolas"/>
              </a:rPr>
              <a:t>true;</a:t>
            </a:r>
          </a:p>
        </p:txBody>
      </p:sp>
      <p:sp>
        <p:nvSpPr>
          <p:cNvPr id="12" name="before-8">
            <a:extLst>
              <a:ext uri="{FF2B5EF4-FFF2-40B4-BE49-F238E27FC236}">
                <a16:creationId xmlns:a16="http://schemas.microsoft.com/office/drawing/2014/main" id="{22D0B509-4B76-4F37-95D1-707D70832549}"/>
              </a:ext>
            </a:extLst>
          </p:cNvPr>
          <p:cNvSpPr>
            <a:spLocks noGrp="1"/>
          </p:cNvSpPr>
          <p:nvPr/>
        </p:nvSpPr>
        <p:spPr>
          <a:xfrm>
            <a:off x="762000" y="5038725"/>
            <a:ext cx="6572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875">
                <a:solidFill>
                  <a:srgbClr val="172B3A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defRPr sz="1875">
                <a:solidFill>
                  <a:srgbClr val="172B3A"/>
                </a:solidFill>
                <a:latin typeface="Consolas"/>
                <a:ea typeface="Consolas"/>
                <a:cs typeface="Consolas"/>
              </a:defRPr>
            </a:pPr>
            <a:r>
              <a:rPr sz="1875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875">
                <a:solidFill>
                  <a:srgbClr val="23618C"/>
                </a:solidFill>
                <a:latin typeface="Consolas"/>
                <a:ea typeface="Consolas"/>
                <a:cs typeface="Consolas"/>
              </a:rPr>
              <a:t>continue;</a:t>
            </a:r>
          </a:p>
        </p:txBody>
      </p:sp>
      <p:sp>
        <p:nvSpPr>
          <p:cNvPr id="13" name="before-9">
            <a:extLst>
              <a:ext uri="{FF2B5EF4-FFF2-40B4-BE49-F238E27FC236}">
                <a16:creationId xmlns:a16="http://schemas.microsoft.com/office/drawing/2014/main" id="{27E13CD5-7C63-49B0-877B-36973F2A2197}"/>
              </a:ext>
            </a:extLst>
          </p:cNvPr>
          <p:cNvSpPr>
            <a:spLocks noGrp="1"/>
          </p:cNvSpPr>
          <p:nvPr/>
        </p:nvSpPr>
        <p:spPr>
          <a:xfrm>
            <a:off x="762000" y="5343525"/>
            <a:ext cx="6572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875">
                <a:solidFill>
                  <a:srgbClr val="172B3A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defRPr sz="1875">
                <a:solidFill>
                  <a:srgbClr val="172B3A"/>
                </a:solidFill>
                <a:latin typeface="Consolas"/>
                <a:ea typeface="Consolas"/>
                <a:cs typeface="Consolas"/>
              </a:defRPr>
            </a:pPr>
            <a:r>
              <a:rPr sz="1875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    }</a:t>
            </a:r>
          </a:p>
        </p:txBody>
      </p:sp>
      <p:sp>
        <p:nvSpPr>
          <p:cNvPr id="14" name="before-10">
            <a:extLst>
              <a:ext uri="{FF2B5EF4-FFF2-40B4-BE49-F238E27FC236}">
                <a16:creationId xmlns:a16="http://schemas.microsoft.com/office/drawing/2014/main" id="{348C397C-3191-4176-82AF-88E5648FA8FD}"/>
              </a:ext>
            </a:extLst>
          </p:cNvPr>
          <p:cNvSpPr>
            <a:spLocks noGrp="1"/>
          </p:cNvSpPr>
          <p:nvPr/>
        </p:nvSpPr>
        <p:spPr>
          <a:xfrm>
            <a:off x="762000" y="5648325"/>
            <a:ext cx="6572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875">
                <a:solidFill>
                  <a:srgbClr val="172B3A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defRPr sz="1875">
                <a:solidFill>
                  <a:srgbClr val="172B3A"/>
                </a:solidFill>
                <a:latin typeface="Consolas"/>
                <a:ea typeface="Consolas"/>
                <a:cs typeface="Consolas"/>
              </a:defRPr>
            </a:pPr>
            <a:r>
              <a:rPr sz="1875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875">
                <a:solidFill>
                  <a:srgbClr val="23618C"/>
                </a:solidFill>
                <a:latin typeface="Consolas"/>
                <a:ea typeface="Consolas"/>
                <a:cs typeface="Consolas"/>
              </a:rPr>
              <a:t>break;</a:t>
            </a:r>
          </a:p>
        </p:txBody>
      </p:sp>
      <p:sp>
        <p:nvSpPr>
          <p:cNvPr id="15" name="before-11">
            <a:extLst>
              <a:ext uri="{FF2B5EF4-FFF2-40B4-BE49-F238E27FC236}">
                <a16:creationId xmlns:a16="http://schemas.microsoft.com/office/drawing/2014/main" id="{93662FA1-9558-427D-BE35-5D5EFE32E46E}"/>
              </a:ext>
            </a:extLst>
          </p:cNvPr>
          <p:cNvSpPr>
            <a:spLocks noGrp="1"/>
          </p:cNvSpPr>
          <p:nvPr/>
        </p:nvSpPr>
        <p:spPr>
          <a:xfrm>
            <a:off x="762000" y="5953125"/>
            <a:ext cx="6572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875">
                <a:solidFill>
                  <a:srgbClr val="172B3A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defRPr sz="1875">
                <a:solidFill>
                  <a:srgbClr val="172B3A"/>
                </a:solidFill>
                <a:latin typeface="Consolas"/>
                <a:ea typeface="Consolas"/>
                <a:cs typeface="Consolas"/>
              </a:defRPr>
            </a:pPr>
            <a:r>
              <a:rPr sz="1875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6" name="after-1">
            <a:extLst>
              <a:ext uri="{FF2B5EF4-FFF2-40B4-BE49-F238E27FC236}">
                <a16:creationId xmlns:a16="http://schemas.microsoft.com/office/drawing/2014/main" id="{1A5F98D5-3A9B-428C-9C42-90325347B167}"/>
              </a:ext>
            </a:extLst>
          </p:cNvPr>
          <p:cNvSpPr>
            <a:spLocks noGrp="1"/>
          </p:cNvSpPr>
          <p:nvPr/>
        </p:nvSpPr>
        <p:spPr>
          <a:xfrm>
            <a:off x="8143875" y="2905125"/>
            <a:ext cx="6334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875">
                <a:solidFill>
                  <a:srgbClr val="172B3A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defRPr sz="1875">
                <a:solidFill>
                  <a:srgbClr val="172B3A"/>
                </a:solidFill>
                <a:latin typeface="Consolas"/>
                <a:ea typeface="Consolas"/>
                <a:cs typeface="Consolas"/>
              </a:defRPr>
            </a:pPr>
            <a:r>
              <a:rPr sz="1875" dirty="0">
                <a:solidFill>
                  <a:srgbClr val="23618C"/>
                </a:solidFill>
                <a:latin typeface="Consolas"/>
                <a:ea typeface="Consolas"/>
                <a:cs typeface="Consolas"/>
              </a:rPr>
              <a:t>while</a:t>
            </a:r>
            <a:r>
              <a:rPr sz="1875" dirty="0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 (_</a:t>
            </a:r>
            <a:r>
              <a:rPr sz="1875" dirty="0" err="1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isGiving</a:t>
            </a:r>
            <a:r>
              <a:rPr sz="1875" dirty="0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 || </a:t>
            </a:r>
            <a:r>
              <a:rPr sz="1875" dirty="0" err="1">
                <a:solidFill>
                  <a:srgbClr val="23618C"/>
                </a:solidFill>
                <a:latin typeface="Consolas"/>
                <a:ea typeface="Consolas"/>
                <a:cs typeface="Consolas"/>
              </a:rPr>
              <a:t>givenInBatch</a:t>
            </a:r>
            <a:r>
              <a:rPr sz="1875" dirty="0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 &gt; 0)</a:t>
            </a:r>
          </a:p>
        </p:txBody>
      </p:sp>
      <p:sp>
        <p:nvSpPr>
          <p:cNvPr id="17" name="after-2">
            <a:extLst>
              <a:ext uri="{FF2B5EF4-FFF2-40B4-BE49-F238E27FC236}">
                <a16:creationId xmlns:a16="http://schemas.microsoft.com/office/drawing/2014/main" id="{5DEFDC85-4F1A-4F24-9FE6-D8507CACECE1}"/>
              </a:ext>
            </a:extLst>
          </p:cNvPr>
          <p:cNvSpPr>
            <a:spLocks noGrp="1"/>
          </p:cNvSpPr>
          <p:nvPr/>
        </p:nvSpPr>
        <p:spPr>
          <a:xfrm>
            <a:off x="8143875" y="3209925"/>
            <a:ext cx="6334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875">
                <a:solidFill>
                  <a:srgbClr val="172B3A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defRPr sz="1875">
                <a:solidFill>
                  <a:srgbClr val="172B3A"/>
                </a:solidFill>
                <a:latin typeface="Consolas"/>
                <a:ea typeface="Consolas"/>
                <a:cs typeface="Consolas"/>
              </a:defRPr>
            </a:pPr>
            <a:r>
              <a:rPr sz="1875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{</a:t>
            </a:r>
          </a:p>
        </p:txBody>
      </p:sp>
      <p:sp>
        <p:nvSpPr>
          <p:cNvPr id="18" name="after-3">
            <a:extLst>
              <a:ext uri="{FF2B5EF4-FFF2-40B4-BE49-F238E27FC236}">
                <a16:creationId xmlns:a16="http://schemas.microsoft.com/office/drawing/2014/main" id="{447B1ED9-A15B-41B0-AB15-BC94FFB3706C}"/>
              </a:ext>
            </a:extLst>
          </p:cNvPr>
          <p:cNvSpPr>
            <a:spLocks noGrp="1"/>
          </p:cNvSpPr>
          <p:nvPr/>
        </p:nvSpPr>
        <p:spPr>
          <a:xfrm>
            <a:off x="8143875" y="3514725"/>
            <a:ext cx="6334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875">
                <a:solidFill>
                  <a:srgbClr val="172B3A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defRPr sz="1875">
                <a:solidFill>
                  <a:srgbClr val="172B3A"/>
                </a:solidFill>
                <a:latin typeface="Consolas"/>
                <a:ea typeface="Consolas"/>
                <a:cs typeface="Consolas"/>
              </a:defRPr>
            </a:pPr>
            <a:r>
              <a:rPr lang="en-US" sz="1875" dirty="0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	</a:t>
            </a:r>
            <a:r>
              <a:rPr lang="ko-KR" altLang="en-US" sz="1875" dirty="0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치킨 준비</a:t>
            </a:r>
            <a:r>
              <a:rPr lang="en-US" altLang="ko-KR" sz="1875" dirty="0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()</a:t>
            </a:r>
            <a:endParaRPr sz="1875" dirty="0">
              <a:solidFill>
                <a:srgbClr val="172B3A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9" name="after-4">
            <a:extLst>
              <a:ext uri="{FF2B5EF4-FFF2-40B4-BE49-F238E27FC236}">
                <a16:creationId xmlns:a16="http://schemas.microsoft.com/office/drawing/2014/main" id="{8FB31B8B-E891-422E-BF47-DD6C0F0111FA}"/>
              </a:ext>
            </a:extLst>
          </p:cNvPr>
          <p:cNvSpPr>
            <a:spLocks noGrp="1"/>
          </p:cNvSpPr>
          <p:nvPr/>
        </p:nvSpPr>
        <p:spPr>
          <a:xfrm>
            <a:off x="8143875" y="3819525"/>
            <a:ext cx="6334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875">
                <a:solidFill>
                  <a:srgbClr val="172B3A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defRPr sz="1875">
                <a:solidFill>
                  <a:srgbClr val="172B3A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875" dirty="0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	</a:t>
            </a:r>
            <a:r>
              <a:rPr lang="ko-KR" altLang="en-US" sz="1875" dirty="0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치킨 전달</a:t>
            </a:r>
            <a:r>
              <a:rPr lang="en-US" altLang="ko-KR" sz="1875" dirty="0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()</a:t>
            </a:r>
            <a:endParaRPr sz="1875" dirty="0">
              <a:solidFill>
                <a:srgbClr val="172B3A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0" name="after-5">
            <a:extLst>
              <a:ext uri="{FF2B5EF4-FFF2-40B4-BE49-F238E27FC236}">
                <a16:creationId xmlns:a16="http://schemas.microsoft.com/office/drawing/2014/main" id="{0ADC74BA-884B-4FE8-88CC-9BA831AF9304}"/>
              </a:ext>
            </a:extLst>
          </p:cNvPr>
          <p:cNvSpPr>
            <a:spLocks noGrp="1"/>
          </p:cNvSpPr>
          <p:nvPr/>
        </p:nvSpPr>
        <p:spPr>
          <a:xfrm>
            <a:off x="8143875" y="4124325"/>
            <a:ext cx="6334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875">
                <a:solidFill>
                  <a:srgbClr val="172B3A"/>
                </a:solidFill>
                <a:latin typeface="Consolas"/>
                <a:ea typeface="Consolas"/>
                <a:cs typeface="Consolas"/>
              </a:defRPr>
            </a:defPPr>
          </a:lstStyle>
          <a:p>
            <a:endParaRPr/>
          </a:p>
        </p:txBody>
      </p:sp>
      <p:sp>
        <p:nvSpPr>
          <p:cNvPr id="21" name="after-6">
            <a:extLst>
              <a:ext uri="{FF2B5EF4-FFF2-40B4-BE49-F238E27FC236}">
                <a16:creationId xmlns:a16="http://schemas.microsoft.com/office/drawing/2014/main" id="{8BAF5A9A-6961-44B2-AC76-F08B8BB85725}"/>
              </a:ext>
            </a:extLst>
          </p:cNvPr>
          <p:cNvSpPr>
            <a:spLocks noGrp="1"/>
          </p:cNvSpPr>
          <p:nvPr/>
        </p:nvSpPr>
        <p:spPr>
          <a:xfrm>
            <a:off x="8143875" y="4429125"/>
            <a:ext cx="6334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875">
                <a:solidFill>
                  <a:srgbClr val="172B3A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defRPr sz="1875">
                <a:solidFill>
                  <a:srgbClr val="172B3A"/>
                </a:solidFill>
                <a:latin typeface="Consolas"/>
                <a:ea typeface="Consolas"/>
                <a:cs typeface="Consolas"/>
              </a:defRPr>
            </a:pPr>
            <a:r>
              <a:rPr sz="1875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875">
                <a:solidFill>
                  <a:srgbClr val="23618C"/>
                </a:solidFill>
                <a:latin typeface="Consolas"/>
                <a:ea typeface="Consolas"/>
                <a:cs typeface="Consolas"/>
              </a:rPr>
              <a:t>if (++givenInBatch</a:t>
            </a:r>
            <a:r>
              <a:rPr sz="1875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 &gt;= </a:t>
            </a:r>
            <a:r>
              <a:rPr sz="1875">
                <a:solidFill>
                  <a:srgbClr val="23618C"/>
                </a:solidFill>
                <a:latin typeface="Consolas"/>
                <a:ea typeface="Consolas"/>
                <a:cs typeface="Consolas"/>
              </a:rPr>
              <a:t>batchSize</a:t>
            </a:r>
            <a:r>
              <a:rPr sz="1875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22" name="after-7">
            <a:extLst>
              <a:ext uri="{FF2B5EF4-FFF2-40B4-BE49-F238E27FC236}">
                <a16:creationId xmlns:a16="http://schemas.microsoft.com/office/drawing/2014/main" id="{A0636D75-46D5-4287-AB7B-2AC9E6C81ACD}"/>
              </a:ext>
            </a:extLst>
          </p:cNvPr>
          <p:cNvSpPr>
            <a:spLocks noGrp="1"/>
          </p:cNvSpPr>
          <p:nvPr/>
        </p:nvSpPr>
        <p:spPr>
          <a:xfrm>
            <a:off x="8143875" y="4733925"/>
            <a:ext cx="6334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875">
                <a:solidFill>
                  <a:srgbClr val="172B3A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defRPr sz="1875">
                <a:solidFill>
                  <a:srgbClr val="172B3A"/>
                </a:solidFill>
                <a:latin typeface="Consolas"/>
                <a:ea typeface="Consolas"/>
                <a:cs typeface="Consolas"/>
              </a:defRPr>
            </a:pPr>
            <a:r>
              <a:rPr sz="1875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875">
                <a:solidFill>
                  <a:srgbClr val="23618C"/>
                </a:solidFill>
                <a:latin typeface="Consolas"/>
                <a:ea typeface="Consolas"/>
                <a:cs typeface="Consolas"/>
              </a:rPr>
              <a:t>givenInBatch</a:t>
            </a:r>
            <a:r>
              <a:rPr sz="1875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 = 0;</a:t>
            </a:r>
          </a:p>
        </p:txBody>
      </p:sp>
      <p:sp>
        <p:nvSpPr>
          <p:cNvPr id="23" name="after-8">
            <a:extLst>
              <a:ext uri="{FF2B5EF4-FFF2-40B4-BE49-F238E27FC236}">
                <a16:creationId xmlns:a16="http://schemas.microsoft.com/office/drawing/2014/main" id="{5310C5EC-FE40-460F-A370-630FED3BFE4E}"/>
              </a:ext>
            </a:extLst>
          </p:cNvPr>
          <p:cNvSpPr>
            <a:spLocks noGrp="1"/>
          </p:cNvSpPr>
          <p:nvPr/>
        </p:nvSpPr>
        <p:spPr>
          <a:xfrm>
            <a:off x="8143875" y="5038725"/>
            <a:ext cx="6334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875">
                <a:solidFill>
                  <a:srgbClr val="172B3A"/>
                </a:solidFill>
                <a:latin typeface="Consolas"/>
                <a:ea typeface="Consolas"/>
                <a:cs typeface="Consolas"/>
              </a:defRPr>
            </a:defPPr>
          </a:lstStyle>
          <a:p>
            <a:endParaRPr/>
          </a:p>
        </p:txBody>
      </p:sp>
      <p:sp>
        <p:nvSpPr>
          <p:cNvPr id="24" name="after-9">
            <a:extLst>
              <a:ext uri="{FF2B5EF4-FFF2-40B4-BE49-F238E27FC236}">
                <a16:creationId xmlns:a16="http://schemas.microsoft.com/office/drawing/2014/main" id="{291949A2-6F14-4798-9EFB-46A3A81EF0CD}"/>
              </a:ext>
            </a:extLst>
          </p:cNvPr>
          <p:cNvSpPr>
            <a:spLocks noGrp="1"/>
          </p:cNvSpPr>
          <p:nvPr/>
        </p:nvSpPr>
        <p:spPr>
          <a:xfrm>
            <a:off x="8143875" y="5343525"/>
            <a:ext cx="6334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875">
                <a:solidFill>
                  <a:srgbClr val="172B3A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defRPr sz="1875">
                <a:solidFill>
                  <a:srgbClr val="172B3A"/>
                </a:solidFill>
                <a:latin typeface="Consolas"/>
                <a:ea typeface="Consolas"/>
                <a:cs typeface="Consolas"/>
              </a:defRPr>
            </a:pPr>
            <a:r>
              <a:rPr sz="1875" dirty="0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875" dirty="0">
                <a:solidFill>
                  <a:srgbClr val="23618C"/>
                </a:solidFill>
                <a:latin typeface="Consolas"/>
                <a:ea typeface="Consolas"/>
                <a:cs typeface="Consolas"/>
              </a:rPr>
              <a:t>yield return </a:t>
            </a:r>
            <a:r>
              <a:rPr sz="1875" dirty="0" err="1">
                <a:solidFill>
                  <a:srgbClr val="23618C"/>
                </a:solidFill>
                <a:latin typeface="Consolas"/>
                <a:ea typeface="Consolas"/>
                <a:cs typeface="Consolas"/>
              </a:rPr>
              <a:t>WaitForNe</a:t>
            </a:r>
            <a:r>
              <a:rPr sz="1875" dirty="0" err="1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xtItem</a:t>
            </a:r>
            <a:r>
              <a:rPr sz="1875" dirty="0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();</a:t>
            </a:r>
          </a:p>
        </p:txBody>
      </p:sp>
      <p:sp>
        <p:nvSpPr>
          <p:cNvPr id="25" name="after-10">
            <a:extLst>
              <a:ext uri="{FF2B5EF4-FFF2-40B4-BE49-F238E27FC236}">
                <a16:creationId xmlns:a16="http://schemas.microsoft.com/office/drawing/2014/main" id="{B06329C9-EE72-43A4-A1F0-45FC8E5A7D6E}"/>
              </a:ext>
            </a:extLst>
          </p:cNvPr>
          <p:cNvSpPr>
            <a:spLocks noGrp="1"/>
          </p:cNvSpPr>
          <p:nvPr/>
        </p:nvSpPr>
        <p:spPr>
          <a:xfrm>
            <a:off x="8143875" y="5648325"/>
            <a:ext cx="6334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875">
                <a:solidFill>
                  <a:srgbClr val="172B3A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defRPr sz="1875">
                <a:solidFill>
                  <a:srgbClr val="172B3A"/>
                </a:solidFill>
                <a:latin typeface="Consolas"/>
                <a:ea typeface="Consolas"/>
                <a:cs typeface="Consolas"/>
              </a:defRPr>
            </a:pPr>
            <a:r>
              <a:rPr sz="1875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6" name="before-explanation">
            <a:extLst>
              <a:ext uri="{FF2B5EF4-FFF2-40B4-BE49-F238E27FC236}">
                <a16:creationId xmlns:a16="http://schemas.microsoft.com/office/drawing/2014/main" id="{FF590651-F9B1-41B6-BFAD-E145CB0CD568}"/>
              </a:ext>
            </a:extLst>
          </p:cNvPr>
          <p:cNvSpPr>
            <a:spLocks noGrp="1"/>
          </p:cNvSpPr>
          <p:nvPr/>
        </p:nvSpPr>
        <p:spPr>
          <a:xfrm>
            <a:off x="762000" y="6457950"/>
            <a:ext cx="65722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2175" b="1">
                <a:solidFill>
                  <a:srgbClr val="BD5828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2175" b="1">
                <a:solidFill>
                  <a:srgbClr val="BD582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 dirty="0" err="1">
                <a:solidFill>
                  <a:srgbClr val="BD5828"/>
                </a:solidFill>
                <a:latin typeface="Malgun Gothic"/>
                <a:ea typeface="Malgun Gothic"/>
                <a:cs typeface="Malgun Gothic"/>
              </a:rPr>
              <a:t>추가</a:t>
            </a:r>
            <a:r>
              <a:rPr sz="2175" b="1" dirty="0">
                <a:solidFill>
                  <a:srgbClr val="BD582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75" b="1" dirty="0" err="1">
                <a:solidFill>
                  <a:srgbClr val="BD5828"/>
                </a:solidFill>
                <a:latin typeface="Malgun Gothic"/>
                <a:ea typeface="Malgun Gothic"/>
                <a:cs typeface="Malgun Gothic"/>
              </a:rPr>
              <a:t>반복을</a:t>
            </a:r>
            <a:r>
              <a:rPr sz="2175" b="1" dirty="0">
                <a:solidFill>
                  <a:srgbClr val="BD5828"/>
                </a:solidFill>
                <a:latin typeface="Malgun Gothic"/>
                <a:ea typeface="Malgun Gothic"/>
                <a:cs typeface="Malgun Gothic"/>
              </a:rPr>
              <a:t> 한 </a:t>
            </a:r>
            <a:r>
              <a:rPr sz="2175" b="1" dirty="0" err="1">
                <a:solidFill>
                  <a:srgbClr val="BD5828"/>
                </a:solidFill>
                <a:latin typeface="Malgun Gothic"/>
                <a:ea typeface="Malgun Gothic"/>
                <a:cs typeface="Malgun Gothic"/>
              </a:rPr>
              <a:t>번만</a:t>
            </a:r>
            <a:r>
              <a:rPr sz="2175" b="1" dirty="0">
                <a:solidFill>
                  <a:srgbClr val="BD582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75" b="1" dirty="0" err="1">
                <a:solidFill>
                  <a:srgbClr val="BD5828"/>
                </a:solidFill>
                <a:latin typeface="Malgun Gothic"/>
                <a:ea typeface="Malgun Gothic"/>
                <a:cs typeface="Malgun Gothic"/>
              </a:rPr>
              <a:t>허용하므로</a:t>
            </a:r>
            <a:endParaRPr sz="2175" b="1" dirty="0">
              <a:solidFill>
                <a:srgbClr val="BD5828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defRPr sz="2175" b="1">
                <a:solidFill>
                  <a:srgbClr val="BD582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 dirty="0" err="1">
                <a:solidFill>
                  <a:srgbClr val="BD5828"/>
                </a:solidFill>
                <a:latin typeface="Malgun Gothic"/>
                <a:ea typeface="Malgun Gothic"/>
                <a:cs typeface="Malgun Gothic"/>
              </a:rPr>
              <a:t>배치가</a:t>
            </a:r>
            <a:r>
              <a:rPr sz="2175" b="1" dirty="0">
                <a:solidFill>
                  <a:srgbClr val="BD582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75" b="1" dirty="0" err="1">
                <a:solidFill>
                  <a:srgbClr val="BD5828"/>
                </a:solidFill>
                <a:latin typeface="Malgun Gothic"/>
                <a:ea typeface="Malgun Gothic"/>
                <a:cs typeface="Malgun Gothic"/>
              </a:rPr>
              <a:t>미완료여도</a:t>
            </a:r>
            <a:r>
              <a:rPr sz="2175" b="1" dirty="0">
                <a:solidFill>
                  <a:srgbClr val="BD582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75" b="1" dirty="0" err="1">
                <a:solidFill>
                  <a:srgbClr val="BD5828"/>
                </a:solidFill>
                <a:latin typeface="Malgun Gothic"/>
                <a:ea typeface="Malgun Gothic"/>
                <a:cs typeface="Malgun Gothic"/>
              </a:rPr>
              <a:t>종료할</a:t>
            </a:r>
            <a:r>
              <a:rPr sz="2175" b="1" dirty="0">
                <a:solidFill>
                  <a:srgbClr val="BD5828"/>
                </a:solidFill>
                <a:latin typeface="Malgun Gothic"/>
                <a:ea typeface="Malgun Gothic"/>
                <a:cs typeface="Malgun Gothic"/>
              </a:rPr>
              <a:t> 수 </a:t>
            </a:r>
            <a:r>
              <a:rPr sz="2175" b="1" dirty="0" err="1">
                <a:solidFill>
                  <a:srgbClr val="BD5828"/>
                </a:solidFill>
                <a:latin typeface="Malgun Gothic"/>
                <a:ea typeface="Malgun Gothic"/>
                <a:cs typeface="Malgun Gothic"/>
              </a:rPr>
              <a:t>있음</a:t>
            </a:r>
            <a:endParaRPr sz="2175" b="1" dirty="0">
              <a:solidFill>
                <a:srgbClr val="BD582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7" name="after-explanation">
            <a:extLst>
              <a:ext uri="{FF2B5EF4-FFF2-40B4-BE49-F238E27FC236}">
                <a16:creationId xmlns:a16="http://schemas.microsoft.com/office/drawing/2014/main" id="{DB7FE9AD-A215-478C-9B6D-7BBA9F3A7696}"/>
              </a:ext>
            </a:extLst>
          </p:cNvPr>
          <p:cNvSpPr>
            <a:spLocks noGrp="1"/>
          </p:cNvSpPr>
          <p:nvPr/>
        </p:nvSpPr>
        <p:spPr>
          <a:xfrm>
            <a:off x="8143875" y="6457950"/>
            <a:ext cx="6334125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2175" b="1">
                <a:solidFill>
                  <a:srgbClr val="23618C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2175" b="1">
                <a:solidFill>
                  <a:srgbClr val="23618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 dirty="0" err="1">
                <a:solidFill>
                  <a:srgbClr val="23618C"/>
                </a:solidFill>
                <a:latin typeface="Malgun Gothic"/>
                <a:ea typeface="Malgun Gothic"/>
                <a:cs typeface="Malgun Gothic"/>
              </a:rPr>
              <a:t>상호작용이</a:t>
            </a:r>
            <a:r>
              <a:rPr sz="2175" b="1" dirty="0">
                <a:solidFill>
                  <a:srgbClr val="23618C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75" b="1" dirty="0" err="1">
                <a:solidFill>
                  <a:srgbClr val="23618C"/>
                </a:solidFill>
                <a:latin typeface="Malgun Gothic"/>
                <a:ea typeface="Malgun Gothic"/>
                <a:cs typeface="Malgun Gothic"/>
              </a:rPr>
              <a:t>끝나도</a:t>
            </a:r>
            <a:r>
              <a:rPr sz="2175" b="1" dirty="0">
                <a:solidFill>
                  <a:srgbClr val="23618C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75" b="1" dirty="0" err="1">
                <a:solidFill>
                  <a:srgbClr val="23618C"/>
                </a:solidFill>
                <a:latin typeface="Malgun Gothic"/>
                <a:ea typeface="Malgun Gothic"/>
                <a:cs typeface="Malgun Gothic"/>
              </a:rPr>
              <a:t>남은</a:t>
            </a:r>
            <a:r>
              <a:rPr sz="2175" b="1" dirty="0">
                <a:solidFill>
                  <a:srgbClr val="23618C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75" b="1" dirty="0" err="1">
                <a:solidFill>
                  <a:srgbClr val="23618C"/>
                </a:solidFill>
                <a:latin typeface="Malgun Gothic"/>
                <a:ea typeface="Malgun Gothic"/>
                <a:cs typeface="Malgun Gothic"/>
              </a:rPr>
              <a:t>수량을</a:t>
            </a:r>
            <a:r>
              <a:rPr sz="2175" b="1" dirty="0">
                <a:solidFill>
                  <a:srgbClr val="23618C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75" b="1" dirty="0" err="1">
                <a:solidFill>
                  <a:srgbClr val="23618C"/>
                </a:solidFill>
                <a:latin typeface="Malgun Gothic"/>
                <a:ea typeface="Malgun Gothic"/>
                <a:cs typeface="Malgun Gothic"/>
              </a:rPr>
              <a:t>전달하고</a:t>
            </a:r>
            <a:endParaRPr sz="2175" b="1" dirty="0">
              <a:solidFill>
                <a:srgbClr val="23618C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defRPr sz="2175" b="1">
                <a:solidFill>
                  <a:srgbClr val="23618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 dirty="0" err="1">
                <a:solidFill>
                  <a:srgbClr val="23618C"/>
                </a:solidFill>
                <a:latin typeface="Malgun Gothic"/>
                <a:ea typeface="Malgun Gothic"/>
                <a:cs typeface="Malgun Gothic"/>
              </a:rPr>
              <a:t>현재</a:t>
            </a:r>
            <a:r>
              <a:rPr sz="2175" b="1" dirty="0">
                <a:solidFill>
                  <a:srgbClr val="23618C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75" b="1" dirty="0" err="1">
                <a:solidFill>
                  <a:srgbClr val="23618C"/>
                </a:solidFill>
                <a:latin typeface="Malgun Gothic"/>
                <a:ea typeface="Malgun Gothic"/>
                <a:cs typeface="Malgun Gothic"/>
              </a:rPr>
              <a:t>배치</a:t>
            </a:r>
            <a:r>
              <a:rPr sz="2175" b="1" dirty="0">
                <a:solidFill>
                  <a:srgbClr val="23618C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75" b="1" dirty="0" err="1">
                <a:solidFill>
                  <a:srgbClr val="23618C"/>
                </a:solidFill>
                <a:latin typeface="Malgun Gothic"/>
                <a:ea typeface="Malgun Gothic"/>
                <a:cs typeface="Malgun Gothic"/>
              </a:rPr>
              <a:t>완료</a:t>
            </a:r>
            <a:r>
              <a:rPr sz="2175" b="1" dirty="0">
                <a:solidFill>
                  <a:srgbClr val="23618C"/>
                </a:solidFill>
                <a:latin typeface="Malgun Gothic"/>
                <a:ea typeface="Malgun Gothic"/>
                <a:cs typeface="Malgun Gothic"/>
              </a:rPr>
              <a:t> 시 </a:t>
            </a:r>
            <a:r>
              <a:rPr sz="2175" b="1" dirty="0" err="1">
                <a:solidFill>
                  <a:srgbClr val="23618C"/>
                </a:solidFill>
                <a:latin typeface="Malgun Gothic"/>
                <a:ea typeface="Malgun Gothic"/>
                <a:cs typeface="Malgun Gothic"/>
              </a:rPr>
              <a:t>종료</a:t>
            </a:r>
            <a:endParaRPr sz="2175" b="1" dirty="0">
              <a:solidFill>
                <a:srgbClr val="23618C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8" name="example-label">
            <a:extLst>
              <a:ext uri="{FF2B5EF4-FFF2-40B4-BE49-F238E27FC236}">
                <a16:creationId xmlns:a16="http://schemas.microsoft.com/office/drawing/2014/main" id="{6E693ACF-0833-4593-9F9E-783BF9770B80}"/>
              </a:ext>
            </a:extLst>
          </p:cNvPr>
          <p:cNvSpPr>
            <a:spLocks noGrp="1"/>
          </p:cNvSpPr>
          <p:nvPr/>
        </p:nvSpPr>
        <p:spPr>
          <a:xfrm>
            <a:off x="762000" y="7562850"/>
            <a:ext cx="13716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950">
                <a:solidFill>
                  <a:srgbClr val="536572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1950">
                <a:solidFill>
                  <a:srgbClr val="53657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>
                <a:solidFill>
                  <a:srgbClr val="536572"/>
                </a:solidFill>
                <a:latin typeface="Malgun Gothic"/>
                <a:ea typeface="Malgun Gothic"/>
                <a:cs typeface="Malgun Gothic"/>
              </a:rPr>
              <a:t>예시: batchSize = 4, 1개 전달 후 상호작용 종료</a:t>
            </a:r>
          </a:p>
        </p:txBody>
      </p:sp>
      <p:sp>
        <p:nvSpPr>
          <p:cNvPr id="29" name="example-before">
            <a:extLst>
              <a:ext uri="{FF2B5EF4-FFF2-40B4-BE49-F238E27FC236}">
                <a16:creationId xmlns:a16="http://schemas.microsoft.com/office/drawing/2014/main" id="{17FAA690-92A1-410A-B8A8-711FBD2BF2E2}"/>
              </a:ext>
            </a:extLst>
          </p:cNvPr>
          <p:cNvSpPr>
            <a:spLocks noGrp="1"/>
          </p:cNvSpPr>
          <p:nvPr/>
        </p:nvSpPr>
        <p:spPr>
          <a:xfrm>
            <a:off x="762000" y="7943850"/>
            <a:ext cx="6572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2250" b="1">
                <a:solidFill>
                  <a:srgbClr val="BD5828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2250" b="1">
                <a:solidFill>
                  <a:srgbClr val="BD5828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BD5828"/>
                </a:solidFill>
                <a:latin typeface="Malgun Gothic"/>
                <a:ea typeface="Malgun Gothic"/>
                <a:cs typeface="Malgun Gothic"/>
              </a:rPr>
              <a:t>기존  3/4에서 종료</a:t>
            </a:r>
          </a:p>
        </p:txBody>
      </p:sp>
      <p:sp>
        <p:nvSpPr>
          <p:cNvPr id="30" name="example-after">
            <a:extLst>
              <a:ext uri="{FF2B5EF4-FFF2-40B4-BE49-F238E27FC236}">
                <a16:creationId xmlns:a16="http://schemas.microsoft.com/office/drawing/2014/main" id="{B7A9BC6B-E806-4466-9C66-3D89E2F2DC6C}"/>
              </a:ext>
            </a:extLst>
          </p:cNvPr>
          <p:cNvSpPr>
            <a:spLocks noGrp="1"/>
          </p:cNvSpPr>
          <p:nvPr/>
        </p:nvSpPr>
        <p:spPr>
          <a:xfrm>
            <a:off x="8143875" y="7943850"/>
            <a:ext cx="6334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2250" b="1">
                <a:solidFill>
                  <a:srgbClr val="23618C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2250" b="1">
                <a:solidFill>
                  <a:srgbClr val="23618C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3618C"/>
                </a:solidFill>
                <a:latin typeface="Malgun Gothic"/>
                <a:ea typeface="Malgun Gothic"/>
                <a:cs typeface="Malgun Gothic"/>
              </a:rPr>
              <a:t>개선  4/4 전달 후 종료</a:t>
            </a:r>
          </a:p>
        </p:txBody>
      </p:sp>
    </p:spTree>
    <p:extLst>
      <p:ext uri="{BB962C8B-B14F-4D97-AF65-F5344CB8AC3E}">
        <p14:creationId xmlns:p14="http://schemas.microsoft.com/office/powerpoint/2010/main" val="146050289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732</Words>
  <Application>Microsoft Office PowerPoint</Application>
  <DocSecurity>0</DocSecurity>
  <PresentationFormat>사용자 지정</PresentationFormat>
  <Paragraphs>64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Aptos</vt:lpstr>
      <vt:lpstr>맑은 고딕</vt:lpstr>
      <vt:lpstr>Consolas</vt:lpstr>
      <vt:lpstr>ChatGPT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기현 김</cp:lastModifiedBy>
  <cp:revision>1</cp:revision>
  <dcterms:created xsi:type="dcterms:W3CDTF">2026-10-13T04:01:49Z</dcterms:created>
  <dcterms:modified xsi:type="dcterms:W3CDTF">2026-10-13T04:15:15Z</dcterms:modified>
</cp:coreProperties>
</file>