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3" r:id="rId4"/>
    <p:sldId id="264" r:id="rId5"/>
    <p:sldId id="266" r:id="rId6"/>
    <p:sldId id="265" r:id="rId7"/>
    <p:sldId id="269" r:id="rId8"/>
    <p:sldId id="268" r:id="rId9"/>
    <p:sldId id="26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3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135C8-8E1D-48E4-921F-6D4DCB6C2787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08A1-6906-4D38-A7C7-B44CBC6C5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7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8504-2EF6-21E4-DB6C-CFC8E93E2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7069C4-9398-509F-E50E-BC7957CB3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B6996-D322-043A-84EE-BAF1993A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ABB09-FFE6-A1A8-6DE2-21E2BAAE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D05A5-57B2-99EB-A90D-2D3AC885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5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865D-25D0-154C-5435-266C2A3C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217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B349D-39E7-3001-89D7-AD685C971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49518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2102B-FF68-BF19-F5D9-B84989CE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1E3CC-AD1C-2D55-CDE7-05FCC789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509DD-0393-5AB5-2B69-FF9EA275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9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8D4C3-65E4-A8D9-DFEB-B1DDC448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F2FC3-EBAB-E3C9-0DD0-87FE7E528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03029-E3B8-C42E-8DD7-52AED498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E8D2D-E1C8-FB44-E150-7430B59A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5C609-6CBE-1EB6-7E9E-311485A3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0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A423-B278-F307-751C-23F75C6A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DD0AF-9D78-48E0-4CEF-A5B4FE4B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3FDB0-7095-2AED-6DC3-692FEA804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6CFB6-D2FA-42E1-C623-6091EB9D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EDC9E-DCE3-D08C-0521-5E7B062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EBCE19-65FD-0761-0E4E-A24279B8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1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2BA2-3740-B576-4B59-6CCF921F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D3D5A-A7DF-D2B7-9C52-78E72B74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622AC-7408-C218-10CF-1B826663C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06C7F-1ECB-1E7E-6DBF-6C96E9824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922D7-BF32-AB53-D996-D0774AB5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828884-E33F-40E0-2D78-C3D2C5CB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86AB6F-1BD6-A81A-2B6F-6ED20CDA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A87114-BAAB-A633-A880-34B2B3E0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7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724CC-1154-8BED-2EBD-7BD7620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85D8D4-C0AE-0543-7345-1A13792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23FEA9-6A07-4836-AAB8-98D5AFBD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FB1DBF-B87E-6568-5F7C-D53DFD89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91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B88D2-4AA4-9A11-1AEA-B67E96E9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CC1E1F-1C7A-BBD2-E3ED-E8325A63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F9039-EC6C-A307-70AB-504F29BC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8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B7AC-7E66-B394-BE5D-B6B997CC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CE4F-6421-AEF5-C392-F5937745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2343CF-0281-2F6E-788D-06F489CD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D34218-C390-C952-336A-1482CFEE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339AE-B179-3D12-D39B-8A05CF7F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121C7-0492-CCDD-B591-C19BD2F1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4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3573-F21B-CBB3-E02F-DA51C93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BDB077-6F9B-090E-C07A-10284BF92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5275D-DDBD-2C45-238E-C1B234CBF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F8C45-2382-B175-0D76-F18B6BD0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9B2FE-C14E-C537-3011-B7369052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C5D5D-09A9-86EF-3183-F70FE360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2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710B-196B-447A-22E2-27C5FB10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8C253-9722-F855-DAA2-6833B0DF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0D520-1B5D-9FFD-537E-87B04E44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2C774-BBBA-62FD-21BA-58BF93F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9164C-9250-2D81-5768-E95ACDD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8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FA8E94-E26A-03EB-CF9B-6C85A9AA0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B0C24-488D-7820-C11B-1CBA1041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BFBB2-5C2B-740C-561D-C7F856DC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7BD8D-89D5-8F38-227E-2971E31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75E95-F62E-2AD6-7E40-9D5E4E1A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6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20FCD6-D71D-7126-491F-BC6A11E1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2602C-F11A-91DF-FB5A-ED6E9BC55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82347-69AC-B756-D402-6A7D2C5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3772F-0FD5-40C6-878E-04F734D731CA}" type="datetimeFigureOut">
              <a:rPr lang="ko-KR" altLang="en-US" smtClean="0"/>
              <a:t>2026-10-11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E8D05-518B-CCC3-9D7B-08680403D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C3650-49E8-9540-A859-355932CF2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2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6DE45-2CB3-BE87-C337-7E86383D3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UGUI/UMG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374655-014B-75D9-EDA5-66508C37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언리얼과 유니티같은</a:t>
            </a:r>
            <a:r>
              <a:rPr lang="en-US" altLang="ko-KR"/>
              <a:t> </a:t>
            </a:r>
            <a:r>
              <a:rPr lang="ko-KR" altLang="en-US"/>
              <a:t>엔진들에서 강조하는 </a:t>
            </a:r>
            <a:r>
              <a:rPr lang="en-US" altLang="ko-KR"/>
              <a:t>ui </a:t>
            </a:r>
            <a:r>
              <a:rPr lang="ko-KR" altLang="en-US"/>
              <a:t>시스템 비교</a:t>
            </a:r>
          </a:p>
        </p:txBody>
      </p:sp>
    </p:spTree>
    <p:extLst>
      <p:ext uri="{BB962C8B-B14F-4D97-AF65-F5344CB8AC3E}">
        <p14:creationId xmlns:p14="http://schemas.microsoft.com/office/powerpoint/2010/main" val="10550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D538-6079-A2DC-B74A-73C10189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2F364C-4BA1-0A08-3F8A-995A69EA8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공고에서 요구하는 바에</a:t>
            </a:r>
            <a:r>
              <a:rPr lang="en-US" altLang="ko-KR"/>
              <a:t> </a:t>
            </a:r>
            <a:r>
              <a:rPr lang="ko-KR" altLang="en-US"/>
              <a:t>유니티의 </a:t>
            </a:r>
            <a:r>
              <a:rPr lang="en-US" altLang="ko-KR"/>
              <a:t>UGUI, </a:t>
            </a:r>
            <a:r>
              <a:rPr lang="ko-KR" altLang="en-US"/>
              <a:t>언리얼의 </a:t>
            </a:r>
            <a:r>
              <a:rPr lang="en-US" altLang="ko-KR"/>
              <a:t>UMG </a:t>
            </a:r>
            <a:r>
              <a:rPr lang="ko-KR" altLang="en-US"/>
              <a:t>경험을 구체적으로 언급한다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UI</a:t>
            </a:r>
            <a:r>
              <a:rPr lang="ko-KR" altLang="en-US"/>
              <a:t>를 다룬다면</a:t>
            </a:r>
            <a:r>
              <a:rPr lang="en-US" altLang="ko-KR"/>
              <a:t> </a:t>
            </a:r>
            <a:r>
              <a:rPr lang="ko-KR" altLang="en-US"/>
              <a:t>다루는거지 왜 이렇게 구체적인 언급이 있을까</a:t>
            </a:r>
            <a:r>
              <a:rPr lang="en-US" altLang="ko-KR"/>
              <a:t>?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C1EF1BF-2DD5-C696-21BF-3A63E4FE6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0994"/>
            <a:ext cx="4913870" cy="44818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C4E8B4-66C8-5E5F-6FA5-A9CE2AA53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181" y="2902550"/>
            <a:ext cx="6059656" cy="134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3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3B3F0-9FC6-04F8-9FB5-02B8F5E2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UGUI </a:t>
            </a:r>
            <a:r>
              <a:rPr lang="ko-KR" altLang="en-US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BC550-EAF7-E475-D492-4BE6CDECF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레벨에 </a:t>
            </a:r>
            <a:r>
              <a:rPr lang="en-US" altLang="ko-KR"/>
              <a:t>UI</a:t>
            </a:r>
            <a:r>
              <a:rPr lang="ko-KR" altLang="en-US"/>
              <a:t>가 존재한다</a:t>
            </a: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하나의 </a:t>
            </a:r>
            <a:r>
              <a:rPr lang="en-US" altLang="ko-KR"/>
              <a:t>GameObject</a:t>
            </a:r>
            <a:r>
              <a:rPr lang="ko-KR" altLang="en-US"/>
              <a:t>로써 동등하다</a:t>
            </a:r>
            <a:endParaRPr lang="en-US" altLang="ko-KR"/>
          </a:p>
          <a:p>
            <a:pPr>
              <a:buFontTx/>
              <a:buChar char="-"/>
            </a:pPr>
            <a:endParaRPr lang="en-US" altLang="ko-KR"/>
          </a:p>
          <a:p>
            <a:pPr marL="457200" indent="-457200">
              <a:buAutoNum type="arabicPeriod"/>
            </a:pPr>
            <a:r>
              <a:rPr lang="en-US" altLang="ko-KR"/>
              <a:t>ScreenSpace – Overlay : </a:t>
            </a:r>
            <a:r>
              <a:rPr lang="ko-KR" altLang="en-US"/>
              <a:t>무조건 화면에 보여준다</a:t>
            </a:r>
            <a:endParaRPr lang="en-US" altLang="ko-KR"/>
          </a:p>
          <a:p>
            <a:pPr marL="457200" indent="-457200">
              <a:buAutoNum type="arabicPeriod"/>
            </a:pPr>
            <a:r>
              <a:rPr lang="en-US" altLang="ko-KR"/>
              <a:t>ScreenSpace – Camera : </a:t>
            </a:r>
            <a:r>
              <a:rPr lang="ko-KR" altLang="en-US"/>
              <a:t>카메라의 앞에 보여준다</a:t>
            </a:r>
            <a:endParaRPr lang="en-US" altLang="ko-KR"/>
          </a:p>
          <a:p>
            <a:pPr marL="457200" indent="-457200">
              <a:buAutoNum type="arabicPeriod"/>
            </a:pPr>
            <a:r>
              <a:rPr lang="en-US" altLang="ko-KR"/>
              <a:t>WorldSpace : World</a:t>
            </a:r>
            <a:r>
              <a:rPr lang="ko-KR" altLang="en-US"/>
              <a:t>의 해당 위치에 보여준다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(1), (2) </a:t>
            </a:r>
            <a:r>
              <a:rPr lang="ko-KR" altLang="en-US"/>
              <a:t>에서 사용자는 </a:t>
            </a:r>
            <a:r>
              <a:rPr lang="en-US" altLang="ko-KR"/>
              <a:t>RectTransform (anchor </a:t>
            </a:r>
            <a:r>
              <a:rPr lang="ko-KR" altLang="en-US"/>
              <a:t>기준</a:t>
            </a:r>
            <a:r>
              <a:rPr lang="en-US" altLang="ko-KR"/>
              <a:t>)</a:t>
            </a:r>
            <a:r>
              <a:rPr lang="ko-KR" altLang="en-US"/>
              <a:t>만 수정 가능하며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일반적으로 </a:t>
            </a:r>
            <a:r>
              <a:rPr lang="en-US" altLang="ko-KR"/>
              <a:t>Transform</a:t>
            </a:r>
            <a:r>
              <a:rPr lang="ko-KR" altLang="en-US"/>
              <a:t>의 </a:t>
            </a:r>
            <a:r>
              <a:rPr lang="en-US" altLang="ko-KR"/>
              <a:t>position</a:t>
            </a:r>
            <a:r>
              <a:rPr lang="ko-KR" altLang="en-US"/>
              <a:t>을 변경할 순 없지만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이것은 </a:t>
            </a:r>
            <a:r>
              <a:rPr lang="en-US" altLang="ko-KR"/>
              <a:t>Canvas</a:t>
            </a:r>
            <a:r>
              <a:rPr lang="ko-KR" altLang="en-US"/>
              <a:t>에서 하위 오브젝트의 </a:t>
            </a:r>
            <a:r>
              <a:rPr lang="en-US" altLang="ko-KR"/>
              <a:t>Trasnform</a:t>
            </a:r>
            <a:r>
              <a:rPr lang="ko-KR" altLang="en-US"/>
              <a:t>을 수정할 수 없게 막은 것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실제로는 </a:t>
            </a:r>
            <a:r>
              <a:rPr lang="en-US" altLang="ko-KR"/>
              <a:t>Canvas</a:t>
            </a:r>
            <a:r>
              <a:rPr lang="ko-KR" altLang="en-US"/>
              <a:t>에서 계산한 값이 존재함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(3) </a:t>
            </a:r>
            <a:r>
              <a:rPr lang="ko-KR" altLang="en-US"/>
              <a:t>에서는 이 값을 사용자가 </a:t>
            </a:r>
            <a:r>
              <a:rPr lang="en-US" altLang="ko-KR"/>
              <a:t>write </a:t>
            </a:r>
            <a:r>
              <a:rPr lang="ko-KR" altLang="en-US"/>
              <a:t>할 수 있는 것</a:t>
            </a: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847A15-7C50-8B23-E74A-CA7237164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549" y="1543651"/>
            <a:ext cx="2544642" cy="18853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486660B-1F21-3D9B-643A-84F32AF80A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687"/>
          <a:stretch>
            <a:fillRect/>
          </a:stretch>
        </p:blipFill>
        <p:spPr>
          <a:xfrm>
            <a:off x="9372581" y="1543651"/>
            <a:ext cx="2540559" cy="463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6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26B73-0D5D-D1A8-FDA4-04CC2E269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077A9-8256-D563-F632-4ECC9D89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★</a:t>
            </a:r>
            <a:r>
              <a:rPr lang="en-US" altLang="ko-KR"/>
              <a:t>UGUI</a:t>
            </a:r>
            <a:r>
              <a:rPr lang="ko-KR" altLang="en-US"/>
              <a:t>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7C4ED-ECD1-9D2D-FE37-0C7ACDD3A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5116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/>
              <a:t>Batching : </a:t>
            </a:r>
            <a:r>
              <a:rPr lang="ko-KR" altLang="en-US"/>
              <a:t>여러 </a:t>
            </a:r>
            <a:r>
              <a:rPr lang="en-US" altLang="ko-KR"/>
              <a:t>UI </a:t>
            </a:r>
            <a:r>
              <a:rPr lang="ko-KR" altLang="en-US"/>
              <a:t>요소의 메시를 하나로 합쳐</a:t>
            </a:r>
            <a:r>
              <a:rPr lang="en-US" altLang="ko-KR"/>
              <a:t>, </a:t>
            </a:r>
            <a:r>
              <a:rPr lang="ko-KR" altLang="en-US"/>
              <a:t>한 번의 드로우 콜로 그리는 것</a:t>
            </a:r>
            <a:endParaRPr lang="en-US" altLang="ko-KR"/>
          </a:p>
          <a:p>
            <a:pPr>
              <a:buFontTx/>
              <a:buChar char="-"/>
            </a:pP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유니티는 </a:t>
            </a:r>
            <a:r>
              <a:rPr lang="en-US" altLang="ko-KR"/>
              <a:t>Canvas </a:t>
            </a:r>
            <a:r>
              <a:rPr lang="ko-KR" altLang="en-US"/>
              <a:t>단위로 배칭을 시도한다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Image, Text Component </a:t>
            </a:r>
            <a:r>
              <a:rPr lang="ko-KR" altLang="en-US"/>
              <a:t>등 </a:t>
            </a:r>
            <a:r>
              <a:rPr lang="en-US" altLang="ko-KR"/>
              <a:t>UI</a:t>
            </a:r>
            <a:r>
              <a:rPr lang="ko-KR" altLang="en-US"/>
              <a:t>는 </a:t>
            </a:r>
            <a:r>
              <a:rPr lang="en-US" altLang="ko-KR"/>
              <a:t>CanvasRenderer Component</a:t>
            </a:r>
            <a:r>
              <a:rPr lang="ko-KR" altLang="en-US"/>
              <a:t>를 강제로 소유한다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Canvas</a:t>
            </a:r>
            <a:r>
              <a:rPr lang="ko-KR" altLang="en-US"/>
              <a:t>에서 </a:t>
            </a:r>
            <a:r>
              <a:rPr lang="en-US" altLang="ko-KR"/>
              <a:t>C.R (</a:t>
            </a:r>
            <a:r>
              <a:rPr lang="ko-KR" altLang="en-US"/>
              <a:t>이미지의 사각형 등</a:t>
            </a:r>
            <a:r>
              <a:rPr lang="en-US" altLang="ko-KR"/>
              <a:t>)</a:t>
            </a:r>
            <a:r>
              <a:rPr lang="ko-KR" altLang="en-US"/>
              <a:t>메시를 모두 수집하여 </a:t>
            </a:r>
            <a:r>
              <a:rPr lang="en-US" altLang="ko-KR"/>
              <a:t>depth</a:t>
            </a:r>
            <a:r>
              <a:rPr lang="ko-KR" altLang="en-US"/>
              <a:t>로 정렬하고</a:t>
            </a:r>
            <a:br>
              <a:rPr lang="en-US" altLang="ko-KR"/>
            </a:br>
            <a:r>
              <a:rPr lang="ko-KR" altLang="en-US"/>
              <a:t>머터리얼</a:t>
            </a:r>
            <a:r>
              <a:rPr lang="en-US" altLang="ko-KR"/>
              <a:t>/</a:t>
            </a:r>
            <a:r>
              <a:rPr lang="ko-KR" altLang="en-US"/>
              <a:t>텍스쳐가 같은 요소끼리 묶어서 </a:t>
            </a:r>
            <a:r>
              <a:rPr lang="en-US" altLang="ko-KR"/>
              <a:t>1</a:t>
            </a:r>
            <a:r>
              <a:rPr lang="ko-KR" altLang="en-US"/>
              <a:t>회의 </a:t>
            </a:r>
            <a:r>
              <a:rPr lang="en-US" altLang="ko-KR"/>
              <a:t>drawcall</a:t>
            </a:r>
            <a:r>
              <a:rPr lang="ko-KR" altLang="en-US"/>
              <a:t>만 진행한다</a:t>
            </a:r>
            <a:endParaRPr lang="en-US" altLang="ko-KR"/>
          </a:p>
          <a:p>
            <a:pPr lvl="1">
              <a:buFontTx/>
              <a:buChar char="-"/>
            </a:pPr>
            <a:r>
              <a:rPr lang="ko-KR" altLang="en-US"/>
              <a:t>비슷한 머터리얼</a:t>
            </a:r>
            <a:r>
              <a:rPr lang="en-US" altLang="ko-KR"/>
              <a:t>/</a:t>
            </a:r>
            <a:r>
              <a:rPr lang="ko-KR" altLang="en-US"/>
              <a:t>텍스쳐라면 </a:t>
            </a:r>
            <a:r>
              <a:rPr lang="en-US" altLang="ko-KR"/>
              <a:t>Hierarchy </a:t>
            </a:r>
            <a:r>
              <a:rPr lang="ko-KR" altLang="en-US"/>
              <a:t>상 가까이 있는게 유리하다</a:t>
            </a:r>
            <a:endParaRPr lang="en-US" altLang="ko-KR"/>
          </a:p>
          <a:p>
            <a:pPr lvl="1">
              <a:buFontTx/>
              <a:buChar char="-"/>
            </a:pPr>
            <a:r>
              <a:rPr lang="ko-KR" altLang="en-US"/>
              <a:t>가급적이면 아틀라스를 사용하여 텍스쳐를 공유하는게 좋다</a:t>
            </a: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이 결과는 캐싱하여 </a:t>
            </a:r>
            <a:r>
              <a:rPr lang="en-US" altLang="ko-KR"/>
              <a:t>dirty</a:t>
            </a:r>
            <a:r>
              <a:rPr lang="ko-KR" altLang="en-US"/>
              <a:t>가 생기면 다시 실행한다</a:t>
            </a:r>
            <a:r>
              <a:rPr lang="en-US" altLang="ko-KR"/>
              <a:t>(</a:t>
            </a:r>
            <a:r>
              <a:rPr lang="ko-KR" altLang="en-US"/>
              <a:t>리배칭</a:t>
            </a:r>
            <a:r>
              <a:rPr lang="en-US" altLang="ko-KR"/>
              <a:t>)</a:t>
            </a:r>
          </a:p>
          <a:p>
            <a:pPr lvl="1">
              <a:buFontTx/>
              <a:buChar char="-"/>
            </a:pPr>
            <a:r>
              <a:rPr lang="en-US" altLang="ko-KR"/>
              <a:t>position</a:t>
            </a:r>
            <a:r>
              <a:rPr lang="ko-KR" altLang="en-US"/>
              <a:t>이 변하는 경우 </a:t>
            </a:r>
            <a:r>
              <a:rPr lang="en-US" altLang="ko-KR"/>
              <a:t>: </a:t>
            </a:r>
            <a:r>
              <a:rPr lang="ko-KR" altLang="en-US"/>
              <a:t>메시 리빌드 </a:t>
            </a:r>
            <a:r>
              <a:rPr lang="en-US" altLang="ko-KR"/>
              <a:t>X, </a:t>
            </a:r>
            <a:r>
              <a:rPr lang="ko-KR" altLang="en-US"/>
              <a:t>리배칭 </a:t>
            </a:r>
            <a:r>
              <a:rPr lang="en-US" altLang="ko-KR"/>
              <a:t>O</a:t>
            </a:r>
          </a:p>
          <a:p>
            <a:pPr lvl="1">
              <a:buFontTx/>
              <a:buChar char="-"/>
            </a:pPr>
            <a:r>
              <a:rPr lang="ko-KR" altLang="en-US"/>
              <a:t>크기 변경</a:t>
            </a:r>
            <a:r>
              <a:rPr lang="en-US" altLang="ko-KR"/>
              <a:t>, </a:t>
            </a:r>
            <a:r>
              <a:rPr lang="ko-KR" altLang="en-US"/>
              <a:t>스프라이트</a:t>
            </a:r>
            <a:r>
              <a:rPr lang="en-US" altLang="ko-KR"/>
              <a:t>, </a:t>
            </a:r>
            <a:r>
              <a:rPr lang="ko-KR" altLang="en-US"/>
              <a:t>텍스트 변경 </a:t>
            </a:r>
            <a:r>
              <a:rPr lang="en-US" altLang="ko-KR"/>
              <a:t>: </a:t>
            </a:r>
            <a:r>
              <a:rPr lang="ko-KR" altLang="en-US"/>
              <a:t>해당 요소 리빌드 </a:t>
            </a:r>
            <a:r>
              <a:rPr lang="en-US" altLang="ko-KR"/>
              <a:t>O, </a:t>
            </a:r>
            <a:r>
              <a:rPr lang="ko-KR" altLang="en-US"/>
              <a:t>리배칭 </a:t>
            </a:r>
            <a:r>
              <a:rPr lang="en-US" altLang="ko-KR"/>
              <a:t>O</a:t>
            </a:r>
          </a:p>
          <a:p>
            <a:pPr lvl="1">
              <a:buFontTx/>
              <a:buChar char="-"/>
            </a:pPr>
            <a:r>
              <a:rPr lang="en-US" altLang="ko-KR"/>
              <a:t>enable, disable, Hierarchy </a:t>
            </a:r>
            <a:r>
              <a:rPr lang="ko-KR" altLang="en-US"/>
              <a:t>순서 변경 </a:t>
            </a:r>
            <a:r>
              <a:rPr lang="en-US" altLang="ko-KR"/>
              <a:t>: </a:t>
            </a:r>
            <a:r>
              <a:rPr lang="ko-KR" altLang="en-US"/>
              <a:t>리배칭 </a:t>
            </a:r>
            <a:r>
              <a:rPr lang="en-US" altLang="ko-KR"/>
              <a:t>O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altLang="ko-KR"/>
              <a:t> Canvas </a:t>
            </a:r>
            <a:r>
              <a:rPr lang="ko-KR" altLang="en-US"/>
              <a:t>하나에 모든 요소가 몰려있으면 손해다</a:t>
            </a:r>
            <a:br>
              <a:rPr lang="en-US" altLang="ko-KR"/>
            </a:br>
            <a:r>
              <a:rPr lang="ko-KR" altLang="en-US"/>
              <a:t>같은 그룹</a:t>
            </a:r>
            <a:r>
              <a:rPr lang="en-US" altLang="ko-KR"/>
              <a:t>(</a:t>
            </a:r>
            <a:r>
              <a:rPr lang="ko-KR" altLang="en-US"/>
              <a:t>메뉴</a:t>
            </a:r>
            <a:r>
              <a:rPr lang="en-US" altLang="ko-KR"/>
              <a:t>/</a:t>
            </a:r>
            <a:r>
              <a:rPr lang="ko-KR" altLang="en-US"/>
              <a:t>인벤토리의 사용성</a:t>
            </a:r>
            <a:r>
              <a:rPr lang="en-US" altLang="ko-KR"/>
              <a:t>)</a:t>
            </a:r>
            <a:r>
              <a:rPr lang="ko-KR" altLang="en-US"/>
              <a:t>인지</a:t>
            </a:r>
            <a:r>
              <a:rPr lang="en-US" altLang="ko-KR"/>
              <a:t>, </a:t>
            </a:r>
            <a:r>
              <a:rPr lang="ko-KR" altLang="en-US"/>
              <a:t>배칭이 가능한지</a:t>
            </a:r>
            <a:r>
              <a:rPr lang="en-US" altLang="ko-KR"/>
              <a:t>(</a:t>
            </a:r>
            <a:r>
              <a:rPr lang="ko-KR" altLang="en-US"/>
              <a:t>텍스쳐 아틀라스</a:t>
            </a:r>
            <a:r>
              <a:rPr lang="en-US" altLang="ko-KR"/>
              <a:t>), </a:t>
            </a:r>
            <a:r>
              <a:rPr lang="ko-KR" altLang="en-US"/>
              <a:t>변하는 </a:t>
            </a:r>
            <a:r>
              <a:rPr lang="en-US" altLang="ko-KR"/>
              <a:t>ui</a:t>
            </a:r>
            <a:r>
              <a:rPr lang="ko-KR" altLang="en-US"/>
              <a:t>인지</a:t>
            </a:r>
            <a:endParaRPr lang="en-US" altLang="ko-KR"/>
          </a:p>
          <a:p>
            <a:pPr lvl="1">
              <a:buFont typeface="Symbol" panose="05050102010706020507" pitchFamily="18" charset="2"/>
              <a:buChar char="Þ"/>
            </a:pPr>
            <a:endParaRPr lang="en-US" altLang="ko-KR"/>
          </a:p>
          <a:p>
            <a:pPr>
              <a:buFontTx/>
              <a:buChar char="-"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086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8D52-3E8B-792A-545A-741EB346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9363E-FBDA-51C5-6CDB-2F9055E6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유니티 방향성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6AA0A1-6FCE-311A-FC3D-DC7F861F8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5116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/>
              <a:t>1. Legacy: ImGUI</a:t>
            </a:r>
            <a:r>
              <a:rPr lang="ko-KR" altLang="en-US"/>
              <a:t> </a:t>
            </a:r>
            <a:r>
              <a:rPr lang="en-US" altLang="ko-KR"/>
              <a:t>–</a:t>
            </a:r>
            <a:r>
              <a:rPr lang="ko-KR" altLang="en-US"/>
              <a:t> 성능상 실제 </a:t>
            </a:r>
            <a:r>
              <a:rPr lang="en-US" altLang="ko-KR"/>
              <a:t>ui</a:t>
            </a:r>
            <a:r>
              <a:rPr lang="ko-KR" altLang="en-US"/>
              <a:t>로 사용하기 좀 그렇다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	 (</a:t>
            </a:r>
            <a:r>
              <a:rPr lang="ko-KR" altLang="en-US"/>
              <a:t>결과 캐시 안함</a:t>
            </a:r>
            <a:r>
              <a:rPr lang="en-US" altLang="ko-KR"/>
              <a:t>, </a:t>
            </a:r>
            <a:r>
              <a:rPr lang="ko-KR" altLang="en-US"/>
              <a:t>배칭 약함</a:t>
            </a:r>
            <a:r>
              <a:rPr lang="en-US" altLang="ko-KR"/>
              <a:t>, GC </a:t>
            </a:r>
            <a:r>
              <a:rPr lang="ko-KR" altLang="en-US"/>
              <a:t>할당</a:t>
            </a:r>
            <a:r>
              <a:rPr lang="en-US" altLang="ko-KR"/>
              <a:t>, </a:t>
            </a:r>
            <a:r>
              <a:rPr lang="ko-KR" altLang="en-US"/>
              <a:t>프레임당 여러 번 호출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en-US" altLang="ko-KR"/>
              <a:t>          GUIText – GameObject </a:t>
            </a:r>
            <a:r>
              <a:rPr lang="ko-KR" altLang="en-US"/>
              <a:t>에 컴포넌트로 부착하면</a:t>
            </a:r>
            <a:r>
              <a:rPr lang="en-US" altLang="ko-KR"/>
              <a:t>, </a:t>
            </a:r>
            <a:r>
              <a:rPr lang="ko-KR" altLang="en-US"/>
              <a:t>카메라에서 알아보고 화면에 그림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	   </a:t>
            </a:r>
            <a:r>
              <a:rPr lang="ko-KR" altLang="en-US"/>
              <a:t>방금 말한 배칭 기능이나</a:t>
            </a:r>
            <a:r>
              <a:rPr lang="en-US" altLang="ko-KR"/>
              <a:t>, </a:t>
            </a:r>
            <a:r>
              <a:rPr lang="ko-KR" altLang="en-US"/>
              <a:t>입력</a:t>
            </a:r>
            <a:r>
              <a:rPr lang="en-US" altLang="ko-KR"/>
              <a:t>(</a:t>
            </a:r>
            <a:r>
              <a:rPr lang="ko-KR" altLang="en-US"/>
              <a:t>마우스</a:t>
            </a:r>
            <a:r>
              <a:rPr lang="en-US" altLang="ko-KR"/>
              <a:t>)</a:t>
            </a:r>
            <a:r>
              <a:rPr lang="ko-KR" altLang="en-US"/>
              <a:t> 기능이 없었음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2. NGUI:</a:t>
            </a:r>
            <a:r>
              <a:rPr lang="ko-KR" altLang="en-US"/>
              <a:t> 유니티 </a:t>
            </a:r>
            <a:r>
              <a:rPr lang="en-US" altLang="ko-KR"/>
              <a:t>UI </a:t>
            </a:r>
            <a:r>
              <a:rPr lang="ko-KR" altLang="en-US"/>
              <a:t>시스템이 개같아서 플러그인으로 나왔으며</a:t>
            </a:r>
            <a:r>
              <a:rPr lang="en-US" altLang="ko-KR"/>
              <a:t>, </a:t>
            </a:r>
            <a:r>
              <a:rPr lang="ko-KR" altLang="en-US"/>
              <a:t>표준처럼 사용했음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UGUI: NGUI</a:t>
            </a:r>
            <a:r>
              <a:rPr lang="ko-KR" altLang="en-US"/>
              <a:t>를 토대로 공식에서 만듦</a:t>
            </a:r>
            <a:endParaRPr lang="en-US" altLang="ko-KR"/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/>
              <a:t> 이 </a:t>
            </a:r>
            <a:r>
              <a:rPr lang="en-US" altLang="ko-KR"/>
              <a:t>2</a:t>
            </a:r>
            <a:r>
              <a:rPr lang="ko-KR" altLang="en-US"/>
              <a:t>가지 중 하나를 사용했냐는 질문이 대표적인 공고</a:t>
            </a:r>
            <a:endParaRPr lang="en-US" altLang="ko-KR"/>
          </a:p>
          <a:p>
            <a:pPr>
              <a:buFont typeface="Symbol" panose="05050102010706020507" pitchFamily="18" charset="2"/>
              <a:buChar char="Þ"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3. UI Toolkit: GameObject</a:t>
            </a:r>
            <a:r>
              <a:rPr lang="ko-KR" altLang="en-US"/>
              <a:t>가 아닌 더 가벼운 객체를 기반으로 개발 중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   </a:t>
            </a:r>
            <a:r>
              <a:rPr lang="ko-KR" altLang="en-US"/>
              <a:t>스타일 재사용</a:t>
            </a:r>
            <a:r>
              <a:rPr lang="en-US" altLang="ko-KR"/>
              <a:t>(</a:t>
            </a:r>
            <a:r>
              <a:rPr lang="ko-KR" altLang="en-US"/>
              <a:t>폰트 크기</a:t>
            </a:r>
            <a:r>
              <a:rPr lang="en-US" altLang="ko-KR"/>
              <a:t>, </a:t>
            </a:r>
            <a:r>
              <a:rPr lang="ko-KR" altLang="en-US"/>
              <a:t>색</a:t>
            </a:r>
            <a:r>
              <a:rPr lang="en-US" altLang="ko-KR"/>
              <a:t>, </a:t>
            </a:r>
            <a:r>
              <a:rPr lang="ko-KR" altLang="en-US"/>
              <a:t>테두리 등</a:t>
            </a:r>
            <a:r>
              <a:rPr lang="en-US" altLang="ko-KR"/>
              <a:t>), </a:t>
            </a:r>
            <a:r>
              <a:rPr lang="ko-KR" altLang="en-US"/>
              <a:t>동적 아틀라스 지원 등등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    Web </a:t>
            </a:r>
            <a:r>
              <a:rPr lang="ko-KR" altLang="en-US"/>
              <a:t>처럼</a:t>
            </a:r>
            <a:r>
              <a:rPr lang="en-US" altLang="ko-KR"/>
              <a:t>, </a:t>
            </a:r>
            <a:r>
              <a:rPr lang="ko-KR" altLang="en-US"/>
              <a:t>언리얼 처럼 변화하는 중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442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F16D3-0216-96E2-7BBC-E08965B8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UMG / Slate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F4AE97-3E26-B3EE-1AB8-060209706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5632882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altLang="ko-KR" b="1"/>
              <a:t>Widget</a:t>
            </a:r>
            <a:r>
              <a:rPr lang="ko-KR" altLang="en-US" b="1"/>
              <a:t>을 상속</a:t>
            </a:r>
            <a:r>
              <a:rPr lang="ko-KR" altLang="en-US"/>
              <a:t>받아 </a:t>
            </a:r>
            <a:r>
              <a:rPr lang="en-US" altLang="ko-KR"/>
              <a:t>UI</a:t>
            </a:r>
            <a:r>
              <a:rPr lang="ko-KR" altLang="en-US"/>
              <a:t>를 만든다</a:t>
            </a:r>
            <a:endParaRPr lang="en-US" altLang="ko-KR"/>
          </a:p>
          <a:p>
            <a:pPr lvl="1">
              <a:buFontTx/>
              <a:buChar char="-"/>
            </a:pPr>
            <a:r>
              <a:rPr lang="ko-KR" altLang="en-US"/>
              <a:t>레벨에 배치할 수 없으며 별도의 시스템으로 동작한다 </a:t>
            </a:r>
            <a:r>
              <a:rPr lang="en-US" altLang="ko-KR"/>
              <a:t>(UGUI</a:t>
            </a:r>
            <a:r>
              <a:rPr lang="ko-KR" altLang="en-US"/>
              <a:t>와 다른점</a:t>
            </a:r>
            <a:r>
              <a:rPr lang="en-US" altLang="ko-KR"/>
              <a:t>)</a:t>
            </a:r>
            <a:br>
              <a:rPr lang="en-US" altLang="ko-KR"/>
            </a:br>
            <a:endParaRPr lang="en-US" altLang="ko-KR"/>
          </a:p>
          <a:p>
            <a:pPr lvl="1">
              <a:buFontTx/>
              <a:buChar char="-"/>
            </a:pPr>
            <a:r>
              <a:rPr lang="ko-KR" altLang="en-US"/>
              <a:t>이것은 </a:t>
            </a:r>
            <a:r>
              <a:rPr lang="en-US" altLang="ko-KR"/>
              <a:t>Slate</a:t>
            </a:r>
            <a:r>
              <a:rPr lang="ko-KR" altLang="en-US"/>
              <a:t>라는 </a:t>
            </a:r>
            <a:r>
              <a:rPr lang="en-US" altLang="ko-KR"/>
              <a:t>ue4</a:t>
            </a:r>
            <a:r>
              <a:rPr lang="ko-KR" altLang="en-US"/>
              <a:t>부터 사용하던 시스템을 래핑한 것이다</a:t>
            </a:r>
            <a:endParaRPr lang="en-US" altLang="ko-KR"/>
          </a:p>
          <a:p>
            <a:pPr lvl="1">
              <a:buFontTx/>
              <a:buChar char="-"/>
            </a:pPr>
            <a:r>
              <a:rPr lang="ko-KR" altLang="en-US"/>
              <a:t>왜</a:t>
            </a:r>
            <a:r>
              <a:rPr lang="en-US" altLang="ko-KR"/>
              <a:t>?: Actor</a:t>
            </a:r>
            <a:r>
              <a:rPr lang="ko-KR" altLang="en-US"/>
              <a:t>처럼 </a:t>
            </a:r>
            <a:r>
              <a:rPr lang="en-US" altLang="ko-KR"/>
              <a:t>UObject</a:t>
            </a:r>
            <a:r>
              <a:rPr lang="ko-KR" altLang="en-US"/>
              <a:t>를 상속받았다 </a:t>
            </a:r>
            <a:r>
              <a:rPr lang="en-US" altLang="ko-KR"/>
              <a:t>=&gt; </a:t>
            </a:r>
            <a:r>
              <a:rPr lang="en-US" altLang="ko-KR" b="1"/>
              <a:t>GC </a:t>
            </a:r>
            <a:r>
              <a:rPr lang="ko-KR" altLang="en-US" b="1"/>
              <a:t>관리</a:t>
            </a:r>
            <a:r>
              <a:rPr lang="en-US" altLang="ko-KR" b="1"/>
              <a:t>, </a:t>
            </a:r>
            <a:r>
              <a:rPr lang="ko-KR" altLang="en-US" b="1"/>
              <a:t>리플렉션</a:t>
            </a:r>
            <a:r>
              <a:rPr lang="en-US" altLang="ko-KR" b="1"/>
              <a:t>, </a:t>
            </a:r>
            <a:r>
              <a:rPr lang="ko-KR" altLang="en-US" b="1"/>
              <a:t>블루프린트 노출이 가능해짐</a:t>
            </a:r>
            <a:endParaRPr lang="en-US" altLang="ko-KR" b="1"/>
          </a:p>
          <a:p>
            <a:pPr>
              <a:buFontTx/>
              <a:buChar char="-"/>
            </a:pPr>
            <a:endParaRPr lang="en-US" altLang="ko-KR"/>
          </a:p>
          <a:p>
            <a:pPr>
              <a:buFontTx/>
              <a:buChar char="-"/>
            </a:pPr>
            <a:r>
              <a:rPr lang="en-US" altLang="ko-KR" b="1"/>
              <a:t>Slate</a:t>
            </a:r>
            <a:r>
              <a:rPr lang="en-US" altLang="ko-KR"/>
              <a:t> : </a:t>
            </a:r>
            <a:r>
              <a:rPr lang="ko-KR" altLang="en-US"/>
              <a:t>순수 </a:t>
            </a:r>
            <a:r>
              <a:rPr lang="en-US" altLang="ko-KR"/>
              <a:t>C++ </a:t>
            </a:r>
            <a:r>
              <a:rPr lang="ko-KR" altLang="en-US"/>
              <a:t>코드로 생성 </a:t>
            </a:r>
            <a:r>
              <a:rPr lang="en-US" altLang="ko-KR"/>
              <a:t>(GC</a:t>
            </a:r>
            <a:r>
              <a:rPr lang="ko-KR" altLang="en-US"/>
              <a:t>를 안쓰고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TSharedPtr </a:t>
            </a:r>
            <a:r>
              <a:rPr lang="ko-KR" altLang="en-US"/>
              <a:t>로 관리됨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ko-KR" altLang="en-US"/>
              <a:t>  내가 코드에서 </a:t>
            </a:r>
            <a:r>
              <a:rPr lang="en-US" altLang="ko-KR"/>
              <a:t>Slate</a:t>
            </a:r>
            <a:r>
              <a:rPr lang="ko-KR" altLang="en-US"/>
              <a:t>를 생성해 </a:t>
            </a:r>
            <a:r>
              <a:rPr lang="en-US" altLang="ko-KR"/>
              <a:t>UI</a:t>
            </a:r>
            <a:r>
              <a:rPr lang="ko-KR" altLang="en-US"/>
              <a:t>를 만들기 </a:t>
            </a:r>
            <a:r>
              <a:rPr lang="en-US" altLang="ko-KR"/>
              <a:t>=&gt; </a:t>
            </a:r>
            <a:r>
              <a:rPr lang="ko-KR" altLang="en-US"/>
              <a:t>아직도 가능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  블루프린트를 통해 </a:t>
            </a:r>
            <a:r>
              <a:rPr lang="en-US" altLang="ko-KR"/>
              <a:t>UI</a:t>
            </a:r>
            <a:r>
              <a:rPr lang="ko-KR" altLang="en-US"/>
              <a:t>를 만들어두고 설정하기 </a:t>
            </a:r>
            <a:r>
              <a:rPr lang="en-US" altLang="ko-KR"/>
              <a:t>=&gt; UMG</a:t>
            </a:r>
            <a:r>
              <a:rPr lang="ko-KR" altLang="en-US"/>
              <a:t>로 생성됨</a:t>
            </a:r>
            <a:endParaRPr lang="en-US" altLang="ko-KR"/>
          </a:p>
          <a:p>
            <a:pPr marL="0" indent="0">
              <a:buNone/>
            </a:pPr>
            <a:endParaRPr lang="en-US" altLang="ko-KR" sz="1100"/>
          </a:p>
          <a:p>
            <a:pPr>
              <a:buFontTx/>
              <a:buChar char="-"/>
            </a:pPr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877FB27-5E16-D004-913A-91A132BCD667}"/>
              </a:ext>
            </a:extLst>
          </p:cNvPr>
          <p:cNvSpPr txBox="1">
            <a:spLocks/>
          </p:cNvSpPr>
          <p:nvPr/>
        </p:nvSpPr>
        <p:spPr>
          <a:xfrm>
            <a:off x="838200" y="869137"/>
            <a:ext cx="5018314" cy="534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/>
              <a:t>Unreal Motion Graphics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49EF7-3CC1-BFD2-C4A5-73AC076DA719}"/>
              </a:ext>
            </a:extLst>
          </p:cNvPr>
          <p:cNvSpPr txBox="1"/>
          <p:nvPr/>
        </p:nvSpPr>
        <p:spPr>
          <a:xfrm>
            <a:off x="978725" y="4530132"/>
            <a:ext cx="1037507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000"/>
              <a:t>다만 실제 렌더링</a:t>
            </a:r>
            <a:r>
              <a:rPr lang="en-US" altLang="ko-KR" sz="2000"/>
              <a:t>/</a:t>
            </a:r>
            <a:r>
              <a:rPr lang="ko-KR" altLang="en-US" sz="2000"/>
              <a:t>배칭 등은 </a:t>
            </a:r>
            <a:r>
              <a:rPr lang="en-US" altLang="ko-KR" sz="2000"/>
              <a:t>slate </a:t>
            </a:r>
            <a:r>
              <a:rPr lang="ko-KR" altLang="en-US" sz="2000"/>
              <a:t>이므로 원리를 알아야 한다</a:t>
            </a:r>
            <a:endParaRPr lang="en-US" altLang="ko-KR" sz="2000"/>
          </a:p>
          <a:p>
            <a:pPr>
              <a:buFontTx/>
              <a:buChar char="-"/>
            </a:pPr>
            <a:r>
              <a:rPr lang="ko-KR" altLang="en-US" sz="2000"/>
              <a:t> 위젯의 </a:t>
            </a:r>
            <a:r>
              <a:rPr lang="en-US" altLang="ko-KR" sz="2000"/>
              <a:t>OnPaint </a:t>
            </a:r>
            <a:r>
              <a:rPr lang="ko-KR" altLang="en-US" sz="2000"/>
              <a:t>에서 쌓인 </a:t>
            </a:r>
            <a:r>
              <a:rPr lang="en-US" altLang="ko-KR" sz="2000"/>
              <a:t>DrawElement </a:t>
            </a:r>
            <a:r>
              <a:rPr lang="ko-KR" altLang="en-US" sz="2000"/>
              <a:t>들을 </a:t>
            </a:r>
            <a:r>
              <a:rPr lang="en-US" altLang="ko-KR" sz="2000"/>
              <a:t>FSlateElementBatcher </a:t>
            </a:r>
            <a:r>
              <a:rPr lang="ko-KR" altLang="en-US" sz="2000"/>
              <a:t>가 묶어 드로우콜</a:t>
            </a:r>
            <a:endParaRPr lang="en-US" altLang="ko-KR" sz="2000"/>
          </a:p>
          <a:p>
            <a:pPr>
              <a:buFontTx/>
              <a:buChar char="-"/>
            </a:pPr>
            <a:r>
              <a:rPr lang="ko-KR" altLang="en-US" sz="2000"/>
              <a:t> 레이어</a:t>
            </a:r>
            <a:r>
              <a:rPr lang="en-US" altLang="ko-KR" sz="2000"/>
              <a:t>, </a:t>
            </a:r>
            <a:r>
              <a:rPr lang="ko-KR" altLang="en-US" sz="2000"/>
              <a:t>리소스</a:t>
            </a:r>
            <a:r>
              <a:rPr lang="en-US" altLang="ko-KR" sz="2000"/>
              <a:t>(</a:t>
            </a:r>
            <a:r>
              <a:rPr lang="ko-KR" altLang="en-US" sz="2000"/>
              <a:t>텍스쳐</a:t>
            </a:r>
            <a:r>
              <a:rPr lang="en-US" altLang="ko-KR" sz="2000"/>
              <a:t>, </a:t>
            </a:r>
            <a:r>
              <a:rPr lang="ko-KR" altLang="en-US" sz="2000"/>
              <a:t>머터리얼</a:t>
            </a:r>
            <a:r>
              <a:rPr lang="en-US" altLang="ko-KR" sz="2000"/>
              <a:t>), </a:t>
            </a:r>
            <a:r>
              <a:rPr lang="ko-KR" altLang="en-US" sz="2000"/>
              <a:t>셰이더</a:t>
            </a:r>
            <a:r>
              <a:rPr lang="en-US" altLang="ko-KR" sz="2000"/>
              <a:t>, </a:t>
            </a:r>
            <a:r>
              <a:rPr lang="ko-KR" altLang="en-US" sz="2000"/>
              <a:t>클리핑</a:t>
            </a:r>
            <a:r>
              <a:rPr lang="en-US" altLang="ko-KR" sz="2000"/>
              <a:t>, </a:t>
            </a:r>
            <a:r>
              <a:rPr lang="ko-KR" altLang="en-US" sz="2000"/>
              <a:t>프리미티브 타입</a:t>
            </a:r>
            <a:r>
              <a:rPr lang="en-US" altLang="ko-KR" sz="2000"/>
              <a:t> </a:t>
            </a:r>
            <a:r>
              <a:rPr lang="ko-KR" altLang="en-US" sz="2000"/>
              <a:t>이 같다면 배칭</a:t>
            </a:r>
            <a:endParaRPr lang="en-US" altLang="ko-KR" sz="2000"/>
          </a:p>
          <a:p>
            <a:pPr>
              <a:buFontTx/>
              <a:buChar char="-"/>
            </a:pPr>
            <a:r>
              <a:rPr lang="ko-KR" altLang="en-US" sz="2000"/>
              <a:t> 언리얼은 매 프레임 </a:t>
            </a:r>
            <a:r>
              <a:rPr lang="en-US" altLang="ko-KR" sz="2000"/>
              <a:t>ui</a:t>
            </a:r>
            <a:r>
              <a:rPr lang="ko-KR" altLang="en-US" sz="2000"/>
              <a:t>를 다시 그림</a:t>
            </a:r>
            <a:r>
              <a:rPr lang="en-US" altLang="ko-KR" sz="2000"/>
              <a:t>.</a:t>
            </a:r>
            <a:r>
              <a:rPr lang="ko-KR" altLang="en-US" sz="2000"/>
              <a:t> </a:t>
            </a:r>
            <a:r>
              <a:rPr lang="en-US" altLang="ko-KR" sz="2000"/>
              <a:t>ui Tree</a:t>
            </a:r>
            <a:r>
              <a:rPr lang="ko-KR" altLang="en-US" sz="2000"/>
              <a:t>를 캐싱해두고 필요할 때 다시 그릴 수 있음</a:t>
            </a:r>
            <a:endParaRPr lang="en-US" altLang="ko-KR" sz="2000"/>
          </a:p>
          <a:p>
            <a:pPr lvl="8"/>
            <a:r>
              <a:rPr lang="en-US" altLang="ko-KR" sz="2000"/>
              <a:t>       (invalidation box / global invalidation </a:t>
            </a:r>
            <a:r>
              <a:rPr lang="ko-KR" altLang="en-US" sz="2000"/>
              <a:t>기본 </a:t>
            </a:r>
            <a:r>
              <a:rPr lang="en-US" altLang="ko-KR" sz="2000"/>
              <a:t>off )</a:t>
            </a:r>
          </a:p>
        </p:txBody>
      </p:sp>
    </p:spTree>
    <p:extLst>
      <p:ext uri="{BB962C8B-B14F-4D97-AF65-F5344CB8AC3E}">
        <p14:creationId xmlns:p14="http://schemas.microsoft.com/office/powerpoint/2010/main" val="76658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21F12-F9C7-1FD4-F011-A899D61C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언리얼 최적화 </a:t>
            </a:r>
            <a:r>
              <a:rPr lang="en-US" altLang="ko-KR"/>
              <a:t>UI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EE5957-4DA3-B0CE-E0A5-E5D5B5EFE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UI</a:t>
            </a:r>
            <a:r>
              <a:rPr lang="ko-KR" altLang="en-US"/>
              <a:t>를 만들 때 최적화</a:t>
            </a:r>
            <a:r>
              <a:rPr lang="en-US" altLang="ko-KR"/>
              <a:t>&gt; </a:t>
            </a:r>
            <a:r>
              <a:rPr lang="ko-KR" altLang="en-US"/>
              <a:t>항목으로 배치된</a:t>
            </a:r>
            <a:endParaRPr lang="en-US" altLang="ko-KR"/>
          </a:p>
          <a:p>
            <a:pPr marL="0" indent="0">
              <a:buNone/>
            </a:pPr>
            <a:r>
              <a:rPr lang="ko-KR" altLang="en-US" b="1"/>
              <a:t>리테이너 박스</a:t>
            </a:r>
            <a:endParaRPr lang="en-US" altLang="ko-KR" b="1"/>
          </a:p>
          <a:p>
            <a:pPr>
              <a:buFontTx/>
              <a:buChar char="-"/>
            </a:pPr>
            <a:r>
              <a:rPr lang="ko-KR" altLang="en-US"/>
              <a:t>자식을 텍스처로 그린 후</a:t>
            </a:r>
            <a:r>
              <a:rPr lang="en-US" altLang="ko-KR"/>
              <a:t>, </a:t>
            </a:r>
            <a:r>
              <a:rPr lang="ko-KR" altLang="en-US"/>
              <a:t>출력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N </a:t>
            </a:r>
            <a:r>
              <a:rPr lang="ko-KR" altLang="en-US"/>
              <a:t>프레임마다 한 번씩 그려서 최적화됨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 b="1"/>
              <a:t>인밸리데이션 박스</a:t>
            </a:r>
            <a:endParaRPr lang="en-US" altLang="ko-KR" b="1"/>
          </a:p>
          <a:p>
            <a:pPr>
              <a:buFontTx/>
              <a:buChar char="-"/>
            </a:pPr>
            <a:r>
              <a:rPr lang="ko-KR" altLang="en-US"/>
              <a:t>자식 위젯의 결과를 캐시해두고 변경이 생길 때만 다시 계산</a:t>
            </a:r>
            <a:endParaRPr lang="en-US" altLang="ko-KR"/>
          </a:p>
          <a:p>
            <a:pPr marL="457200" indent="-457200">
              <a:buAutoNum type="arabicPeriod"/>
            </a:pPr>
            <a:r>
              <a:rPr lang="ko-KR" altLang="en-US"/>
              <a:t>각 위젯의 크기</a:t>
            </a:r>
            <a:endParaRPr lang="en-US" altLang="ko-KR"/>
          </a:p>
          <a:p>
            <a:pPr marL="457200" indent="-457200">
              <a:buAutoNum type="arabicPeriod"/>
            </a:pPr>
            <a:r>
              <a:rPr lang="ko-KR" altLang="en-US"/>
              <a:t>자식 위젯의 </a:t>
            </a:r>
            <a:r>
              <a:rPr lang="en-US" altLang="ko-KR"/>
              <a:t>FGeometry(</a:t>
            </a:r>
            <a:r>
              <a:rPr lang="ko-KR" altLang="en-US"/>
              <a:t>위치</a:t>
            </a:r>
            <a:r>
              <a:rPr lang="en-US" altLang="ko-KR"/>
              <a:t>, </a:t>
            </a:r>
            <a:r>
              <a:rPr lang="ko-KR" altLang="en-US"/>
              <a:t>크기</a:t>
            </a:r>
            <a:r>
              <a:rPr lang="en-US" altLang="ko-KR"/>
              <a:t>)</a:t>
            </a:r>
          </a:p>
          <a:p>
            <a:pPr marL="457200" indent="-457200">
              <a:buAutoNum type="arabicPeriod"/>
            </a:pPr>
            <a:r>
              <a:rPr lang="ko-KR" altLang="en-US"/>
              <a:t>위젯 트리를 순회하며 모으는 </a:t>
            </a:r>
            <a:r>
              <a:rPr lang="en-US" altLang="ko-KR" b="1"/>
              <a:t>Draw Element </a:t>
            </a:r>
            <a:r>
              <a:rPr lang="ko-KR" altLang="en-US" b="1"/>
              <a:t>목록</a:t>
            </a:r>
            <a:endParaRPr lang="en-US" altLang="ko-KR" b="1"/>
          </a:p>
          <a:p>
            <a:pPr marL="457200" indent="-457200">
              <a:buAutoNum type="arabicPeriod"/>
            </a:pPr>
            <a:r>
              <a:rPr lang="ko-KR" altLang="en-US" b="1"/>
              <a:t>배칭</a:t>
            </a:r>
            <a:endParaRPr lang="en-US" altLang="ko-KR" b="1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A2571B-77A7-908B-B818-32E453AE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304" y="1311544"/>
            <a:ext cx="3454220" cy="518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0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BE2EA-0B6E-CAE7-6841-7A2118BB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A4117-8F49-E0E9-99E9-4ADB8C81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UMG</a:t>
            </a:r>
            <a:r>
              <a:rPr lang="ko-KR" altLang="en-US"/>
              <a:t> </a:t>
            </a:r>
            <a:r>
              <a:rPr lang="en-US" altLang="ko-KR"/>
              <a:t>/ Slate </a:t>
            </a:r>
            <a:r>
              <a:rPr lang="ko-KR" altLang="en-US"/>
              <a:t>각자의 필요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CC63E6-58E1-4C91-50AB-61ABC48D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1049000" cy="5632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/>
              <a:t>UMG</a:t>
            </a:r>
            <a:r>
              <a:rPr lang="ko-KR" altLang="en-US"/>
              <a:t>가 구체적으로 왜 필요하나</a:t>
            </a:r>
            <a:r>
              <a:rPr lang="en-US" altLang="ko-KR"/>
              <a:t>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/>
              <a:t>Slate</a:t>
            </a:r>
            <a:r>
              <a:rPr lang="ko-KR" altLang="en-US"/>
              <a:t>로 레이아웃</a:t>
            </a:r>
            <a:r>
              <a:rPr lang="en-US" altLang="ko-KR"/>
              <a:t>(</a:t>
            </a:r>
            <a:r>
              <a:rPr lang="ko-KR" altLang="en-US"/>
              <a:t>선 색깔 등</a:t>
            </a:r>
            <a:r>
              <a:rPr lang="en-US" altLang="ko-KR"/>
              <a:t>)</a:t>
            </a:r>
            <a:r>
              <a:rPr lang="ko-KR" altLang="en-US"/>
              <a:t>을 바꾼다면 컴파일이 필요하고</a:t>
            </a:r>
            <a:r>
              <a:rPr lang="en-US" altLang="ko-KR"/>
              <a:t>, </a:t>
            </a:r>
            <a:br>
              <a:rPr lang="en-US" altLang="ko-KR"/>
            </a:br>
            <a:r>
              <a:rPr lang="en-US" altLang="ko-KR"/>
              <a:t>UMG</a:t>
            </a:r>
            <a:r>
              <a:rPr lang="ko-KR" altLang="en-US"/>
              <a:t>는 디자이너가 컴파일 없이 수정할 수 있음</a:t>
            </a:r>
            <a:endParaRPr lang="en-US" altLang="ko-KR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/>
              <a:t>UMG</a:t>
            </a:r>
            <a:r>
              <a:rPr lang="ko-KR" altLang="en-US"/>
              <a:t>는 애니메이션</a:t>
            </a:r>
            <a:r>
              <a:rPr lang="en-US" altLang="ko-KR"/>
              <a:t>(Sequence)</a:t>
            </a:r>
            <a:r>
              <a:rPr lang="ko-KR" altLang="en-US"/>
              <a:t>을 지원하지만 </a:t>
            </a:r>
            <a:r>
              <a:rPr lang="en-US" altLang="ko-KR"/>
              <a:t>Slate </a:t>
            </a:r>
            <a:r>
              <a:rPr lang="ko-KR" altLang="en-US"/>
              <a:t>는 코드로 애니메이션을 작성함</a:t>
            </a:r>
            <a:br>
              <a:rPr lang="en-US" altLang="ko-KR"/>
            </a:br>
            <a:r>
              <a:rPr lang="en-US" altLang="ko-KR">
                <a:solidFill>
                  <a:schemeClr val="bg1">
                    <a:lumMod val="75000"/>
                  </a:schemeClr>
                </a:solidFill>
              </a:rPr>
              <a:t>(UMG </a:t>
            </a:r>
            <a:r>
              <a:rPr lang="ko-KR" altLang="en-US">
                <a:solidFill>
                  <a:schemeClr val="bg1">
                    <a:lumMod val="75000"/>
                  </a:schemeClr>
                </a:solidFill>
              </a:rPr>
              <a:t>이름이 그래서 </a:t>
            </a:r>
            <a:r>
              <a:rPr lang="en-US" altLang="ko-KR">
                <a:solidFill>
                  <a:schemeClr val="bg1">
                    <a:lumMod val="75000"/>
                  </a:schemeClr>
                </a:solidFill>
              </a:rPr>
              <a:t>Motion </a:t>
            </a:r>
            <a:r>
              <a:rPr lang="ko-KR" altLang="en-US">
                <a:solidFill>
                  <a:schemeClr val="bg1">
                    <a:lumMod val="75000"/>
                  </a:schemeClr>
                </a:solidFill>
              </a:rPr>
              <a:t>이 들어갔다는 카더라가 있음</a:t>
            </a:r>
            <a:r>
              <a:rPr lang="en-US" altLang="ko-KR"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ko-KR" altLang="en-US"/>
              <a:t>후술할 </a:t>
            </a:r>
            <a:r>
              <a:rPr lang="en-US" altLang="ko-KR"/>
              <a:t>CommonUI </a:t>
            </a:r>
            <a:r>
              <a:rPr lang="ko-KR" altLang="en-US"/>
              <a:t>등과도 호환됨</a:t>
            </a:r>
            <a:endParaRPr lang="en-US" altLang="ko-KR"/>
          </a:p>
          <a:p>
            <a:pPr marL="0" indent="0">
              <a:buNone/>
            </a:pPr>
            <a:endParaRPr lang="en-US" altLang="ko-KR" sz="1200"/>
          </a:p>
          <a:p>
            <a:pPr marL="0" indent="0">
              <a:buNone/>
            </a:pPr>
            <a:r>
              <a:rPr lang="en-US" altLang="ko-KR"/>
              <a:t>Slate </a:t>
            </a:r>
            <a:r>
              <a:rPr lang="ko-KR" altLang="en-US"/>
              <a:t>만으로 충분한 경우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UObject </a:t>
            </a:r>
            <a:r>
              <a:rPr lang="ko-KR" altLang="en-US"/>
              <a:t>생성을 안하니 리플렉션</a:t>
            </a:r>
            <a:r>
              <a:rPr lang="en-US" altLang="ko-KR"/>
              <a:t>/</a:t>
            </a:r>
            <a:r>
              <a:rPr lang="ko-KR" altLang="en-US"/>
              <a:t>이중 객체가 없어서 성능적으로 좋다</a:t>
            </a: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에디터 </a:t>
            </a:r>
            <a:r>
              <a:rPr lang="en-US" altLang="ko-KR"/>
              <a:t>API </a:t>
            </a:r>
            <a:r>
              <a:rPr lang="ko-KR" altLang="en-US"/>
              <a:t>는 입출력이 모두 </a:t>
            </a:r>
            <a:r>
              <a:rPr lang="en-US" altLang="ko-KR"/>
              <a:t>Slate </a:t>
            </a:r>
            <a:r>
              <a:rPr lang="ko-KR" altLang="en-US"/>
              <a:t>이므로 써야함</a:t>
            </a: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126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A2109-35B9-D93E-D373-74353E65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언리얼 방향성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2CD9F9-59CC-1B6E-2022-D4C67DBC9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UE4 </a:t>
            </a:r>
            <a:r>
              <a:rPr lang="ko-KR" altLang="en-US"/>
              <a:t>부터 </a:t>
            </a:r>
            <a:r>
              <a:rPr lang="en-US" altLang="ko-KR"/>
              <a:t>Slate </a:t>
            </a:r>
            <a:r>
              <a:rPr lang="ko-KR" altLang="en-US"/>
              <a:t>를 제공했으나 순수 </a:t>
            </a:r>
            <a:r>
              <a:rPr lang="en-US" altLang="ko-KR"/>
              <a:t>C++ </a:t>
            </a:r>
            <a:r>
              <a:rPr lang="ko-KR" altLang="en-US"/>
              <a:t>이었음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UE4.4 </a:t>
            </a:r>
            <a:r>
              <a:rPr lang="ko-KR" altLang="en-US"/>
              <a:t>부터 </a:t>
            </a:r>
            <a:r>
              <a:rPr lang="en-US" altLang="ko-KR"/>
              <a:t>UMG </a:t>
            </a:r>
            <a:r>
              <a:rPr lang="ko-KR" altLang="en-US"/>
              <a:t>도입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UE5: </a:t>
            </a:r>
            <a:r>
              <a:rPr lang="ko-KR" altLang="en-US"/>
              <a:t>플러그인 개발은 하고있으나</a:t>
            </a:r>
            <a:r>
              <a:rPr lang="en-US" altLang="ko-KR"/>
              <a:t>, Slate-UMG </a:t>
            </a:r>
            <a:r>
              <a:rPr lang="ko-KR" altLang="en-US"/>
              <a:t>구조 변경은 없음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CommonUI : </a:t>
            </a:r>
            <a:r>
              <a:rPr lang="ko-KR" altLang="en-US"/>
              <a:t>입력</a:t>
            </a:r>
            <a:r>
              <a:rPr lang="en-US" altLang="ko-KR"/>
              <a:t>(</a:t>
            </a:r>
            <a:r>
              <a:rPr lang="ko-KR" altLang="en-US"/>
              <a:t>패드</a:t>
            </a:r>
            <a:r>
              <a:rPr lang="en-US" altLang="ko-KR"/>
              <a:t>/</a:t>
            </a:r>
            <a:r>
              <a:rPr lang="ko-KR" altLang="en-US"/>
              <a:t>키보드 전환</a:t>
            </a:r>
            <a:r>
              <a:rPr lang="en-US" altLang="ko-KR"/>
              <a:t>), </a:t>
            </a:r>
            <a:r>
              <a:rPr lang="ko-KR" altLang="en-US"/>
              <a:t>화면스택 등 </a:t>
            </a:r>
            <a:r>
              <a:rPr lang="en-US" altLang="ko-KR"/>
              <a:t>UMG </a:t>
            </a:r>
            <a:r>
              <a:rPr lang="ko-KR" altLang="en-US"/>
              <a:t>위에서 동작하는 프레임워크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UMG Viewmodel : MVVM </a:t>
            </a:r>
            <a:r>
              <a:rPr lang="ko-KR" altLang="en-US"/>
              <a:t>패턴 지원 </a:t>
            </a:r>
            <a:r>
              <a:rPr lang="en-US" altLang="ko-KR"/>
              <a:t>(Tick </a:t>
            </a:r>
            <a:r>
              <a:rPr lang="ko-KR" altLang="en-US"/>
              <a:t>당 돌아가지 않게 최적화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03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748</Words>
  <Application>Microsoft Office PowerPoint</Application>
  <PresentationFormat>와이드스크린</PresentationFormat>
  <Paragraphs>90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Symbol</vt:lpstr>
      <vt:lpstr>맑은 고딕</vt:lpstr>
      <vt:lpstr>Office 테마</vt:lpstr>
      <vt:lpstr>UGUI/UMG</vt:lpstr>
      <vt:lpstr>공고</vt:lpstr>
      <vt:lpstr>UGUI 구조</vt:lpstr>
      <vt:lpstr>★UGUI 특징</vt:lpstr>
      <vt:lpstr>유니티 방향성</vt:lpstr>
      <vt:lpstr>UMG / Slate</vt:lpstr>
      <vt:lpstr>언리얼 최적화 UI</vt:lpstr>
      <vt:lpstr>UMG / Slate 각자의 필요</vt:lpstr>
      <vt:lpstr>언리얼 방향성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60</cp:revision>
  <dcterms:created xsi:type="dcterms:W3CDTF">2026-09-03T18:17:10Z</dcterms:created>
  <dcterms:modified xsi:type="dcterms:W3CDTF">2026-10-11T13:29:42Z</dcterms:modified>
</cp:coreProperties>
</file>