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6" r:id="rId4"/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98" d="100"/>
          <a:sy n="98" d="100"/>
        </p:scale>
        <p:origin x="5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B90A43-5368-4AAE-879F-362A656630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21E9B7F-356C-403C-B12F-5AF53AD919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B31A3F-013A-4C93-A744-530DC3678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14DE4-9230-49DC-B80E-862A2AF8FD4C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E2DD62-6E81-4B56-B731-4E5E68364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9503F9-2643-4BCC-9BBF-5CDC1AA1F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A749-BC26-41AF-99BB-02A97FBCEB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0856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811831-2106-4024-9CA6-0E877AC67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774664-F691-43C4-A121-21356B671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0FC079-B6CB-4481-BF39-5009D8AE6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14DE4-9230-49DC-B80E-862A2AF8FD4C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D9CAFD-F2A4-4A45-A598-F2F6BBB02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C0E0E1-89C1-4FCA-952F-32E399FA7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A749-BC26-41AF-99BB-02A97FBCEB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0054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251D66-5D0D-4299-A6BB-3D9E71675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C12C872-C818-4E8C-8FA0-A0DEDDA846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C514D9-6E8A-44C0-9AAA-9810F394A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14DE4-9230-49DC-B80E-862A2AF8FD4C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270C47-F4EE-497F-946B-45BD09A42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BEC3C8-E195-4947-86DD-FEA87C2F2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A749-BC26-41AF-99BB-02A97FBCEB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8792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A654EB-ECEF-4186-BE59-2184C58D1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47F468-1ED8-46FE-883C-AD2CE391FE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36E31E3-ACC4-460C-8D84-51598A3344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D8F141-E90A-464F-BECC-0C6B519A5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14DE4-9230-49DC-B80E-862A2AF8FD4C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A2EE811-79F0-427D-9037-16C49B8D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B281F7D-3B6A-462D-83D5-805FB4683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A749-BC26-41AF-99BB-02A97FBCEB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6408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7EE889-23C4-4117-BCBF-4E25F1982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3D1A2F4-57EF-4F58-B8EE-0B6E4762B3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DACC45-963D-4170-B797-2FE48D2F52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D8346E0-A5B8-4296-835B-3F70DF6276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C4C6A20-48CA-403B-A68A-156E9ADBC5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4074CC8-50C7-4038-A6E1-DBEA3421D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14DE4-9230-49DC-B80E-862A2AF8FD4C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6D1DC7E-B1A0-4ED1-A2CC-75D90E173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8E15C41-DD49-49A7-808B-A5E1FBE9F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A749-BC26-41AF-99BB-02A97FBCEB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1526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F89C81-946B-479E-AE61-72B26DA98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59E1FC1-8712-466D-AB19-99DAEB79E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14DE4-9230-49DC-B80E-862A2AF8FD4C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4B1E39E-A681-42F9-AB1C-77979C674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1D0FA55-24DD-4C1F-9AF5-4054AB67D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A749-BC26-41AF-99BB-02A97FBCEB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6514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F0A3F8F-F2FB-45D0-A8AC-54DA22C26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14DE4-9230-49DC-B80E-862A2AF8FD4C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6061B2C-B0FA-442A-9E96-CD65697D3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0A3A16-2400-45D8-A6D9-39CD50C6B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A749-BC26-41AF-99BB-02A97FBCEB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1194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D1D57E-92AB-45CC-B479-247022223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70EC2B-611B-4C8A-914D-6657877B5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0C82FEA-181B-48A7-B3BF-59E5B64409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4A4112C-2D6A-4497-BCE7-3A22B7457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14DE4-9230-49DC-B80E-862A2AF8FD4C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C1C3D60-C23A-4761-AAE3-4AB1F3BBA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CFD4199-3DB9-4021-BF07-4FD8A0F27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A749-BC26-41AF-99BB-02A97FBCEB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9136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1EE16E-5C01-426F-88E9-564624CA6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DE496F0-BE51-4BAE-B3EF-200E715502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B247A2D-430D-4AC3-9563-3845DCB9E5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7ED1D05-802F-4F85-A401-4CBE9E6AB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14DE4-9230-49DC-B80E-862A2AF8FD4C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06A9E51-B051-4766-8C02-FFDE2CE5F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DF289E9-6BAC-4790-B0ED-EEE40A782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A749-BC26-41AF-99BB-02A97FBCEB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615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42ED72-7C42-4C25-88B5-A0AD19348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25B9109-13BA-4E43-8D65-9F5FBBE7AA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1D704F-66D7-4097-B898-2088FBA2C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14DE4-9230-49DC-B80E-862A2AF8FD4C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C9FC2F-9173-4FF4-82A5-2185AEB6B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820833-CF2D-4A0C-8B60-B1D4A8D43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A749-BC26-41AF-99BB-02A97FBCEB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8143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B17A958-7AC0-4358-9837-E28EFD192E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8ACE9E5-F844-4ADA-BB02-DDF2E4DB13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9158B0-6776-4EC6-B224-EEA5236C6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14DE4-9230-49DC-B80E-862A2AF8FD4C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C0E206-DA08-4C69-A98B-B0CE8AA3B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96C496-3C85-4F68-8576-098A454DA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A749-BC26-41AF-99BB-02A97FBCEB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4300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F757B45-C3F6-4531-9C0D-62601BED7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B3010A-DD84-4352-932F-6846BB3D92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1EF2C7-B6A2-4562-AAAC-D890024DF5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014DE4-9230-49DC-B80E-862A2AF8FD4C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287ABD-E2A9-439F-9C2E-8BBDE35E3B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394F49-FBFC-4FAB-9FDD-AE8D82E21C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22A749-BC26-41AF-99BB-02A97FBCEB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33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801887-CC3B-46BE-AF1A-412A167AA5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FSM</a:t>
            </a:r>
            <a:r>
              <a:rPr lang="ko-KR" altLang="en-US" dirty="0"/>
              <a:t>과 </a:t>
            </a:r>
            <a:r>
              <a:rPr lang="en-US" altLang="ko-KR" dirty="0"/>
              <a:t>BT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679126C-D7D1-4CC9-AE9D-5899A9747E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If</a:t>
            </a:r>
            <a:r>
              <a:rPr lang="ko-KR" altLang="en-US" dirty="0"/>
              <a:t>가 너무 많아진다면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95059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D8C378-95FE-4A11-953A-87C911A3E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FSM</a:t>
            </a:r>
            <a:r>
              <a:rPr lang="ko-KR" altLang="en-US" dirty="0"/>
              <a:t>이란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8179D0-6416-4939-9907-B677FF860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FSM</a:t>
            </a:r>
            <a:r>
              <a:rPr lang="ko-KR" altLang="en-US" dirty="0"/>
              <a:t>은 현재 상태를 기준으로 동작한다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예</a:t>
            </a:r>
            <a:r>
              <a:rPr lang="en-US" altLang="ko-KR" dirty="0"/>
              <a:t>:</a:t>
            </a:r>
          </a:p>
          <a:p>
            <a:pPr lvl="1"/>
            <a:r>
              <a:rPr lang="en-US" altLang="ko-KR" dirty="0"/>
              <a:t>Idle</a:t>
            </a:r>
          </a:p>
          <a:p>
            <a:pPr lvl="1"/>
            <a:r>
              <a:rPr lang="en-US" altLang="ko-KR" dirty="0"/>
              <a:t>Chase</a:t>
            </a:r>
          </a:p>
          <a:p>
            <a:pPr lvl="1"/>
            <a:r>
              <a:rPr lang="en-US" altLang="ko-KR" dirty="0"/>
              <a:t>Attack</a:t>
            </a:r>
          </a:p>
          <a:p>
            <a:pPr lvl="1"/>
            <a:r>
              <a:rPr lang="en-US" altLang="ko-KR" dirty="0"/>
              <a:t>Reload</a:t>
            </a:r>
          </a:p>
          <a:p>
            <a:pPr lvl="1"/>
            <a:r>
              <a:rPr lang="en-US" altLang="ko-KR" dirty="0"/>
              <a:t>Flee</a:t>
            </a:r>
          </a:p>
          <a:p>
            <a:pPr lvl="1"/>
            <a:r>
              <a:rPr lang="en-US" altLang="ko-KR" dirty="0"/>
              <a:t>Search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309067B-B132-4CBA-96F5-7329A4CDD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0118" y="1749323"/>
            <a:ext cx="4165657" cy="4743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769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81BED90B-31F5-4BBB-A303-9F0DDF9B4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77EBEE54-D29C-4656-B883-126EC9994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57CC81A-A740-4365-B1BB-750A26DDC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6435" y="0"/>
            <a:ext cx="9758082" cy="6848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61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D8C378-95FE-4A11-953A-87C911A3E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850"/>
            <a:ext cx="10515600" cy="1325563"/>
          </a:xfrm>
        </p:spPr>
        <p:txBody>
          <a:bodyPr/>
          <a:lstStyle/>
          <a:p>
            <a:r>
              <a:rPr lang="ko-KR" altLang="en-US" dirty="0"/>
              <a:t>겪은 문제점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8179D0-6416-4939-9907-B677FF860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8448"/>
            <a:ext cx="10515600" cy="4937127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dirty="0"/>
              <a:t>“체력이 낮으면 도망간다” 같은 공통 규칙도</a:t>
            </a:r>
          </a:p>
          <a:p>
            <a:pPr marL="0" indent="0">
              <a:buNone/>
            </a:pPr>
            <a:r>
              <a:rPr lang="ko-KR" altLang="en-US" dirty="0"/>
              <a:t>   여러 상태에 반복해서 들어간다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Attack -&gt; Flee</a:t>
            </a:r>
          </a:p>
          <a:p>
            <a:r>
              <a:rPr lang="en-US" altLang="ko-KR" dirty="0"/>
              <a:t>Chase -&gt; Flee</a:t>
            </a:r>
          </a:p>
          <a:p>
            <a:r>
              <a:rPr lang="en-US" altLang="ko-KR" dirty="0"/>
              <a:t>Reload -&gt; Flee</a:t>
            </a:r>
          </a:p>
          <a:p>
            <a:r>
              <a:rPr lang="en-US" altLang="ko-KR" dirty="0"/>
              <a:t>Search -&gt; Flee</a:t>
            </a:r>
          </a:p>
          <a:p>
            <a:endParaRPr lang="en-US" altLang="ko-KR" dirty="0"/>
          </a:p>
          <a:p>
            <a:r>
              <a:rPr lang="ko-KR" altLang="en-US" dirty="0"/>
              <a:t>상태 전이가 복잡해질 때</a:t>
            </a:r>
            <a:r>
              <a:rPr lang="en-US" altLang="ko-KR" dirty="0"/>
              <a:t>,</a:t>
            </a:r>
          </a:p>
          <a:p>
            <a:pPr marL="0" indent="0">
              <a:buNone/>
            </a:pPr>
            <a:r>
              <a:rPr lang="en-US" altLang="ko-KR" dirty="0"/>
              <a:t>  FSM</a:t>
            </a:r>
            <a:r>
              <a:rPr lang="ko-KR" altLang="en-US" dirty="0"/>
              <a:t>만으로는 조건 분기가 흩어지고 많아진다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  -&gt; </a:t>
            </a:r>
            <a:r>
              <a:rPr lang="ko-KR" altLang="en-US" dirty="0"/>
              <a:t>상태가 늘어날수록 전이 조건 </a:t>
            </a:r>
            <a:r>
              <a:rPr lang="en-US" altLang="ko-KR" dirty="0"/>
              <a:t>if</a:t>
            </a:r>
            <a:r>
              <a:rPr lang="ko-KR" altLang="en-US" dirty="0"/>
              <a:t>문이 계속 </a:t>
            </a:r>
            <a:r>
              <a:rPr lang="ko-KR" altLang="en-US" dirty="0" err="1"/>
              <a:t>증가했슨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5019422-14D2-4FEE-9BF1-E28694FEF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187" y="1887730"/>
            <a:ext cx="3819588" cy="3401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670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D8C378-95FE-4A11-953A-87C911A3E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850"/>
            <a:ext cx="10515600" cy="1325563"/>
          </a:xfrm>
        </p:spPr>
        <p:txBody>
          <a:bodyPr/>
          <a:lstStyle/>
          <a:p>
            <a:r>
              <a:rPr lang="en-US" altLang="ko-KR" dirty="0"/>
              <a:t>FSM</a:t>
            </a:r>
            <a:r>
              <a:rPr lang="ko-KR" altLang="en-US" dirty="0"/>
              <a:t> </a:t>
            </a:r>
            <a:r>
              <a:rPr lang="en-US" altLang="ko-KR" dirty="0"/>
              <a:t>or BT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8179D0-6416-4939-9907-B677FF860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5549"/>
            <a:ext cx="10515600" cy="3308352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FSM:</a:t>
            </a:r>
          </a:p>
          <a:p>
            <a:r>
              <a:rPr lang="ko-KR" altLang="en-US" sz="2400" dirty="0"/>
              <a:t>지금 어떤 상태인가</a:t>
            </a:r>
            <a:r>
              <a:rPr lang="en-US" altLang="ko-KR" sz="2400" dirty="0"/>
              <a:t>?</a:t>
            </a:r>
          </a:p>
          <a:p>
            <a:r>
              <a:rPr lang="ko-KR" altLang="en-US" sz="2400" dirty="0"/>
              <a:t>이 상태에서 어디로 전이할 수 있는가</a:t>
            </a:r>
            <a:r>
              <a:rPr lang="en-US" altLang="ko-KR" sz="2400" dirty="0"/>
              <a:t>?</a:t>
            </a:r>
          </a:p>
          <a:p>
            <a:endParaRPr lang="en-US" altLang="ko-KR" sz="2400" dirty="0"/>
          </a:p>
          <a:p>
            <a:r>
              <a:rPr lang="en-US" altLang="ko-KR" sz="2400" dirty="0"/>
              <a:t>BT:</a:t>
            </a:r>
          </a:p>
          <a:p>
            <a:r>
              <a:rPr lang="ko-KR" altLang="en-US" sz="2400" dirty="0"/>
              <a:t>지금 가장 우선순위가 높은 행동은 무엇인가</a:t>
            </a:r>
            <a:r>
              <a:rPr lang="en-US" altLang="ko-KR" sz="2400" dirty="0"/>
              <a:t>?</a:t>
            </a:r>
          </a:p>
          <a:p>
            <a:r>
              <a:rPr lang="ko-KR" altLang="en-US" sz="2400" dirty="0"/>
              <a:t>어떤 조건을 만족하면 어떤 행동을 할 것인가</a:t>
            </a:r>
            <a:r>
              <a:rPr lang="en-US" altLang="ko-KR" sz="2400" dirty="0"/>
              <a:t>?</a:t>
            </a:r>
            <a:endParaRPr lang="ko-KR" alt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FBA667-53E4-42F3-AF94-88105DD5F52D}"/>
              </a:ext>
            </a:extLst>
          </p:cNvPr>
          <p:cNvSpPr txBox="1"/>
          <p:nvPr/>
        </p:nvSpPr>
        <p:spPr>
          <a:xfrm>
            <a:off x="2624138" y="4678344"/>
            <a:ext cx="77343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FSM = 상태와 전이 관리</a:t>
            </a:r>
          </a:p>
          <a:p>
            <a:r>
              <a:rPr lang="ko-KR" altLang="en-US" sz="2400" dirty="0"/>
              <a:t>BT = 조건과 행동의 우선순위 관리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F50401-37CA-4571-8875-246DAE7DEFCA}"/>
              </a:ext>
            </a:extLst>
          </p:cNvPr>
          <p:cNvSpPr txBox="1"/>
          <p:nvPr/>
        </p:nvSpPr>
        <p:spPr>
          <a:xfrm>
            <a:off x="838200" y="4893787"/>
            <a:ext cx="14001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비교 </a:t>
            </a:r>
            <a:r>
              <a:rPr lang="en-US" altLang="ko-KR" sz="2400" dirty="0"/>
              <a:t>:</a:t>
            </a:r>
            <a:endParaRPr lang="ko-KR" alt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46860D-5F5E-4428-B9FD-7D333E62B6B8}"/>
              </a:ext>
            </a:extLst>
          </p:cNvPr>
          <p:cNvSpPr txBox="1"/>
          <p:nvPr/>
        </p:nvSpPr>
        <p:spPr>
          <a:xfrm>
            <a:off x="838200" y="5894569"/>
            <a:ext cx="90868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highlight>
                  <a:srgbClr val="C0C0C0"/>
                </a:highlight>
              </a:rPr>
              <a:t>행동 선택지가 많고 우선순위가 </a:t>
            </a:r>
            <a:r>
              <a:rPr lang="ko-KR" altLang="en-US" sz="2400" dirty="0" err="1">
                <a:highlight>
                  <a:srgbClr val="C0C0C0"/>
                </a:highlight>
              </a:rPr>
              <a:t>중요해질수록</a:t>
            </a:r>
            <a:r>
              <a:rPr lang="ko-KR" altLang="en-US" sz="2400" dirty="0">
                <a:highlight>
                  <a:srgbClr val="C0C0C0"/>
                </a:highlight>
              </a:rPr>
              <a:t> </a:t>
            </a:r>
            <a:r>
              <a:rPr lang="ko-KR" altLang="en-US" sz="2400" dirty="0" err="1">
                <a:highlight>
                  <a:srgbClr val="C0C0C0"/>
                </a:highlight>
              </a:rPr>
              <a:t>BT가</a:t>
            </a:r>
            <a:r>
              <a:rPr lang="ko-KR" altLang="en-US" sz="2400" dirty="0">
                <a:highlight>
                  <a:srgbClr val="C0C0C0"/>
                </a:highlight>
              </a:rPr>
              <a:t> 유리해진다.</a:t>
            </a:r>
          </a:p>
        </p:txBody>
      </p:sp>
    </p:spTree>
    <p:extLst>
      <p:ext uri="{BB962C8B-B14F-4D97-AF65-F5344CB8AC3E}">
        <p14:creationId xmlns:p14="http://schemas.microsoft.com/office/powerpoint/2010/main" val="3577565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D8C378-95FE-4A11-953A-87C911A3E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850"/>
            <a:ext cx="10515600" cy="1325563"/>
          </a:xfrm>
        </p:spPr>
        <p:txBody>
          <a:bodyPr/>
          <a:lstStyle/>
          <a:p>
            <a:r>
              <a:rPr lang="en-US" altLang="ko-KR" dirty="0"/>
              <a:t>BT</a:t>
            </a:r>
            <a:r>
              <a:rPr lang="ko-KR" altLang="en-US" dirty="0"/>
              <a:t>는 노드로 구성되어 있습니다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8179D0-6416-4939-9907-B677FF860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395413"/>
            <a:ext cx="8972550" cy="5053012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Selector:</a:t>
            </a:r>
          </a:p>
          <a:p>
            <a:pPr lvl="1"/>
            <a:r>
              <a:rPr lang="ko-KR" altLang="en-US" sz="2000" dirty="0"/>
              <a:t>여러 선택지 중 성공하는 첫 번째 것을 선택</a:t>
            </a:r>
            <a:endParaRPr lang="en-US" altLang="ko-KR" sz="2000" dirty="0"/>
          </a:p>
          <a:p>
            <a:endParaRPr lang="en-US" altLang="ko-KR" sz="2400" dirty="0"/>
          </a:p>
          <a:p>
            <a:r>
              <a:rPr lang="en-US" altLang="ko-KR" sz="2400" dirty="0"/>
              <a:t>Sequence:</a:t>
            </a:r>
          </a:p>
          <a:p>
            <a:pPr lvl="1"/>
            <a:r>
              <a:rPr lang="ko-KR" altLang="en-US" sz="2000" dirty="0"/>
              <a:t>여러 조건</a:t>
            </a:r>
            <a:r>
              <a:rPr lang="en-US" altLang="ko-KR" sz="2000" dirty="0"/>
              <a:t>/</a:t>
            </a:r>
            <a:r>
              <a:rPr lang="ko-KR" altLang="en-US" sz="2000" dirty="0"/>
              <a:t>행동을 순서대로 실행한다</a:t>
            </a:r>
            <a:r>
              <a:rPr lang="en-US" altLang="ko-KR" sz="2000" dirty="0"/>
              <a:t>.</a:t>
            </a:r>
          </a:p>
          <a:p>
            <a:pPr lvl="1"/>
            <a:r>
              <a:rPr lang="ko-KR" altLang="en-US" sz="2000" dirty="0"/>
              <a:t>하나라도 실패하면 전체 실패</a:t>
            </a:r>
            <a:endParaRPr lang="en-US" altLang="ko-KR" sz="2000" dirty="0"/>
          </a:p>
          <a:p>
            <a:endParaRPr lang="en-US" altLang="ko-KR" sz="2400" dirty="0"/>
          </a:p>
          <a:p>
            <a:r>
              <a:rPr lang="en-US" altLang="ko-KR" sz="2400" dirty="0"/>
              <a:t>Condition:</a:t>
            </a:r>
          </a:p>
          <a:p>
            <a:pPr lvl="1"/>
            <a:r>
              <a:rPr lang="ko-KR" altLang="en-US" sz="2000" dirty="0"/>
              <a:t>조건을 검사</a:t>
            </a:r>
            <a:endParaRPr lang="en-US" altLang="ko-KR" sz="2000" dirty="0"/>
          </a:p>
          <a:p>
            <a:endParaRPr lang="en-US" altLang="ko-KR" sz="2400" dirty="0"/>
          </a:p>
          <a:p>
            <a:r>
              <a:rPr lang="en-US" altLang="ko-KR" sz="2400" dirty="0"/>
              <a:t>Action:</a:t>
            </a:r>
          </a:p>
          <a:p>
            <a:pPr lvl="1"/>
            <a:r>
              <a:rPr lang="ko-KR" altLang="en-US" sz="2000" dirty="0"/>
              <a:t>실제 행동을 수행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168450F-F8F5-4E04-AB6E-A0DBBCEF2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7727" y="1916211"/>
            <a:ext cx="3756073" cy="4244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718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D8C378-95FE-4A11-953A-87C911A3E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85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Sequence</a:t>
            </a:r>
            <a:r>
              <a:rPr lang="ko-KR" altLang="en-US" sz="4000" dirty="0"/>
              <a:t>는 조건 조합</a:t>
            </a:r>
            <a:r>
              <a:rPr lang="en-US" altLang="ko-KR" sz="4000" dirty="0"/>
              <a:t>, Selector</a:t>
            </a:r>
            <a:r>
              <a:rPr lang="ko-KR" altLang="en-US" sz="4000" dirty="0"/>
              <a:t>는 우선순위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8179D0-6416-4939-9907-B677FF860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395413"/>
            <a:ext cx="8972550" cy="1033462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Sequence</a:t>
            </a:r>
          </a:p>
          <a:p>
            <a:pPr lvl="1"/>
            <a:r>
              <a:rPr lang="ko-KR" altLang="en-US" sz="2000" dirty="0"/>
              <a:t>여러 </a:t>
            </a:r>
            <a:r>
              <a:rPr lang="en-US" altLang="ko-KR" sz="2000" dirty="0"/>
              <a:t>Condition</a:t>
            </a:r>
            <a:r>
              <a:rPr lang="ko-KR" altLang="en-US" sz="2000" dirty="0"/>
              <a:t>을 조합해 다 부합하면 </a:t>
            </a:r>
            <a:r>
              <a:rPr lang="en-US" altLang="ko-KR" sz="2000" dirty="0"/>
              <a:t>Action</a:t>
            </a:r>
            <a:r>
              <a:rPr lang="ko-KR" altLang="en-US" sz="2000" dirty="0"/>
              <a:t>을 수행</a:t>
            </a:r>
            <a:endParaRPr lang="en-US" altLang="ko-KR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168450F-F8F5-4E04-AB6E-A0DBBCEF2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7727" y="1916211"/>
            <a:ext cx="3756073" cy="4244878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D9FA7950-5CF4-45A8-9CE6-DE850C64A7E0}"/>
              </a:ext>
            </a:extLst>
          </p:cNvPr>
          <p:cNvSpPr txBox="1">
            <a:spLocks/>
          </p:cNvSpPr>
          <p:nvPr/>
        </p:nvSpPr>
        <p:spPr>
          <a:xfrm>
            <a:off x="647700" y="2949672"/>
            <a:ext cx="8972550" cy="14794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/>
              <a:t>Selector</a:t>
            </a:r>
          </a:p>
          <a:p>
            <a:pPr lvl="1"/>
            <a:r>
              <a:rPr lang="ko-KR" altLang="en-US" sz="2000" dirty="0"/>
              <a:t>자식을 위에서부터 확인</a:t>
            </a:r>
            <a:endParaRPr lang="en-US" altLang="ko-KR" sz="1600" dirty="0"/>
          </a:p>
          <a:p>
            <a:pPr lvl="1"/>
            <a:r>
              <a:rPr lang="ko-KR" altLang="en-US" sz="2000" dirty="0"/>
              <a:t>성공하면 아래는 안 봄</a:t>
            </a:r>
            <a:endParaRPr lang="en-US" altLang="ko-KR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02D049-C70A-4DC6-AA3B-6E45C62ED628}"/>
              </a:ext>
            </a:extLst>
          </p:cNvPr>
          <p:cNvSpPr txBox="1"/>
          <p:nvPr/>
        </p:nvSpPr>
        <p:spPr>
          <a:xfrm>
            <a:off x="647700" y="487499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체력이 낮으면 공격 가능해도 도망간다.</a:t>
            </a:r>
          </a:p>
          <a:p>
            <a:r>
              <a:rPr lang="ko-KR" altLang="en-US" dirty="0"/>
              <a:t>왜냐하면 </a:t>
            </a:r>
            <a:r>
              <a:rPr lang="ko-KR" altLang="en-US" dirty="0" err="1"/>
              <a:t>Flee가</a:t>
            </a:r>
            <a:r>
              <a:rPr lang="ko-KR" altLang="en-US" dirty="0"/>
              <a:t> </a:t>
            </a:r>
            <a:r>
              <a:rPr lang="ko-KR" altLang="en-US" dirty="0" err="1"/>
              <a:t>Attack보다</a:t>
            </a:r>
            <a:r>
              <a:rPr lang="ko-KR" altLang="en-US" dirty="0"/>
              <a:t> 위에 있기 때문이다.    </a:t>
            </a:r>
            <a:r>
              <a:rPr lang="en-US" altLang="ko-KR" dirty="0"/>
              <a:t>-&gt;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7153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D8C378-95FE-4A11-953A-87C911A3E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706" y="314180"/>
            <a:ext cx="10515600" cy="733714"/>
          </a:xfrm>
        </p:spPr>
        <p:txBody>
          <a:bodyPr>
            <a:normAutofit/>
          </a:bodyPr>
          <a:lstStyle/>
          <a:p>
            <a:r>
              <a:rPr lang="ko-KR" altLang="en-US" sz="4000"/>
              <a:t>코드는 이런 느낌</a:t>
            </a:r>
            <a:endParaRPr lang="ko-KR" altLang="en-US" sz="4000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D0E45F6-2F98-403E-8900-EE9AB7520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8AD8367-6C4E-4D54-86C6-C1F77465A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86" y="1318472"/>
            <a:ext cx="5280414" cy="232886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06A45364-402A-4B49-81B0-AA3D19F55B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2923" y="1318472"/>
            <a:ext cx="6373091" cy="380542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0EBD9DB-EC32-44BB-BC85-796CF3CE8B45}"/>
              </a:ext>
            </a:extLst>
          </p:cNvPr>
          <p:cNvSpPr txBox="1"/>
          <p:nvPr/>
        </p:nvSpPr>
        <p:spPr>
          <a:xfrm>
            <a:off x="484909" y="4154487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SelectorNode</a:t>
            </a:r>
            <a:r>
              <a:rPr lang="ko-KR" altLang="en-US" dirty="0"/>
              <a:t>, </a:t>
            </a:r>
            <a:r>
              <a:rPr lang="ko-KR" altLang="en-US" dirty="0" err="1"/>
              <a:t>SequenceNode</a:t>
            </a:r>
            <a:r>
              <a:rPr lang="ko-KR" altLang="en-US" dirty="0"/>
              <a:t>:</a:t>
            </a:r>
          </a:p>
          <a:p>
            <a:r>
              <a:rPr lang="ko-KR" altLang="en-US" dirty="0"/>
              <a:t>자식을 여러 개 가진다.</a:t>
            </a:r>
          </a:p>
          <a:p>
            <a:endParaRPr lang="ko-KR" altLang="en-US" dirty="0"/>
          </a:p>
          <a:p>
            <a:r>
              <a:rPr lang="ko-KR" altLang="en-US" dirty="0" err="1"/>
              <a:t>ConditionNode</a:t>
            </a:r>
            <a:r>
              <a:rPr lang="ko-KR" altLang="en-US" dirty="0"/>
              <a:t>, </a:t>
            </a:r>
            <a:r>
              <a:rPr lang="ko-KR" altLang="en-US" dirty="0" err="1"/>
              <a:t>ActionNode</a:t>
            </a:r>
            <a:r>
              <a:rPr lang="ko-KR" altLang="en-US" dirty="0"/>
              <a:t>:</a:t>
            </a:r>
          </a:p>
          <a:p>
            <a:r>
              <a:rPr lang="ko-KR" altLang="en-US" dirty="0"/>
              <a:t>보통 자식이 없다.</a:t>
            </a:r>
          </a:p>
          <a:p>
            <a:endParaRPr lang="ko-KR" altLang="en-US" dirty="0"/>
          </a:p>
          <a:p>
            <a:r>
              <a:rPr lang="ko-KR" altLang="en-US" dirty="0" err="1"/>
              <a:t>unique_ptr</a:t>
            </a:r>
            <a:r>
              <a:rPr lang="ko-KR" altLang="en-US" dirty="0"/>
              <a:t>:</a:t>
            </a:r>
          </a:p>
          <a:p>
            <a:r>
              <a:rPr lang="ko-KR" altLang="en-US" dirty="0"/>
              <a:t>부모 노드가 자식 노드를 소유한다.</a:t>
            </a:r>
          </a:p>
        </p:txBody>
      </p:sp>
    </p:spTree>
    <p:extLst>
      <p:ext uri="{BB962C8B-B14F-4D97-AF65-F5344CB8AC3E}">
        <p14:creationId xmlns:p14="http://schemas.microsoft.com/office/powerpoint/2010/main" val="608002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D8C378-95FE-4A11-953A-87C911A3E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85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Condition </a:t>
            </a:r>
            <a:r>
              <a:rPr lang="ko-KR" altLang="en-US" sz="4000" dirty="0"/>
              <a:t>재사용 방식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8179D0-6416-4939-9907-B677FF860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395413"/>
            <a:ext cx="8972550" cy="1033462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객체를 공유하지 않고</a:t>
            </a:r>
            <a:r>
              <a:rPr lang="en-US" altLang="ko-KR" sz="2400" dirty="0"/>
              <a:t>, </a:t>
            </a:r>
            <a:r>
              <a:rPr lang="ko-KR" altLang="en-US" sz="2400" dirty="0"/>
              <a:t>로직을 재사용</a:t>
            </a:r>
            <a:endParaRPr lang="en-US" altLang="ko-KR" sz="20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7DA1F63-9090-47EE-9D7A-9645A2947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2138196"/>
            <a:ext cx="4851465" cy="172722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AB95DBD-915C-496E-8F90-C6D051E54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3998569"/>
            <a:ext cx="7110845" cy="232983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B82D002-2B55-44BC-988B-FC68F80679A8}"/>
              </a:ext>
            </a:extLst>
          </p:cNvPr>
          <p:cNvSpPr txBox="1"/>
          <p:nvPr/>
        </p:nvSpPr>
        <p:spPr>
          <a:xfrm>
            <a:off x="5778975" y="2562026"/>
            <a:ext cx="6096000" cy="748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dirty="0" err="1"/>
              <a:t>ConditionNode</a:t>
            </a:r>
            <a:r>
              <a:rPr lang="ko-KR" altLang="en-US" dirty="0"/>
              <a:t> 객체는 각각 따로 만든다.</a:t>
            </a:r>
          </a:p>
          <a:p>
            <a:pPr>
              <a:lnSpc>
                <a:spcPct val="125000"/>
              </a:lnSpc>
            </a:pPr>
            <a:r>
              <a:rPr lang="ko-KR" altLang="en-US" dirty="0"/>
              <a:t>하지만 내부에서 사용하는 조건 함수는 재사용할 수 있다.</a:t>
            </a:r>
          </a:p>
        </p:txBody>
      </p:sp>
    </p:spTree>
    <p:extLst>
      <p:ext uri="{BB962C8B-B14F-4D97-AF65-F5344CB8AC3E}">
        <p14:creationId xmlns:p14="http://schemas.microsoft.com/office/powerpoint/2010/main" val="2970724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D8C378-95FE-4A11-953A-87C911A3E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85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FSM</a:t>
            </a:r>
            <a:r>
              <a:rPr lang="ko-KR" altLang="en-US" sz="4000" dirty="0"/>
              <a:t>과 </a:t>
            </a:r>
            <a:r>
              <a:rPr lang="en-US" altLang="ko-KR" sz="4000" dirty="0"/>
              <a:t>BT</a:t>
            </a:r>
            <a:r>
              <a:rPr lang="ko-KR" altLang="en-US" sz="4000" dirty="0"/>
              <a:t>를 섞으면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D8BF48-BEFE-41B7-B309-C73BA4B00144}"/>
              </a:ext>
            </a:extLst>
          </p:cNvPr>
          <p:cNvSpPr txBox="1"/>
          <p:nvPr/>
        </p:nvSpPr>
        <p:spPr>
          <a:xfrm>
            <a:off x="4231341" y="1816661"/>
            <a:ext cx="5513294" cy="141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dirty="0" err="1"/>
              <a:t>FSM은</a:t>
            </a:r>
            <a:r>
              <a:rPr lang="ko-KR" altLang="en-US" sz="2000" dirty="0"/>
              <a:t> 전체 모드를 관리한다.</a:t>
            </a:r>
            <a:endParaRPr lang="en-US" altLang="ko-KR" sz="2000" dirty="0"/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dirty="0" err="1"/>
              <a:t>BT는</a:t>
            </a:r>
            <a:r>
              <a:rPr lang="ko-KR" altLang="en-US" sz="2000" dirty="0"/>
              <a:t> </a:t>
            </a:r>
            <a:r>
              <a:rPr lang="ko-KR" altLang="en-US" sz="2000" dirty="0" err="1"/>
              <a:t>Combat</a:t>
            </a:r>
            <a:r>
              <a:rPr lang="ko-KR" altLang="en-US" sz="2000" dirty="0"/>
              <a:t> 안에서 도망, 장전, 공격, 추적 같은 행동을 선택한다.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9BA348-7A30-4C26-A6FA-88BBABF85AD8}"/>
              </a:ext>
            </a:extLst>
          </p:cNvPr>
          <p:cNvSpPr txBox="1"/>
          <p:nvPr/>
        </p:nvSpPr>
        <p:spPr>
          <a:xfrm>
            <a:off x="4231341" y="3875787"/>
            <a:ext cx="6364941" cy="1787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dirty="0" err="1"/>
              <a:t>BT에</a:t>
            </a:r>
            <a:r>
              <a:rPr lang="ko-KR" altLang="en-US" dirty="0"/>
              <a:t> 넣을 행동:</a:t>
            </a:r>
          </a:p>
          <a:p>
            <a:pPr>
              <a:lnSpc>
                <a:spcPct val="125000"/>
              </a:lnSpc>
            </a:pPr>
            <a:r>
              <a:rPr lang="ko-KR" altLang="en-US" dirty="0"/>
              <a:t>매 프레임 다시 선택되어도 괜찮은 행동</a:t>
            </a:r>
          </a:p>
          <a:p>
            <a:pPr>
              <a:lnSpc>
                <a:spcPct val="125000"/>
              </a:lnSpc>
            </a:pPr>
            <a:endParaRPr lang="ko-KR" altLang="en-US" dirty="0"/>
          </a:p>
          <a:p>
            <a:pPr>
              <a:lnSpc>
                <a:spcPct val="125000"/>
              </a:lnSpc>
            </a:pPr>
            <a:r>
              <a:rPr lang="ko-KR" altLang="en-US" dirty="0" err="1"/>
              <a:t>FSM으로</a:t>
            </a:r>
            <a:r>
              <a:rPr lang="ko-KR" altLang="en-US" dirty="0"/>
              <a:t> 뺄 상태:</a:t>
            </a:r>
          </a:p>
          <a:p>
            <a:pPr>
              <a:lnSpc>
                <a:spcPct val="125000"/>
              </a:lnSpc>
            </a:pPr>
            <a:r>
              <a:rPr lang="ko-KR" altLang="en-US" dirty="0"/>
              <a:t>일정 시간 동안 AI 판단을 잠그고 유지해야 하는 모드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1218213-7368-456D-B920-2C3B9FF76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95413"/>
            <a:ext cx="2658035" cy="4857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8420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D8C378-95FE-4A11-953A-87C911A3E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894" y="177427"/>
            <a:ext cx="10515600" cy="898338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주의점이나 고려할 점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FAB1F94-D79C-49AB-BC8A-FBFC879B3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541" y="1201271"/>
            <a:ext cx="9238130" cy="5979459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45000"/>
              </a:lnSpc>
            </a:pPr>
            <a:r>
              <a:rPr lang="en-US" altLang="ko-KR" dirty="0"/>
              <a:t>1. </a:t>
            </a:r>
            <a:r>
              <a:rPr lang="ko-KR" altLang="en-US" dirty="0"/>
              <a:t>우선순위가 잘못되면 의도와 다른 행동을 한다</a:t>
            </a:r>
            <a:r>
              <a:rPr lang="en-US" altLang="ko-KR" dirty="0"/>
              <a:t>.</a:t>
            </a:r>
          </a:p>
          <a:p>
            <a:pPr lvl="1">
              <a:lnSpc>
                <a:spcPct val="145000"/>
              </a:lnSpc>
            </a:pPr>
            <a:r>
              <a:rPr lang="ko-KR" altLang="en-US" dirty="0"/>
              <a:t>예</a:t>
            </a:r>
            <a:r>
              <a:rPr lang="en-US" altLang="ko-KR" dirty="0"/>
              <a:t>: Reload</a:t>
            </a:r>
            <a:r>
              <a:rPr lang="ko-KR" altLang="en-US" dirty="0"/>
              <a:t>가 </a:t>
            </a:r>
            <a:r>
              <a:rPr lang="en-US" altLang="ko-KR" dirty="0"/>
              <a:t>Flee</a:t>
            </a:r>
            <a:r>
              <a:rPr lang="ko-KR" altLang="en-US" dirty="0"/>
              <a:t>보다 위에 있으면 위험한 상황에서도 장전할 수 있다</a:t>
            </a:r>
            <a:r>
              <a:rPr lang="en-US" altLang="ko-KR" dirty="0"/>
              <a:t>.</a:t>
            </a:r>
          </a:p>
          <a:p>
            <a:pPr>
              <a:lnSpc>
                <a:spcPct val="145000"/>
              </a:lnSpc>
            </a:pPr>
            <a:endParaRPr lang="en-US" altLang="ko-KR" dirty="0"/>
          </a:p>
          <a:p>
            <a:pPr>
              <a:lnSpc>
                <a:spcPct val="145000"/>
              </a:lnSpc>
            </a:pPr>
            <a:r>
              <a:rPr lang="en-US" altLang="ko-KR" dirty="0"/>
              <a:t>2. </a:t>
            </a:r>
            <a:r>
              <a:rPr lang="ko-KR" altLang="en-US" dirty="0"/>
              <a:t>트리가 커지면 구조 자체가 복잡해질 수 있다</a:t>
            </a:r>
            <a:r>
              <a:rPr lang="en-US" altLang="ko-KR" dirty="0"/>
              <a:t>.</a:t>
            </a:r>
          </a:p>
          <a:p>
            <a:pPr lvl="1">
              <a:lnSpc>
                <a:spcPct val="145000"/>
              </a:lnSpc>
            </a:pPr>
            <a:r>
              <a:rPr lang="ko-KR" altLang="en-US" dirty="0"/>
              <a:t>이름</a:t>
            </a:r>
            <a:r>
              <a:rPr lang="en-US" altLang="ko-KR" dirty="0"/>
              <a:t>, </a:t>
            </a:r>
            <a:r>
              <a:rPr lang="ko-KR" altLang="en-US" dirty="0"/>
              <a:t>계층</a:t>
            </a:r>
            <a:r>
              <a:rPr lang="en-US" altLang="ko-KR" dirty="0"/>
              <a:t>, </a:t>
            </a:r>
            <a:r>
              <a:rPr lang="ko-KR" altLang="en-US" dirty="0"/>
              <a:t>주석</a:t>
            </a:r>
            <a:r>
              <a:rPr lang="en-US" altLang="ko-KR" dirty="0"/>
              <a:t>, </a:t>
            </a:r>
            <a:r>
              <a:rPr lang="ko-KR" altLang="en-US" dirty="0"/>
              <a:t>디버깅 도구가 중요하다</a:t>
            </a:r>
            <a:r>
              <a:rPr lang="en-US" altLang="ko-KR" dirty="0"/>
              <a:t>.</a:t>
            </a:r>
          </a:p>
          <a:p>
            <a:pPr>
              <a:lnSpc>
                <a:spcPct val="145000"/>
              </a:lnSpc>
            </a:pPr>
            <a:endParaRPr lang="en-US" altLang="ko-KR" dirty="0"/>
          </a:p>
          <a:p>
            <a:pPr>
              <a:lnSpc>
                <a:spcPct val="145000"/>
              </a:lnSpc>
            </a:pPr>
            <a:r>
              <a:rPr lang="en-US" altLang="ko-KR" dirty="0"/>
              <a:t>3. Running </a:t>
            </a:r>
            <a:r>
              <a:rPr lang="ko-KR" altLang="en-US" dirty="0"/>
              <a:t>상태 관리가 필요하다</a:t>
            </a:r>
            <a:r>
              <a:rPr lang="en-US" altLang="ko-KR" dirty="0"/>
              <a:t>. </a:t>
            </a:r>
          </a:p>
          <a:p>
            <a:pPr lvl="1">
              <a:lnSpc>
                <a:spcPct val="145000"/>
              </a:lnSpc>
            </a:pPr>
            <a:r>
              <a:rPr lang="ko-KR" altLang="en-US" dirty="0"/>
              <a:t>이동</a:t>
            </a:r>
            <a:r>
              <a:rPr lang="en-US" altLang="ko-KR" dirty="0"/>
              <a:t>, </a:t>
            </a:r>
            <a:r>
              <a:rPr lang="ko-KR" altLang="en-US" dirty="0"/>
              <a:t>대기</a:t>
            </a:r>
            <a:r>
              <a:rPr lang="en-US" altLang="ko-KR" dirty="0"/>
              <a:t>, </a:t>
            </a:r>
            <a:r>
              <a:rPr lang="ko-KR" altLang="en-US" dirty="0"/>
              <a:t>애니메이션처럼 여러 프레임에 걸친 행동은 </a:t>
            </a:r>
            <a:r>
              <a:rPr lang="en-US" altLang="ko-KR" dirty="0"/>
              <a:t>reset</a:t>
            </a:r>
            <a:r>
              <a:rPr lang="ko-KR" altLang="en-US" dirty="0"/>
              <a:t>과 중단 처리를 신경 써야 한다</a:t>
            </a:r>
            <a:r>
              <a:rPr lang="en-US" altLang="ko-KR" dirty="0"/>
              <a:t>.</a:t>
            </a:r>
          </a:p>
          <a:p>
            <a:pPr>
              <a:lnSpc>
                <a:spcPct val="145000"/>
              </a:lnSpc>
            </a:pPr>
            <a:endParaRPr lang="en-US" altLang="ko-KR" dirty="0"/>
          </a:p>
          <a:p>
            <a:pPr>
              <a:lnSpc>
                <a:spcPct val="145000"/>
              </a:lnSpc>
            </a:pPr>
            <a:r>
              <a:rPr lang="en-US" altLang="ko-KR" dirty="0"/>
              <a:t>4. </a:t>
            </a:r>
            <a:r>
              <a:rPr lang="ko-KR" altLang="en-US" dirty="0"/>
              <a:t>모든 걸 </a:t>
            </a:r>
            <a:r>
              <a:rPr lang="en-US" altLang="ko-KR" dirty="0"/>
              <a:t>BT</a:t>
            </a:r>
            <a:r>
              <a:rPr lang="ko-KR" altLang="en-US" dirty="0"/>
              <a:t>로 넣으면 오히려 부자연스럽다</a:t>
            </a:r>
            <a:r>
              <a:rPr lang="en-US" altLang="ko-KR" dirty="0"/>
              <a:t>. 	</a:t>
            </a:r>
          </a:p>
          <a:p>
            <a:pPr lvl="1">
              <a:lnSpc>
                <a:spcPct val="145000"/>
              </a:lnSpc>
            </a:pPr>
            <a:r>
              <a:rPr lang="en-US" altLang="ko-KR" dirty="0"/>
              <a:t>Dead, Stunned, Dialogue, Cutscene </a:t>
            </a:r>
            <a:r>
              <a:rPr lang="ko-KR" altLang="en-US" dirty="0"/>
              <a:t>같은 큰 모드는 </a:t>
            </a:r>
            <a:r>
              <a:rPr lang="en-US" altLang="ko-KR" dirty="0"/>
              <a:t>FSM</a:t>
            </a:r>
            <a:r>
              <a:rPr lang="ko-KR" altLang="en-US" dirty="0"/>
              <a:t>이 더 적합하다</a:t>
            </a:r>
            <a:r>
              <a:rPr lang="en-US" altLang="ko-KR" dirty="0"/>
              <a:t>.</a:t>
            </a:r>
          </a:p>
          <a:p>
            <a:pPr>
              <a:lnSpc>
                <a:spcPct val="145000"/>
              </a:lnSpc>
            </a:pPr>
            <a:endParaRPr lang="en-US" altLang="ko-KR" dirty="0"/>
          </a:p>
          <a:p>
            <a:pPr>
              <a:lnSpc>
                <a:spcPct val="145000"/>
              </a:lnSpc>
            </a:pPr>
            <a:r>
              <a:rPr lang="en-US" altLang="ko-KR" dirty="0"/>
              <a:t>5. </a:t>
            </a:r>
            <a:r>
              <a:rPr lang="ko-KR" altLang="en-US" dirty="0"/>
              <a:t>노드 객체 공유는 조심해야 한다</a:t>
            </a:r>
            <a:r>
              <a:rPr lang="en-US" altLang="ko-KR" dirty="0"/>
              <a:t>.</a:t>
            </a:r>
          </a:p>
          <a:p>
            <a:pPr lvl="1">
              <a:lnSpc>
                <a:spcPct val="145000"/>
              </a:lnSpc>
            </a:pPr>
            <a:r>
              <a:rPr lang="ko-KR" altLang="en-US" dirty="0"/>
              <a:t>같은 조건 로직은 재사용해도</a:t>
            </a:r>
            <a:r>
              <a:rPr lang="en-US" altLang="ko-KR" dirty="0"/>
              <a:t>, </a:t>
            </a:r>
            <a:r>
              <a:rPr lang="ko-KR" altLang="en-US" dirty="0"/>
              <a:t>상태를 가진 노드 객체는 여러 위치에서 공유하지 않는 편이 안전하다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38579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435</Words>
  <Application>Microsoft Office PowerPoint</Application>
  <PresentationFormat>와이드스크린</PresentationFormat>
  <Paragraphs>93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Arial</vt:lpstr>
      <vt:lpstr>맑은 고딕</vt:lpstr>
      <vt:lpstr>Office 테마</vt:lpstr>
      <vt:lpstr>FSM과 BT</vt:lpstr>
      <vt:lpstr>FSM이란</vt:lpstr>
      <vt:lpstr>PowerPoint 프레젠테이션</vt:lpstr>
      <vt:lpstr>겪은 문제점</vt:lpstr>
      <vt:lpstr>FSM or BT</vt:lpstr>
      <vt:lpstr>BT는 노드로 구성되어 있습니다</vt:lpstr>
      <vt:lpstr>Sequence는 조건 조합, Selector는 우선순위</vt:lpstr>
      <vt:lpstr>코드는 이런 느낌</vt:lpstr>
      <vt:lpstr>Condition 재사용 방식</vt:lpstr>
      <vt:lpstr>FSM과 BT를 섞으면</vt:lpstr>
      <vt:lpstr>주의점이나 고려할 점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FSM과 BT</dc:title>
  <dc:creator>기현 김</dc:creator>
  <cp:lastModifiedBy>기현 김</cp:lastModifiedBy>
  <cp:revision>6</cp:revision>
  <dcterms:created xsi:type="dcterms:W3CDTF">2026-09-15T03:52:09Z</dcterms:created>
  <dcterms:modified xsi:type="dcterms:W3CDTF">2026-09-15T04:55:37Z</dcterms:modified>
</cp:coreProperties>
</file>