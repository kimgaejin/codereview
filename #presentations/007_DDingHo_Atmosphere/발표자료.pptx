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3" r:id="rId13"/>
  </p:sldIdLst>
  <p:sldSz cx="12192000" cy="6858000"/>
  <p:notesSz cx="6858000" cy="9144000"/>
  <p:embeddedFontLst>
    <p:embeddedFont>
      <p:font typeface="Pretendard" panose="02000503000000020004" pitchFamily="2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459" autoAdjust="0"/>
  </p:normalViewPr>
  <p:slideViewPr>
    <p:cSldViewPr snapToGrid="0">
      <p:cViewPr varScale="1">
        <p:scale>
          <a:sx n="101" d="100"/>
          <a:sy n="101" d="100"/>
        </p:scale>
        <p:origin x="13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낮</c:v>
          </c:tx>
          <c:spPr>
            <a:ln w="28575">
              <a:solidFill>
                <a:srgbClr val="3D8DFF"/>
              </a:solidFill>
            </a:ln>
          </c:spPr>
          <c:marker>
            <c:symbol val="none"/>
          </c:marker>
          <c:xVal>
            <c:numRef>
              <c:f>'Chart Data'!$A$2:$A$27</c:f>
              <c:numCache>
                <c:formatCode>General</c:formatCode>
                <c:ptCount val="26"/>
                <c:pt idx="0">
                  <c:v>-0.2</c:v>
                </c:pt>
                <c:pt idx="1">
                  <c:v>-0.18</c:v>
                </c:pt>
                <c:pt idx="2">
                  <c:v>-0.16</c:v>
                </c:pt>
                <c:pt idx="3">
                  <c:v>-0.14000000000000001</c:v>
                </c:pt>
                <c:pt idx="4">
                  <c:v>-0.12</c:v>
                </c:pt>
                <c:pt idx="5">
                  <c:v>-0.1</c:v>
                </c:pt>
                <c:pt idx="6">
                  <c:v>-0.08</c:v>
                </c:pt>
                <c:pt idx="7">
                  <c:v>-0.06</c:v>
                </c:pt>
                <c:pt idx="8">
                  <c:v>-0.04</c:v>
                </c:pt>
                <c:pt idx="9">
                  <c:v>-0.02</c:v>
                </c:pt>
                <c:pt idx="10">
                  <c:v>0</c:v>
                </c:pt>
                <c:pt idx="11">
                  <c:v>0.02</c:v>
                </c:pt>
                <c:pt idx="12">
                  <c:v>0.04</c:v>
                </c:pt>
                <c:pt idx="13">
                  <c:v>0.06</c:v>
                </c:pt>
                <c:pt idx="14">
                  <c:v>0.08</c:v>
                </c:pt>
                <c:pt idx="15">
                  <c:v>0.1</c:v>
                </c:pt>
                <c:pt idx="16">
                  <c:v>0.12</c:v>
                </c:pt>
                <c:pt idx="17">
                  <c:v>0.14000000000000001</c:v>
                </c:pt>
                <c:pt idx="18">
                  <c:v>0.16</c:v>
                </c:pt>
                <c:pt idx="19">
                  <c:v>0.18</c:v>
                </c:pt>
                <c:pt idx="20">
                  <c:v>0.2</c:v>
                </c:pt>
                <c:pt idx="21">
                  <c:v>0.22</c:v>
                </c:pt>
                <c:pt idx="22">
                  <c:v>0.24</c:v>
                </c:pt>
                <c:pt idx="23">
                  <c:v>0.26</c:v>
                </c:pt>
                <c:pt idx="24">
                  <c:v>0.28000000000000003</c:v>
                </c:pt>
                <c:pt idx="25">
                  <c:v>0.3</c:v>
                </c:pt>
              </c:numCache>
            </c:numRef>
          </c:xVal>
          <c:yVal>
            <c:numRef>
              <c:f>'Chart Data'!$B$2:$B$27</c:f>
              <c:numCache>
                <c:formatCode>0%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2.3832917200000001E-2</c:v>
                </c:pt>
                <c:pt idx="12">
                  <c:v>9.4685399000000003E-2</c:v>
                </c:pt>
                <c:pt idx="13">
                  <c:v>0.21459523329999999</c:v>
                </c:pt>
                <c:pt idx="14">
                  <c:v>0.38051375069999999</c:v>
                </c:pt>
                <c:pt idx="15">
                  <c:v>0.57247911340000002</c:v>
                </c:pt>
                <c:pt idx="16">
                  <c:v>0.75268558210000003</c:v>
                </c:pt>
                <c:pt idx="17">
                  <c:v>0.88564575479999996</c:v>
                </c:pt>
                <c:pt idx="18">
                  <c:v>0.96082145630000004</c:v>
                </c:pt>
                <c:pt idx="19">
                  <c:v>0.99174792919999999</c:v>
                </c:pt>
                <c:pt idx="20">
                  <c:v>0.99944491329999996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4E5-4D62-AA8B-07C9C16F019D}"/>
            </c:ext>
          </c:extLst>
        </c:ser>
        <c:ser>
          <c:idx val="1"/>
          <c:order val="1"/>
          <c:tx>
            <c:v>노을</c:v>
          </c:tx>
          <c:spPr>
            <a:ln w="28575">
              <a:solidFill>
                <a:srgbClr val="E7A235"/>
              </a:solidFill>
            </a:ln>
          </c:spPr>
          <c:marker>
            <c:symbol val="none"/>
          </c:marker>
          <c:xVal>
            <c:numRef>
              <c:f>'Chart Data'!$C$2:$C$27</c:f>
              <c:numCache>
                <c:formatCode>General</c:formatCode>
                <c:ptCount val="26"/>
                <c:pt idx="0">
                  <c:v>-0.2</c:v>
                </c:pt>
                <c:pt idx="1">
                  <c:v>-0.18</c:v>
                </c:pt>
                <c:pt idx="2">
                  <c:v>-0.16</c:v>
                </c:pt>
                <c:pt idx="3">
                  <c:v>-0.14000000000000001</c:v>
                </c:pt>
                <c:pt idx="4">
                  <c:v>-0.12</c:v>
                </c:pt>
                <c:pt idx="5">
                  <c:v>-0.1</c:v>
                </c:pt>
                <c:pt idx="6">
                  <c:v>-0.08</c:v>
                </c:pt>
                <c:pt idx="7">
                  <c:v>-0.06</c:v>
                </c:pt>
                <c:pt idx="8">
                  <c:v>-0.04</c:v>
                </c:pt>
                <c:pt idx="9">
                  <c:v>-0.02</c:v>
                </c:pt>
                <c:pt idx="10">
                  <c:v>0</c:v>
                </c:pt>
                <c:pt idx="11">
                  <c:v>0.02</c:v>
                </c:pt>
                <c:pt idx="12">
                  <c:v>0.04</c:v>
                </c:pt>
                <c:pt idx="13">
                  <c:v>0.06</c:v>
                </c:pt>
                <c:pt idx="14">
                  <c:v>0.08</c:v>
                </c:pt>
                <c:pt idx="15">
                  <c:v>0.1</c:v>
                </c:pt>
                <c:pt idx="16">
                  <c:v>0.12</c:v>
                </c:pt>
                <c:pt idx="17">
                  <c:v>0.14000000000000001</c:v>
                </c:pt>
                <c:pt idx="18">
                  <c:v>0.16</c:v>
                </c:pt>
                <c:pt idx="19">
                  <c:v>0.18</c:v>
                </c:pt>
                <c:pt idx="20">
                  <c:v>0.2</c:v>
                </c:pt>
                <c:pt idx="21">
                  <c:v>0.22</c:v>
                </c:pt>
                <c:pt idx="22">
                  <c:v>0.24</c:v>
                </c:pt>
                <c:pt idx="23">
                  <c:v>0.26</c:v>
                </c:pt>
                <c:pt idx="24">
                  <c:v>0.28000000000000003</c:v>
                </c:pt>
                <c:pt idx="25">
                  <c:v>0.3</c:v>
                </c:pt>
              </c:numCache>
            </c:numRef>
          </c:xVal>
          <c:yVal>
            <c:numRef>
              <c:f>'Chart Data'!$D$2:$D$27</c:f>
              <c:numCache>
                <c:formatCode>0%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3.8633523000000001E-3</c:v>
                </c:pt>
                <c:pt idx="4">
                  <c:v>4.7749238200000002E-2</c:v>
                </c:pt>
                <c:pt idx="5">
                  <c:v>0.16583103530000001</c:v>
                </c:pt>
                <c:pt idx="6">
                  <c:v>0.36405712410000002</c:v>
                </c:pt>
                <c:pt idx="7">
                  <c:v>0.60076895809999997</c:v>
                </c:pt>
                <c:pt idx="8">
                  <c:v>0.8110108251</c:v>
                </c:pt>
                <c:pt idx="9">
                  <c:v>0.95030624340000003</c:v>
                </c:pt>
                <c:pt idx="10">
                  <c:v>1</c:v>
                </c:pt>
                <c:pt idx="11">
                  <c:v>0.97616708279999997</c:v>
                </c:pt>
                <c:pt idx="12">
                  <c:v>0.90531460100000005</c:v>
                </c:pt>
                <c:pt idx="13">
                  <c:v>0.78540476670000003</c:v>
                </c:pt>
                <c:pt idx="14">
                  <c:v>0.61948624929999996</c:v>
                </c:pt>
                <c:pt idx="15">
                  <c:v>0.42752088659999998</c:v>
                </c:pt>
                <c:pt idx="16">
                  <c:v>0.2473144179</c:v>
                </c:pt>
                <c:pt idx="17">
                  <c:v>0.1143542452</c:v>
                </c:pt>
                <c:pt idx="18">
                  <c:v>3.9178543699999999E-2</c:v>
                </c:pt>
                <c:pt idx="19">
                  <c:v>8.2520708000000005E-3</c:v>
                </c:pt>
                <c:pt idx="20">
                  <c:v>5.5508670000000001E-4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4E5-4D62-AA8B-07C9C16F019D}"/>
            </c:ext>
          </c:extLst>
        </c:ser>
        <c:ser>
          <c:idx val="2"/>
          <c:order val="2"/>
          <c:tx>
            <c:v>밤</c:v>
          </c:tx>
          <c:spPr>
            <a:ln w="28575">
              <a:solidFill>
                <a:srgbClr val="00264F"/>
              </a:solidFill>
            </a:ln>
          </c:spPr>
          <c:marker>
            <c:symbol val="none"/>
          </c:marker>
          <c:xVal>
            <c:numRef>
              <c:f>'Chart Data'!$E$2:$E$27</c:f>
              <c:numCache>
                <c:formatCode>General</c:formatCode>
                <c:ptCount val="26"/>
                <c:pt idx="0">
                  <c:v>-0.2</c:v>
                </c:pt>
                <c:pt idx="1">
                  <c:v>-0.18</c:v>
                </c:pt>
                <c:pt idx="2">
                  <c:v>-0.16</c:v>
                </c:pt>
                <c:pt idx="3">
                  <c:v>-0.14000000000000001</c:v>
                </c:pt>
                <c:pt idx="4">
                  <c:v>-0.12</c:v>
                </c:pt>
                <c:pt idx="5">
                  <c:v>-0.1</c:v>
                </c:pt>
                <c:pt idx="6">
                  <c:v>-0.08</c:v>
                </c:pt>
                <c:pt idx="7">
                  <c:v>-0.06</c:v>
                </c:pt>
                <c:pt idx="8">
                  <c:v>-0.04</c:v>
                </c:pt>
                <c:pt idx="9">
                  <c:v>-0.02</c:v>
                </c:pt>
                <c:pt idx="10">
                  <c:v>0</c:v>
                </c:pt>
                <c:pt idx="11">
                  <c:v>0.02</c:v>
                </c:pt>
                <c:pt idx="12">
                  <c:v>0.04</c:v>
                </c:pt>
                <c:pt idx="13">
                  <c:v>0.06</c:v>
                </c:pt>
                <c:pt idx="14">
                  <c:v>0.08</c:v>
                </c:pt>
                <c:pt idx="15">
                  <c:v>0.1</c:v>
                </c:pt>
                <c:pt idx="16">
                  <c:v>0.12</c:v>
                </c:pt>
                <c:pt idx="17">
                  <c:v>0.14000000000000001</c:v>
                </c:pt>
                <c:pt idx="18">
                  <c:v>0.16</c:v>
                </c:pt>
                <c:pt idx="19">
                  <c:v>0.18</c:v>
                </c:pt>
                <c:pt idx="20">
                  <c:v>0.2</c:v>
                </c:pt>
                <c:pt idx="21">
                  <c:v>0.22</c:v>
                </c:pt>
                <c:pt idx="22">
                  <c:v>0.24</c:v>
                </c:pt>
                <c:pt idx="23">
                  <c:v>0.26</c:v>
                </c:pt>
                <c:pt idx="24">
                  <c:v>0.28000000000000003</c:v>
                </c:pt>
                <c:pt idx="25">
                  <c:v>0.3</c:v>
                </c:pt>
              </c:numCache>
            </c:numRef>
          </c:xVal>
          <c:yVal>
            <c:numRef>
              <c:f>'Chart Data'!$F$2:$F$27</c:f>
              <c:numCache>
                <c:formatCode>0%</c:formatCode>
                <c:ptCount val="2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0.99613664769999999</c:v>
                </c:pt>
                <c:pt idx="4">
                  <c:v>0.95225076180000001</c:v>
                </c:pt>
                <c:pt idx="5">
                  <c:v>0.83416896470000002</c:v>
                </c:pt>
                <c:pt idx="6">
                  <c:v>0.63594287589999998</c:v>
                </c:pt>
                <c:pt idx="7">
                  <c:v>0.39923104190000003</c:v>
                </c:pt>
                <c:pt idx="8">
                  <c:v>0.1889891749</c:v>
                </c:pt>
                <c:pt idx="9">
                  <c:v>4.96937566E-2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4E5-4D62-AA8B-07C9C16F01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endParaRPr lang="ko-KR"/>
          </a:p>
        </c:txPr>
        <c:crossAx val="48650112"/>
        <c:crosses val="autoZero"/>
        <c:crossBetween val="midCat"/>
        <c:majorUnit val="0.25"/>
      </c:valAx>
      <c:valAx>
        <c:axId val="48650112"/>
        <c:scaling>
          <c:orientation val="minMax"/>
          <c:max val="0.3"/>
          <c:min val="-0.2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500">
                    <a:solidFill>
                      <a:srgbClr val="000000"/>
                    </a:solidFill>
                    <a:latin typeface="Pretendard"/>
                    <a:ea typeface="Pretendard"/>
                    <a:cs typeface="Pretendard"/>
                  </a:rPr>
                  <a:t>태양 높이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77777"/>
            </a:solidFill>
          </a:ln>
        </c:spPr>
        <c:txPr>
          <a:bodyPr anchorCtr="1"/>
          <a:lstStyle/>
          <a:p>
            <a:pPr>
              <a:defRPr sz="13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endParaRPr lang="ko-KR"/>
          </a:p>
        </c:txPr>
        <c:crossAx val="48672768"/>
        <c:crosses val="autoZero"/>
        <c:crossBetween val="midCat"/>
        <c:majorUnit val="0.1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1500">
              <a:solidFill>
                <a:srgbClr val="000000"/>
              </a:solidFill>
              <a:latin typeface="Pretendard"/>
              <a:ea typeface="Pretendard"/>
              <a:cs typeface="Pretendard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2120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9650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5271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Pretendard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Pretendard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>
        <a:buNone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72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SkyAtmosphere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742208"/>
            <a:ext cx="5702301" cy="1080246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방향광과</a:t>
            </a:r>
            <a:r>
              <a:rPr sz="1800" b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연동한</a:t>
            </a:r>
            <a:r>
              <a:rPr sz="1800" b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절차적</a:t>
            </a:r>
            <a:r>
              <a:rPr sz="1800" b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하늘</a:t>
            </a:r>
            <a:r>
              <a:rPr sz="1800" b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렌더링</a:t>
            </a:r>
            <a:endParaRPr sz="180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DirectX 11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5702300" cy="649159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endParaRPr sz="180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975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프로젝트의 기본 색과 가중치를 이용한 개념 예시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03</a:t>
            </a:r>
            <a:endParaRPr sz="105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wrap="square" lIns="0" tIns="0" rIns="0" bIns="0" anchor="t">
            <a:no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태양 높이에 따른 하늘 변화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93668" y="1200150"/>
            <a:ext cx="11404568" cy="4989499"/>
          </a:xfrm>
          <a:prstGeom prst="rect">
            <a:avLst/>
          </a:prstGeom>
        </p:spPr>
      </p:pic>
      <p:pic>
        <p:nvPicPr>
          <p:cNvPr id="2" name="SkyAtmosphere linear sun height" descr="18-second conceptual animation. SunHeight increases linearly from -0.30 to +0.30.">
            <a:hlinkClick r:id="" action="ppaction://media"/>
            <a:extLst>
              <a:ext uri="{FF2B5EF4-FFF2-40B4-BE49-F238E27FC236}">
                <a16:creationId xmlns:a16="http://schemas.microsoft.com/office/drawing/2014/main" id="{7BC64247-6868-4540-B6C2-BCC30ECF8BF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3668" y="1200151"/>
            <a:ext cx="11404568" cy="498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0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SkyAtmosphereComponent.cpp / SkyRenderPass.cpp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04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전체 구현 흐름</a:t>
            </a:r>
          </a:p>
        </p:txBody>
      </p:sp>
      <p:cxnSp>
        <p:nvCxnSpPr>
          <p:cNvPr id="24" name="Google Shape;2259;p159"/>
          <p:cNvCxnSpPr>
            <a:stCxn id="3" idx="2"/>
          </p:cNvCxnSpPr>
          <p:nvPr/>
        </p:nvCxnSpPr>
        <p:spPr>
          <a:xfrm>
            <a:off x="337718" y="3373753"/>
            <a:ext cx="11460000" cy="3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3D8DFF"/>
                </a:solidFill>
                <a:latin typeface="Pretendard"/>
                <a:ea typeface="Pretendard"/>
                <a:cs typeface="Pretendard"/>
              </a:rPr>
              <a:t>CPU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3D8DFF"/>
                </a:solidFill>
                <a:latin typeface="Pretendard"/>
                <a:ea typeface="Pretendard"/>
                <a:cs typeface="Pretendard"/>
              </a:rPr>
              <a:t>렌더 명령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3D8DFF"/>
                </a:solidFill>
                <a:latin typeface="Pretendard"/>
                <a:ea typeface="Pretendard"/>
                <a:cs typeface="Pretendard"/>
              </a:rPr>
              <a:t>GPU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noGrp="1"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상수 전달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RenderCollector가 수집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FSkyConstants를 GPU에 전달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noGrp="1"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하늘 상태 계산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태양 높이와 상태 비율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색과 밝기를 FSkyState에 저장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noGrp="1"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픽셀 색 계산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SkyRenderPass가 Draw(3, 0)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SkyPass.hlsl이 하늘을 표현</a:t>
            </a:r>
          </a:p>
        </p:txBody>
      </p:sp>
      <p:sp>
        <p:nvSpPr>
          <p:cNvPr id="20" name="scope">
            <a:extLst>
              <a:ext uri="{FF2B5EF4-FFF2-40B4-BE49-F238E27FC236}">
                <a16:creationId xmlns:a16="http://schemas.microsoft.com/office/drawing/2014/main" id="{5F68853B-251A-465D-9DAD-31A4E876DD92}"/>
              </a:ext>
            </a:extLst>
          </p:cNvPr>
          <p:cNvSpPr>
            <a:spLocks noGrp="1"/>
          </p:cNvSpPr>
          <p:nvPr/>
        </p:nvSpPr>
        <p:spPr>
          <a:xfrm>
            <a:off x="393668" y="1619250"/>
            <a:ext cx="114014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방향광의 회전이 하늘 상태를 결정합니다</a:t>
            </a:r>
          </a:p>
        </p:txBody>
      </p:sp>
    </p:spTree>
    <p:extLst>
      <p:ext uri="{BB962C8B-B14F-4D97-AF65-F5344CB8AC3E}">
        <p14:creationId xmlns:p14="http://schemas.microsoft.com/office/powerpoint/2010/main" val="3471332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SkyAtmosphereComponent.cpp:215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05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태양 높이 계산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핵심식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L = normalize(-ForwardVector)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 = dot(L, float3(0, 0, 1))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SunHeight = clamp(h, -1, 1)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높이는 방향으로 구합니다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 = 1     태양이 머리 위에 있음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 = 0     태양이 지평선에 있음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 = -1    태양이 아래쪽에 있음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빛의 진행 방향을 반대로 뒤집어</a:t>
            </a:r>
            <a:b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</a:b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관찰자가 태양을 보는 방향을 구합니다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SkyAtmosphereComponent.cpp:220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06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낮·노을·밤의 비율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noGrp="1"/>
          </p:cNvSpPr>
          <p:nvPr/>
        </p:nvSpPr>
        <p:spPr>
          <a:xfrm>
            <a:off x="6271986" y="3360085"/>
            <a:ext cx="2581975" cy="2656541"/>
          </a:xfrm>
          <a:prstGeom prst="roundRect">
            <a:avLst>
              <a:gd name="adj" fmla="val 608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noGrp="1"/>
          </p:cNvSpPr>
          <p:nvPr/>
        </p:nvSpPr>
        <p:spPr>
          <a:xfrm>
            <a:off x="6509338" y="3579974"/>
            <a:ext cx="2133315" cy="1155819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49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49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0.22</a:t>
            </a: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noGrp="1"/>
          </p:cNvSpPr>
          <p:nvPr/>
        </p:nvSpPr>
        <p:spPr>
          <a:xfrm>
            <a:off x="6575956" y="5068235"/>
            <a:ext cx="2066698" cy="61595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TwilightRange
낮 전환의 상한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noGrp="1"/>
          </p:cNvSpPr>
          <p:nvPr/>
        </p:nvSpPr>
        <p:spPr>
          <a:xfrm>
            <a:off x="9224191" y="3360085"/>
            <a:ext cx="2581975" cy="2656541"/>
          </a:xfrm>
          <a:prstGeom prst="roundRect">
            <a:avLst>
              <a:gd name="adj" fmla="val 49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noGrp="1"/>
          </p:cNvSpPr>
          <p:nvPr/>
        </p:nvSpPr>
        <p:spPr>
          <a:xfrm>
            <a:off x="9461543" y="3579974"/>
            <a:ext cx="2133315" cy="1155819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49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49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-0.15</a:t>
            </a: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noGrp="1"/>
          </p:cNvSpPr>
          <p:nvPr/>
        </p:nvSpPr>
        <p:spPr>
          <a:xfrm>
            <a:off x="9528161" y="5068235"/>
            <a:ext cx="2066698" cy="61595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NightStartHeight
완전한 밤의 경계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noGrp="1"/>
          </p:cNvSpPr>
          <p:nvPr/>
        </p:nvSpPr>
        <p:spPr>
          <a:xfrm>
            <a:off x="6261100" y="1955554"/>
            <a:ext cx="5539873" cy="990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SmoothStep으로 경계를 부드럽게 연결하고</a:t>
            </a:r>
            <a:b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</a:b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 비율의 합을 1로 정규화합니다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="385858" y="1254728"/>
          <a:ext cx="5534216" cy="5024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SkyAtmosphereComponent.cpp:241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07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상태별 색과 밝기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noGrp="1"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색은 가중합으로 섞고, 밝기는 상태별 배율을 적용합니다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최종 색 = 낮 색 × 낮 비율 + 노을 색 × 노을 비율 + 밤 색 × 밤 비율</a:t>
            </a:r>
          </a:p>
        </p:txBody>
      </p:sp>
      <p:graphicFrame>
        <p:nvGraphicFramePr>
          <p:cNvPr id="539" name="Google Shape;644;p93"/>
          <p:cNvGraphicFramePr/>
          <p:nvPr/>
        </p:nvGraphicFramePr>
        <p:xfrm>
          <a:off x="393700" y="2251080"/>
          <a:ext cx="11404568" cy="3932614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022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계산 항목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낮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노을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밤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적용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천정색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#1C4594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1C45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#472957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4729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#03050F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305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머리 위쪽 하늘색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지평선색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#ADD1F2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ADD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#FA8F47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A8F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#0D142E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D14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수평 방향의 기준색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태양 기본색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#FFF2D6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2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#FF9E52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9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#94A8D1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4A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방향광의 색을 추가로 곱함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주변광 세기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0.72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0.25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저장한 초기 세기에 곱함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안개 밀도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0.75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1.15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 밀도에 곱함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태양 원반 밝기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0.90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0.12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설정 밝기와 광원 세기도 반영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후광 밝기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0.45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1.20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0.08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설정 밝기와 광원 세기도 반영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별 밝기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0.00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75" b="0">
                          <a:solidFill>
                            <a:srgbClr val="000000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StarsIntensity에 곱함</a:t>
                      </a:r>
                    </a:p>
                  </a:txBody>
                  <a:tcPr marL="0" marR="0" marT="19050" marB="19050" anchor="ctr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RenderCollector.cpp:891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08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CPU 상태를 셰이더 상수로 전달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수집 단계의 호출 순서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RefreshSkyStateFromWorld()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FillSkyConstants(RenderBus, ...)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AddCommand(ERenderPass::Sky, ...)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렌더링할 Sky 명령은 하나만 등록합니다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두 구조체의 역할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FSkyState
태양 방향, 상태 비율, 색과 밝기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FSkyConstants
하늘 상태와 역뷰·역투영 행렬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SkyRenderPass가 이름별로 값을 설정하고
HLSL의 SkyBuffer(b2)로 전달합니다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SkyRenderPass.cpp:50 / SkyPass.hlsl:23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09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화면 전체 삼각형과 패스 순서</a:t>
            </a:r>
          </a:p>
        </p:txBody>
      </p:sp>
      <p:cxnSp>
        <p:nvCxnSpPr>
          <p:cNvPr id="25" name="Google Shape;2259;p159"/>
          <p:cNvCxnSpPr>
            <a:stCxn id="3" idx="2"/>
          </p:cNvCxnSpPr>
          <p:nvPr/>
        </p:nvCxnSpPr>
        <p:spPr>
          <a:xfrm>
            <a:off x="337718" y="3373753"/>
            <a:ext cx="11460000" cy="3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Sky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Opaque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None/>
              <a:defRPr sz="16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Fog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noGrp="1"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물체 그리기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물체가 차지하는 픽셀을 덮음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물체끼리는 깊이 검사를 수행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noGrp="1"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배경 채우기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SceneColor에 하늘을 그림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깊이 버퍼는 연결하지 않음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noGrp="1"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안개 합성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이전 패스의 색을 사용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빈 배경에도 안개를 적용</a:t>
            </a:r>
          </a:p>
        </p:txBody>
      </p:sp>
      <p:sp>
        <p:nvSpPr>
          <p:cNvPr id="20" name="draw">
            <a:extLst>
              <a:ext uri="{FF2B5EF4-FFF2-40B4-BE49-F238E27FC236}">
                <a16:creationId xmlns:a16="http://schemas.microsoft.com/office/drawing/2014/main" id="{D4DCDB56-2BB5-4CA8-99C7-9AB293068612}"/>
              </a:ext>
            </a:extLst>
          </p:cNvPr>
          <p:cNvSpPr>
            <a:spLocks noGrp="1"/>
          </p:cNvSpPr>
          <p:nvPr/>
        </p:nvSpPr>
        <p:spPr>
          <a:xfrm>
            <a:off x="393668" y="14573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0">
                <a:solidFill>
                  <a:srgbClr val="3D8DFF"/>
                </a:solidFill>
                <a:latin typeface="Pretendard"/>
                <a:ea typeface="Pretendard"/>
                <a:cs typeface="Pretendard"/>
              </a:rPr>
              <a:t>Draw(3, 0)</a:t>
            </a:r>
          </a:p>
        </p:txBody>
      </p:sp>
      <p:sp>
        <p:nvSpPr>
          <p:cNvPr id="21" name="vertices">
            <a:extLst>
              <a:ext uri="{FF2B5EF4-FFF2-40B4-BE49-F238E27FC236}">
                <a16:creationId xmlns:a16="http://schemas.microsoft.com/office/drawing/2014/main" id="{CBCF30CF-A5E7-42F9-ABD8-A0D62C1D15C3}"/>
              </a:ext>
            </a:extLst>
          </p:cNvPr>
          <p:cNvSpPr>
            <a:spLocks noGrp="1"/>
          </p:cNvSpPr>
          <p:nvPr/>
        </p:nvSpPr>
        <p:spPr>
          <a:xfrm>
            <a:off x="393668" y="2124075"/>
            <a:ext cx="1095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SV_VertexID로 (-1, -1), (-1, 3), (3, -1) 생성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SkyPass.hlsl:45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10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픽셀의 월드 시선 방향 복원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원근 카메라의 핵심 코드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float4 view = mul(clip, InvProjection);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view /= max(abs(view.w), 1e-4f);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float3 viewDir = normalize(view.xyz);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float3 worldDir =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 mul(float4(viewDir, 0.0f), InvView).xyz;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역행렬과 w = 0의 의미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픽셀 좌표를 UV와 NDC로 변환합니다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역투영 행렬로 뷰 공간을 복원합니다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역뷰 행렬로 월드 방향을 구합니다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방향 벡터의 w는 0이므로</a:t>
            </a:r>
            <a:b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</a:b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카메라의 이동 성분을 제외합니다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직교 카메라는 CameraForward를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SkyPass.hlsl:70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05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11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하늘색과 지평선 표현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시선의 높이로 색을 보간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u = saturate(worldDir.z * 0.5 + 0.5)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t = pow(u, HorizonFalloff)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skyColor = lerp(HorizonColor,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                         ZenithColor, t)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위쪽을 볼수록 천정색의 비율이 커집니다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지평선 부근의 추가 처리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horizonBand
수평 방향에서 가장 강한 밝은 띠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SunsetWeight
노을일 때 지평선의 밝기를 강화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belowHorizon
지평선 아래를 어두운 색으로 보간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SkyPass.hlsl:81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sz="105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12</a:t>
            </a:r>
            <a:endParaRPr sz="1050" b="0" dirty="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태양 원반과 별의 생성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태양은 방향의 내적으로 표현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 = saturate(dot(worldDir, sunDir))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disk = smoothstep(cos(size), 1, a)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기본 각반경은 1.5°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후광은 크기의 8배 범위에서 계산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태양색과 밝기를 곱해 하늘에 더합니다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noGrp="1"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Pretendard"/>
              <a:buChar char="•"/>
              <a:defRPr sz="24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20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Pretendard"/>
              <a:buChar char="•"/>
              <a:defRPr sz="1800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9pPr>
          </a:lstStyle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별은 구면 좌표의 해시로 생성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방향을 atan2와 acos로 구면 좌표화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240배 확대 후 floor로 격자 구분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Hash12 값이 0.9965 이상이면 별 표시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밝기에 NightWeight와 worldDir.z를 곱함</a:t>
            </a:r>
          </a:p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1350"/>
              </a:spcAft>
              <a:buNone/>
              <a:defRPr sz="180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밤에 나타나고 지평선 근처에서 약해집니다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21A03A8-FA4A-4133-A39C-D52E46327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542"/>
            <a:ext cx="12192000" cy="66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4884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725</Words>
  <Application>Microsoft Office PowerPoint</Application>
  <DocSecurity>0</DocSecurity>
  <PresentationFormat>와이드스크린</PresentationFormat>
  <Paragraphs>165</Paragraphs>
  <Slides>12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Pretendard</vt:lpstr>
      <vt:lpstr>Default Codex Theme</vt:lpstr>
      <vt:lpstr>SkyAtmosphere</vt:lpstr>
      <vt:lpstr>태양 높이에 따른 하늘 변화</vt:lpstr>
      <vt:lpstr>전체 구현 흐름</vt:lpstr>
      <vt:lpstr>태양 높이 계산</vt:lpstr>
      <vt:lpstr>낮·노을·밤의 비율</vt:lpstr>
      <vt:lpstr>상태별 색과 밝기</vt:lpstr>
      <vt:lpstr>CPU 상태를 셰이더 상수로 전달</vt:lpstr>
      <vt:lpstr>화면 전체 삼각형과 패스 순서</vt:lpstr>
      <vt:lpstr>픽셀의 월드 시선 방향 복원</vt:lpstr>
      <vt:lpstr>하늘색과 지평선 표현</vt:lpstr>
      <vt:lpstr>태양 원반과 별의 생성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Myeongho Kang</cp:lastModifiedBy>
  <cp:revision>8</cp:revision>
  <dcterms:created xsi:type="dcterms:W3CDTF">2026-09-15T03:15:20Z</dcterms:created>
  <dcterms:modified xsi:type="dcterms:W3CDTF">2026-09-15T03:58:25Z</dcterms:modified>
</cp:coreProperties>
</file>