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2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135C8-8E1D-48E4-921F-6D4DCB6C2787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08A1-6906-4D38-A7C7-B44CBC6C5B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7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7108A1-6906-4D38-A7C7-B44CBC6C5B8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46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18504-2EF6-21E4-DB6C-CFC8E93E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7069C4-9398-509F-E50E-BC7957CB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B6996-D322-043A-84EE-BAF1993A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ABB09-FFE6-A1A8-6DE2-21E2BAAE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9D05A5-57B2-99EB-A90D-2D3AC885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95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93865D-25D0-154C-5435-266C2A3C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B349D-39E7-3001-89D7-AD685C971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2102B-FF68-BF19-F5D9-B84989CE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1E3CC-AD1C-2D55-CDE7-05FCC789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509DD-0393-5AB5-2B69-FF9EA275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8D4C3-65E4-A8D9-DFEB-B1DDC4481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EF2FC3-EBAB-E3C9-0DD0-87FE7E528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03029-E3B8-C42E-8DD7-52AED498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E8D2D-E1C8-FB44-E150-7430B59A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95C609-6CBE-1EB6-7E9E-311485A3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08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B2A423-B278-F307-751C-23F75C6A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DD0AF-9D78-48E0-4CEF-A5B4FE4BE4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63FDB0-7095-2AED-6DC3-692FEA804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A6CFB6-D2FA-42E1-C623-6091EB9D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7EDC9E-DCE3-D08C-0521-5E7B0629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EBCE19-65FD-0761-0E4E-A24279B8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312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32BA2-3740-B576-4B59-6CCF921F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3D5A-A7DF-D2B7-9C52-78E72B74C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622AC-7408-C218-10CF-1B826663C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306C7F-1ECB-1E7E-6DBF-6C96E9824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922D7-BF32-AB53-D996-D0774AB5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828884-E33F-40E0-2D78-C3D2C5CB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86AB6F-1BD6-A81A-2B6F-6ED20CDA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0A87114-BAAB-A633-A880-34B2B3E0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7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724CC-1154-8BED-2EBD-7BD7620B9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85D8D4-C0AE-0543-7345-1A13792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23FEA9-6A07-4836-AAB8-98D5AFBDA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FB1DBF-B87E-6568-5F7C-D53DFD89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91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9B88D2-4AA4-9A11-1AEA-B67E96E9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CC1E1F-1C7A-BBD2-E3ED-E8325A63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F9039-EC6C-A307-70AB-504F29BC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58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B7AC-7E66-B394-BE5D-B6B997CC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F9CE4F-6421-AEF5-C392-F5937745F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2343CF-0281-2F6E-788D-06F489CD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D34218-C390-C952-336A-1482CFEE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8339AE-B179-3D12-D39B-8A05CF7F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4121C7-0492-CCDD-B591-C19BD2F1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14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13573-F21B-CBB3-E02F-DA51C932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BDB077-6F9B-090E-C07A-10284BF92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5275D-DDBD-2C45-238E-C1B234CBF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F8C45-2382-B175-0D76-F18B6BD01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99B2FE-C14E-C537-3011-B7369052D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5C5D5D-09A9-86EF-3183-F70FE360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27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0710B-196B-447A-22E2-27C5FB10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08C253-9722-F855-DAA2-6833B0DF5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B0D520-1B5D-9FFD-537E-87B04E44B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2C774-BBBA-62FD-21BA-58BF93F3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9164C-9250-2D81-5768-E95ACDD1D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687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FA8E94-E26A-03EB-CF9B-6C85A9AA0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1B0C24-488D-7820-C11B-1CBA1041E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BFBB2-5C2B-740C-561D-C7F856DC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47BD8D-89D5-8F38-227E-2971E31FE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E75E95-F62E-2AD6-7E40-9D5E4E1A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26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20FCD6-D71D-7126-491F-BC6A11E1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D2602C-F11A-91DF-FB5A-ED6E9BC55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2347-69AC-B756-D402-6A7D2C55B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3772F-0FD5-40C6-878E-04F734D731CA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E8D05-518B-CCC3-9D7B-08680403D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FC3650-49E8-9540-A859-355932CF29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56358-416D-4E54-B098-D1A930324C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2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C6DE45-2CB3-BE87-C337-7E86383D3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셰이더 </a:t>
            </a:r>
            <a:r>
              <a:rPr lang="en-US" altLang="ko-KR"/>
              <a:t>SIMD </a:t>
            </a:r>
            <a:r>
              <a:rPr lang="ko-KR" altLang="en-US"/>
              <a:t>연산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374655-014B-75D9-EDA5-66508C3790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~ </a:t>
            </a:r>
            <a:r>
              <a:rPr lang="ko-KR" altLang="en-US"/>
              <a:t>분기를 줄여서 최적화하는 법 </a:t>
            </a:r>
            <a:r>
              <a:rPr lang="en-US" altLang="ko-KR"/>
              <a:t>~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3E439-5C2A-97B0-FD57-5F9D9E483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셰이더의 최적화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0EBE8B-1DB3-EFBD-010B-56D3662B3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/>
              <a:t>연산을 적게한다</a:t>
            </a:r>
            <a:endParaRPr lang="en-US" altLang="ko-KR"/>
          </a:p>
          <a:p>
            <a:pPr marL="514350" indent="-514350">
              <a:buAutoNum type="arabicPeriod"/>
            </a:pPr>
            <a:r>
              <a:rPr lang="ko-KR" altLang="en-US">
                <a:highlight>
                  <a:srgbClr val="FFFF00"/>
                </a:highlight>
              </a:rPr>
              <a:t>연산을 동시에한다</a:t>
            </a:r>
            <a:endParaRPr lang="en-US" altLang="ko-KR">
              <a:highlight>
                <a:srgbClr val="FFFF00"/>
              </a:highlight>
            </a:endParaRPr>
          </a:p>
          <a:p>
            <a:pPr marL="514350" indent="-514350">
              <a:buAutoNum type="arabicPeriod"/>
            </a:pPr>
            <a:r>
              <a:rPr lang="ko-KR" altLang="en-US"/>
              <a:t>메모리를 최적화한다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cpu</a:t>
            </a:r>
            <a:r>
              <a:rPr lang="ko-KR" altLang="en-US"/>
              <a:t>든 </a:t>
            </a:r>
            <a:r>
              <a:rPr lang="en-US" altLang="ko-KR"/>
              <a:t>gpu</a:t>
            </a:r>
            <a:r>
              <a:rPr lang="ko-KR" altLang="en-US"/>
              <a:t>든 최적화 방법은 비슷하다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왜냐하면</a:t>
            </a:r>
            <a:r>
              <a:rPr lang="en-US" altLang="ko-KR"/>
              <a:t>, </a:t>
            </a:r>
            <a:r>
              <a:rPr lang="ko-KR" altLang="en-US"/>
              <a:t>연산코어</a:t>
            </a:r>
            <a:r>
              <a:rPr lang="en-US" altLang="ko-KR"/>
              <a:t>-</a:t>
            </a:r>
            <a:r>
              <a:rPr lang="ko-KR" altLang="en-US"/>
              <a:t>메모리 라는 구조는 비슷하니까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/>
              <a:t>하지만 그 중</a:t>
            </a:r>
            <a:r>
              <a:rPr lang="en-US" altLang="ko-KR"/>
              <a:t>, gpu</a:t>
            </a:r>
            <a:r>
              <a:rPr lang="ko-KR" altLang="en-US"/>
              <a:t>의 특징인 </a:t>
            </a:r>
            <a:r>
              <a:rPr lang="en-US" altLang="ko-KR"/>
              <a:t>SIMD</a:t>
            </a:r>
            <a:r>
              <a:rPr lang="ko-KR" altLang="en-US"/>
              <a:t> 연산에 대한 것을 살펴보자</a:t>
            </a:r>
          </a:p>
        </p:txBody>
      </p:sp>
    </p:spTree>
    <p:extLst>
      <p:ext uri="{BB962C8B-B14F-4D97-AF65-F5344CB8AC3E}">
        <p14:creationId xmlns:p14="http://schemas.microsoft.com/office/powerpoint/2010/main" val="424737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조각 얼음틀(24구/덮개포함)">
            <a:extLst>
              <a:ext uri="{FF2B5EF4-FFF2-40B4-BE49-F238E27FC236}">
                <a16:creationId xmlns:a16="http://schemas.microsoft.com/office/drawing/2014/main" id="{62AB2727-1C15-D28B-6FAC-969A4FC9A6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87" b="14113"/>
          <a:stretch>
            <a:fillRect/>
          </a:stretch>
        </p:blipFill>
        <p:spPr>
          <a:xfrm>
            <a:off x="4367560" y="4240329"/>
            <a:ext cx="3081455" cy="22525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8493188-2E64-DFB8-7C99-2EBA3501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SIMD</a:t>
            </a:r>
            <a:r>
              <a:rPr lang="ko-KR" altLang="en-US"/>
              <a:t>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AFFD00-0C94-BEE5-D1C7-62B8C136F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SIMD :</a:t>
            </a:r>
            <a:r>
              <a:rPr lang="ko-KR" altLang="en-US"/>
              <a:t> 하나의 명령어로 여러 데이터를 동시에 처리</a:t>
            </a:r>
            <a:br>
              <a:rPr lang="en-US" altLang="ko-KR"/>
            </a:br>
            <a:r>
              <a:rPr lang="en-US" altLang="ko-KR" sz="2000"/>
              <a:t>(Single Instruction, Multiple Data)</a:t>
            </a:r>
            <a:br>
              <a:rPr lang="en-US" altLang="ko-KR" sz="2000"/>
            </a:br>
            <a:r>
              <a:rPr lang="en-US" altLang="ko-KR" sz="2000"/>
              <a:t>(</a:t>
            </a:r>
            <a:r>
              <a:rPr lang="ko-KR" altLang="en-US" sz="2000"/>
              <a:t>단일 스레드지만 하나의 명령어로 여러 </a:t>
            </a:r>
            <a:r>
              <a:rPr lang="en-US" altLang="ko-KR" sz="2000"/>
              <a:t>ALU/</a:t>
            </a:r>
            <a:r>
              <a:rPr lang="ko-KR" altLang="en-US" sz="2000"/>
              <a:t>레지스터 사용</a:t>
            </a:r>
            <a:r>
              <a:rPr lang="en-US" altLang="ko-KR" sz="2000"/>
              <a:t>.</a:t>
            </a:r>
            <a:br>
              <a:rPr lang="en-US" altLang="ko-KR" sz="2000"/>
            </a:br>
            <a:r>
              <a:rPr lang="ko-KR" altLang="en-US" sz="2000"/>
              <a:t>멀티 스레드에서도 비슷하게 하나의 명령어로 스레드를 사용할 순 있다</a:t>
            </a:r>
            <a:r>
              <a:rPr lang="en-US" altLang="ko-KR" sz="2000"/>
              <a:t>)</a:t>
            </a:r>
            <a:br>
              <a:rPr lang="en-US" altLang="ko-KR" sz="2000"/>
            </a:br>
            <a:r>
              <a:rPr lang="en-US" altLang="ko-KR" sz="2000"/>
              <a:t>(simd </a:t>
            </a:r>
            <a:r>
              <a:rPr lang="ko-KR" altLang="en-US" sz="2000"/>
              <a:t>는 </a:t>
            </a:r>
            <a:r>
              <a:rPr lang="en-US" altLang="ko-KR" sz="2000"/>
              <a:t>cpu</a:t>
            </a:r>
            <a:r>
              <a:rPr lang="ko-KR" altLang="en-US" sz="2000"/>
              <a:t>에서도 원래 사용한다</a:t>
            </a:r>
            <a:r>
              <a:rPr lang="en-US" altLang="ko-KR" sz="2000"/>
              <a:t>!, gpu</a:t>
            </a:r>
            <a:r>
              <a:rPr lang="ko-KR" altLang="en-US" sz="2000"/>
              <a:t>의 확실한 특징일 뿐</a:t>
            </a:r>
            <a:r>
              <a:rPr lang="en-US" altLang="ko-KR" sz="2000"/>
              <a:t>)</a:t>
            </a:r>
          </a:p>
          <a:p>
            <a:r>
              <a:rPr lang="ko-KR" altLang="en-US"/>
              <a:t>멀티 스레드</a:t>
            </a:r>
            <a:r>
              <a:rPr lang="en-US" altLang="ko-KR"/>
              <a:t>: </a:t>
            </a:r>
            <a:r>
              <a:rPr lang="ko-KR" altLang="en-US"/>
              <a:t>하나의 명령어와 하나의 데이터를 병렬로 처리</a:t>
            </a:r>
            <a:br>
              <a:rPr lang="en-US" altLang="ko-KR"/>
            </a:br>
            <a:endParaRPr lang="en-US" altLang="ko-KR"/>
          </a:p>
          <a:p>
            <a:pPr marL="0" indent="0">
              <a:buNone/>
            </a:pPr>
            <a:r>
              <a:rPr lang="ko-KR" altLang="en-US"/>
              <a:t>얼음틀에 물을 부으면 얼음이 여러 개 생기는 것 처럼</a:t>
            </a:r>
            <a:r>
              <a:rPr lang="en-US" altLang="ko-KR"/>
              <a:t>…</a:t>
            </a:r>
          </a:p>
          <a:p>
            <a:pPr marL="0" indent="0">
              <a:buNone/>
            </a:pPr>
            <a:r>
              <a:rPr lang="ko-KR" altLang="en-US"/>
              <a:t>명령은 딱 하나 했는데</a:t>
            </a:r>
            <a:r>
              <a:rPr lang="en-US" altLang="ko-KR"/>
              <a:t>, </a:t>
            </a:r>
            <a:r>
              <a:rPr lang="ko-KR" altLang="en-US"/>
              <a:t>모두 다 같은 행동을 실행한다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543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331F1-6837-F583-CE3B-B76E0FFA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셰이더에서 </a:t>
            </a:r>
            <a:r>
              <a:rPr lang="en-US" altLang="ko-KR"/>
              <a:t>SIMD </a:t>
            </a:r>
            <a:r>
              <a:rPr lang="ko-KR" altLang="en-US"/>
              <a:t>예시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A79F3F-C5D4-2F54-6142-8C70325F0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19" y="1553489"/>
            <a:ext cx="6897063" cy="32675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3552E8F-9451-6F92-EB21-551970153B25}"/>
              </a:ext>
            </a:extLst>
          </p:cNvPr>
          <p:cNvSpPr/>
          <p:nvPr/>
        </p:nvSpPr>
        <p:spPr>
          <a:xfrm>
            <a:off x="615174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73651D-8DCA-85AB-7D43-ED024CAD7455}"/>
              </a:ext>
            </a:extLst>
          </p:cNvPr>
          <p:cNvSpPr/>
          <p:nvPr/>
        </p:nvSpPr>
        <p:spPr>
          <a:xfrm>
            <a:off x="615174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039DA95-49BD-1D00-21A8-49AA40F07E5D}"/>
              </a:ext>
            </a:extLst>
          </p:cNvPr>
          <p:cNvSpPr/>
          <p:nvPr/>
        </p:nvSpPr>
        <p:spPr>
          <a:xfrm>
            <a:off x="4213301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627A0C-7A62-9A28-3328-E229EE0EFD1E}"/>
              </a:ext>
            </a:extLst>
          </p:cNvPr>
          <p:cNvSpPr/>
          <p:nvPr/>
        </p:nvSpPr>
        <p:spPr>
          <a:xfrm>
            <a:off x="4213301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13DF69-E148-77CF-8497-938D6DB0BD63}"/>
              </a:ext>
            </a:extLst>
          </p:cNvPr>
          <p:cNvSpPr/>
          <p:nvPr/>
        </p:nvSpPr>
        <p:spPr>
          <a:xfrm>
            <a:off x="7811428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37189E9-2A47-FC07-F937-EFAD6348D7D3}"/>
              </a:ext>
            </a:extLst>
          </p:cNvPr>
          <p:cNvSpPr/>
          <p:nvPr/>
        </p:nvSpPr>
        <p:spPr>
          <a:xfrm>
            <a:off x="7811428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8FDB29E9-4DA3-A8C9-EE19-B2D18013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42" y="4911725"/>
            <a:ext cx="6669358" cy="805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/>
              <a:t>이 작업들이 동시에 된다</a:t>
            </a:r>
            <a:r>
              <a:rPr lang="en-US" altLang="ko-KR" sz="1600"/>
              <a:t>.</a:t>
            </a:r>
          </a:p>
          <a:p>
            <a:pPr marL="0" indent="0">
              <a:buNone/>
            </a:pPr>
            <a:r>
              <a:rPr lang="ko-KR" altLang="en-US" sz="1600"/>
              <a:t>명령은 하나인데 데이터에 연산은 동시 수행</a:t>
            </a: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373947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569AB-39F3-C489-11F4-9E0B3CE5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그런데 여기에 </a:t>
            </a:r>
            <a:r>
              <a:rPr lang="en-US" altLang="ko-KR"/>
              <a:t>if</a:t>
            </a:r>
            <a:r>
              <a:rPr lang="ko-KR" altLang="en-US"/>
              <a:t>를 끼얹으면 어떨까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CE8B4-A16B-A48B-E04E-325B9A172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0689"/>
            <a:ext cx="7861299" cy="182849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8400840-4BC0-834A-A6D7-9597A8BFFAAE}"/>
              </a:ext>
            </a:extLst>
          </p:cNvPr>
          <p:cNvSpPr/>
          <p:nvPr/>
        </p:nvSpPr>
        <p:spPr>
          <a:xfrm>
            <a:off x="615174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5936B4-9316-CE4C-CB6F-E5D931B84911}"/>
              </a:ext>
            </a:extLst>
          </p:cNvPr>
          <p:cNvSpPr/>
          <p:nvPr/>
        </p:nvSpPr>
        <p:spPr>
          <a:xfrm>
            <a:off x="615174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3D35FC-620C-67C7-7EA3-CAE15B33117D}"/>
              </a:ext>
            </a:extLst>
          </p:cNvPr>
          <p:cNvSpPr/>
          <p:nvPr/>
        </p:nvSpPr>
        <p:spPr>
          <a:xfrm>
            <a:off x="4213301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805C26-A48D-2341-DC2E-05F358484F15}"/>
              </a:ext>
            </a:extLst>
          </p:cNvPr>
          <p:cNvSpPr/>
          <p:nvPr/>
        </p:nvSpPr>
        <p:spPr>
          <a:xfrm>
            <a:off x="4213301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B735C0-85DB-5B23-95BE-69A7D57B7845}"/>
              </a:ext>
            </a:extLst>
          </p:cNvPr>
          <p:cNvSpPr/>
          <p:nvPr/>
        </p:nvSpPr>
        <p:spPr>
          <a:xfrm>
            <a:off x="7811428" y="560151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(-In.vPosition.x …,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80558E8-F62C-1C05-A8AD-3B6C2B0EA5E7}"/>
              </a:ext>
            </a:extLst>
          </p:cNvPr>
          <p:cNvSpPr/>
          <p:nvPr/>
        </p:nvSpPr>
        <p:spPr>
          <a:xfrm>
            <a:off x="7811428" y="6100088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F674412-B3A2-AE4A-4DB1-D4477A6D8CCD}"/>
              </a:ext>
            </a:extLst>
          </p:cNvPr>
          <p:cNvSpPr/>
          <p:nvPr/>
        </p:nvSpPr>
        <p:spPr>
          <a:xfrm>
            <a:off x="615174" y="5053980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조건에 맞다면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271E62-DFE5-44D9-AE59-730B5667E9C6}"/>
              </a:ext>
            </a:extLst>
          </p:cNvPr>
          <p:cNvSpPr/>
          <p:nvPr/>
        </p:nvSpPr>
        <p:spPr>
          <a:xfrm>
            <a:off x="4250472" y="5053980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조건에 맞다면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17E4F3-A28F-A316-6B81-BA73B1921583}"/>
              </a:ext>
            </a:extLst>
          </p:cNvPr>
          <p:cNvSpPr/>
          <p:nvPr/>
        </p:nvSpPr>
        <p:spPr>
          <a:xfrm>
            <a:off x="7830632" y="5053979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조건이 틀리다면</a:t>
            </a:r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FF62E0A7-342F-6376-CE95-E219E4D2A1FD}"/>
              </a:ext>
            </a:extLst>
          </p:cNvPr>
          <p:cNvSpPr txBox="1">
            <a:spLocks/>
          </p:cNvSpPr>
          <p:nvPr/>
        </p:nvSpPr>
        <p:spPr>
          <a:xfrm>
            <a:off x="838199" y="3654123"/>
            <a:ext cx="6669358" cy="805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600"/>
              <a:t>이런식으로 이쁘게</a:t>
            </a:r>
            <a:r>
              <a:rPr lang="en-US" altLang="ko-KR" sz="1600"/>
              <a:t>, </a:t>
            </a:r>
            <a:r>
              <a:rPr lang="ko-KR" altLang="en-US" sz="1600"/>
              <a:t>동시에 되지 않는다</a:t>
            </a: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228534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F8A79-A8AF-5B13-E999-F5B3F311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발산</a:t>
            </a:r>
            <a:r>
              <a:rPr lang="en-US" altLang="ko-KR"/>
              <a:t>(Divergence)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146688-0722-51D3-C7F0-37C9FC9320FF}"/>
              </a:ext>
            </a:extLst>
          </p:cNvPr>
          <p:cNvSpPr/>
          <p:nvPr/>
        </p:nvSpPr>
        <p:spPr>
          <a:xfrm>
            <a:off x="726688" y="4528416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1A6C1C-8596-AFEB-50B8-E16A318C813C}"/>
              </a:ext>
            </a:extLst>
          </p:cNvPr>
          <p:cNvSpPr/>
          <p:nvPr/>
        </p:nvSpPr>
        <p:spPr>
          <a:xfrm>
            <a:off x="726688" y="5026992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5D9E0A-DD0E-2EA7-0E2E-1F4FCCB56FE9}"/>
              </a:ext>
            </a:extLst>
          </p:cNvPr>
          <p:cNvSpPr/>
          <p:nvPr/>
        </p:nvSpPr>
        <p:spPr>
          <a:xfrm>
            <a:off x="726688" y="5581704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(-In.vPosition.x …,</a:t>
            </a:r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72A39C1-C730-2CDB-E572-E7BFD5952F28}"/>
              </a:ext>
            </a:extLst>
          </p:cNvPr>
          <p:cNvSpPr/>
          <p:nvPr/>
        </p:nvSpPr>
        <p:spPr>
          <a:xfrm>
            <a:off x="726688" y="6080280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BC91FC3-4729-9C13-8D1C-1DC8EE713DCE}"/>
              </a:ext>
            </a:extLst>
          </p:cNvPr>
          <p:cNvSpPr/>
          <p:nvPr/>
        </p:nvSpPr>
        <p:spPr>
          <a:xfrm>
            <a:off x="726688" y="3980884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조건에 맞다면</a:t>
            </a:r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77323C58-3210-608B-0BFA-FCC2F6E1A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실행 단위</a:t>
            </a:r>
            <a:r>
              <a:rPr lang="en-US" altLang="ko-KR"/>
              <a:t>(</a:t>
            </a:r>
            <a:r>
              <a:rPr lang="ko-KR" altLang="en-US"/>
              <a:t>워프</a:t>
            </a:r>
            <a:r>
              <a:rPr lang="en-US" altLang="ko-KR"/>
              <a:t>)</a:t>
            </a:r>
            <a:r>
              <a:rPr lang="ko-KR" altLang="en-US"/>
              <a:t>내 레인들이 서로 다른 실행 경로를 가져 발생</a:t>
            </a:r>
            <a:endParaRPr lang="en-US" altLang="ko-KR"/>
          </a:p>
          <a:p>
            <a:r>
              <a:rPr lang="ko-KR" altLang="en-US"/>
              <a:t>그래서 셰이더에서는 </a:t>
            </a:r>
            <a:r>
              <a:rPr lang="en-US" altLang="ko-KR"/>
              <a:t>if </a:t>
            </a:r>
            <a:r>
              <a:rPr lang="ko-KR" altLang="en-US"/>
              <a:t>를 지양한다</a:t>
            </a:r>
            <a:endParaRPr lang="en-US" altLang="ko-KR"/>
          </a:p>
          <a:p>
            <a:pPr lvl="1"/>
            <a:r>
              <a:rPr lang="ko-KR" altLang="en-US"/>
              <a:t>단</a:t>
            </a:r>
            <a:r>
              <a:rPr lang="en-US" altLang="ko-KR"/>
              <a:t>, </a:t>
            </a:r>
            <a:r>
              <a:rPr lang="ko-KR" altLang="en-US"/>
              <a:t>워프별로 같은 실행 경로를 가지는 경우에는 </a:t>
            </a:r>
            <a:r>
              <a:rPr lang="en-US" altLang="ko-KR"/>
              <a:t>if </a:t>
            </a:r>
            <a:r>
              <a:rPr lang="ko-KR" altLang="en-US"/>
              <a:t>를 써도 상관 없다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CD5DC2-ECEE-ADCE-EDB8-50E2A1B9462E}"/>
              </a:ext>
            </a:extLst>
          </p:cNvPr>
          <p:cNvSpPr/>
          <p:nvPr/>
        </p:nvSpPr>
        <p:spPr>
          <a:xfrm>
            <a:off x="4306230" y="4541207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08AC585-DCD5-219C-A429-16D079E57F42}"/>
              </a:ext>
            </a:extLst>
          </p:cNvPr>
          <p:cNvSpPr/>
          <p:nvPr/>
        </p:nvSpPr>
        <p:spPr>
          <a:xfrm>
            <a:off x="4306230" y="5039783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82FD2B1-6ABD-FCBF-092F-6825FECBF72C}"/>
              </a:ext>
            </a:extLst>
          </p:cNvPr>
          <p:cNvSpPr/>
          <p:nvPr/>
        </p:nvSpPr>
        <p:spPr>
          <a:xfrm>
            <a:off x="4306230" y="5594495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(-In.vPosition.x …,</a:t>
            </a:r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8AD8620-BBB2-C1AD-A7A9-27011D0257A0}"/>
              </a:ext>
            </a:extLst>
          </p:cNvPr>
          <p:cNvSpPr/>
          <p:nvPr/>
        </p:nvSpPr>
        <p:spPr>
          <a:xfrm>
            <a:off x="4306230" y="6093071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2D4DC6-46C2-51AB-51C8-BB576DA25EEA}"/>
              </a:ext>
            </a:extLst>
          </p:cNvPr>
          <p:cNvSpPr/>
          <p:nvPr/>
        </p:nvSpPr>
        <p:spPr>
          <a:xfrm>
            <a:off x="4306230" y="3993675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조건에 맞다면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7D9BEDE9-B224-D952-E462-812C97D5106C}"/>
              </a:ext>
            </a:extLst>
          </p:cNvPr>
          <p:cNvSpPr/>
          <p:nvPr/>
        </p:nvSpPr>
        <p:spPr>
          <a:xfrm>
            <a:off x="7885770" y="4541207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(In.vPosition, 1.f)</a:t>
            </a:r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7C48A32-F801-F866-A96E-6B9C2308D136}"/>
              </a:ext>
            </a:extLst>
          </p:cNvPr>
          <p:cNvSpPr/>
          <p:nvPr/>
        </p:nvSpPr>
        <p:spPr>
          <a:xfrm>
            <a:off x="7885770" y="5039783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EDDD997-5EC4-2DB5-630C-6588A7155107}"/>
              </a:ext>
            </a:extLst>
          </p:cNvPr>
          <p:cNvSpPr/>
          <p:nvPr/>
        </p:nvSpPr>
        <p:spPr>
          <a:xfrm>
            <a:off x="7885770" y="5594495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 = vectorize (-In.vPosition.x …,</a:t>
            </a:r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294CDEB-F521-6E0B-89FB-5AC09D984AC4}"/>
              </a:ext>
            </a:extLst>
          </p:cNvPr>
          <p:cNvSpPr/>
          <p:nvPr/>
        </p:nvSpPr>
        <p:spPr>
          <a:xfrm>
            <a:off x="7885770" y="6093071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multiply ( A, matWVP )</a:t>
            </a:r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CFCB6533-CDA7-3772-B748-495ECE067287}"/>
              </a:ext>
            </a:extLst>
          </p:cNvPr>
          <p:cNvSpPr/>
          <p:nvPr/>
        </p:nvSpPr>
        <p:spPr>
          <a:xfrm>
            <a:off x="7885770" y="3993675"/>
            <a:ext cx="3468030" cy="412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if </a:t>
            </a:r>
            <a:r>
              <a:rPr lang="ko-KR" altLang="en-US"/>
              <a:t>조건에 맞다면</a:t>
            </a:r>
          </a:p>
        </p:txBody>
      </p:sp>
    </p:spTree>
    <p:extLst>
      <p:ext uri="{BB962C8B-B14F-4D97-AF65-F5344CB8AC3E}">
        <p14:creationId xmlns:p14="http://schemas.microsoft.com/office/powerpoint/2010/main" val="1227983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0B940-9CB8-318F-D608-99C2D20D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분기의 특징에 따라 여러 해결책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1C7359-828C-8979-30FE-5BED12694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ko-KR"/>
              <a:t>Step, min, clamp, abs </a:t>
            </a:r>
            <a:r>
              <a:rPr lang="ko-KR" altLang="en-US"/>
              <a:t>등</a:t>
            </a:r>
            <a:endParaRPr lang="en-US" altLang="ko-KR"/>
          </a:p>
          <a:p>
            <a:pPr marL="514350" indent="-514350">
              <a:buAutoNum type="arabicPeriod"/>
            </a:pPr>
            <a:r>
              <a:rPr lang="ko-KR" altLang="en-US"/>
              <a:t>구간화</a:t>
            </a:r>
            <a:r>
              <a:rPr lang="en-US" altLang="ko-KR"/>
              <a:t>, </a:t>
            </a:r>
            <a:r>
              <a:rPr lang="ko-KR" altLang="en-US"/>
              <a:t>룩업테이블</a:t>
            </a:r>
            <a:endParaRPr lang="en-US" altLang="ko-KR"/>
          </a:p>
          <a:p>
            <a:pPr marL="514350" indent="-514350">
              <a:buAutoNum type="arabicPeriod"/>
            </a:pPr>
            <a:r>
              <a:rPr lang="ko-KR" altLang="en-US"/>
              <a:t>분기가 심하다면 애초에 셰이더를 나누기</a:t>
            </a:r>
          </a:p>
        </p:txBody>
      </p:sp>
    </p:spTree>
    <p:extLst>
      <p:ext uri="{BB962C8B-B14F-4D97-AF65-F5344CB8AC3E}">
        <p14:creationId xmlns:p14="http://schemas.microsoft.com/office/powerpoint/2010/main" val="1874155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5E8CE-3D9D-39D4-6CE4-5C9C9F090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if</a:t>
            </a:r>
            <a:r>
              <a:rPr lang="ko-KR" altLang="en-US"/>
              <a:t>를 줄일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9BC87-B6C3-2D54-B926-294BE8750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5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/>
              <a:t>if ( position.x &lt; 0 )</a:t>
            </a:r>
          </a:p>
          <a:p>
            <a:pPr marL="0" indent="0">
              <a:buNone/>
            </a:pPr>
            <a:r>
              <a:rPr lang="en-US" altLang="ko-KR"/>
              <a:t>       gray = color.r + color.g + color.b;</a:t>
            </a:r>
          </a:p>
          <a:p>
            <a:pPr marL="0" indent="0">
              <a:buNone/>
            </a:pPr>
            <a:r>
              <a:rPr lang="en-US" altLang="ko-KR"/>
              <a:t>	color = vector(gray, gray, gray, 1.0)</a:t>
            </a:r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step(edge, x) = x</a:t>
            </a:r>
            <a:r>
              <a:rPr lang="ko-KR" altLang="en-US"/>
              <a:t>가 </a:t>
            </a:r>
            <a:r>
              <a:rPr lang="en-US" altLang="ko-KR"/>
              <a:t>edge</a:t>
            </a:r>
            <a:r>
              <a:rPr lang="ko-KR" altLang="en-US"/>
              <a:t>보다 작다면 </a:t>
            </a:r>
            <a:r>
              <a:rPr lang="en-US" altLang="ko-KR"/>
              <a:t>0, </a:t>
            </a:r>
            <a:r>
              <a:rPr lang="ko-KR" altLang="en-US"/>
              <a:t>아니면 </a:t>
            </a:r>
            <a:r>
              <a:rPr lang="en-US" altLang="ko-KR"/>
              <a:t>1</a:t>
            </a:r>
          </a:p>
          <a:p>
            <a:pPr marL="0" indent="0">
              <a:buNone/>
            </a:pPr>
            <a:r>
              <a:rPr lang="ko-KR" altLang="ko-KR"/>
              <a:t>float mask = step(position.x, 0.0);</a:t>
            </a:r>
            <a:endParaRPr lang="en-US" altLang="ko-KR"/>
          </a:p>
          <a:p>
            <a:pPr marL="0" indent="0">
              <a:buNone/>
            </a:pPr>
            <a:r>
              <a:rPr lang="en-US" altLang="ko-KR"/>
              <a:t>gray = color.r + color.g + color.b;</a:t>
            </a:r>
          </a:p>
          <a:p>
            <a:pPr marL="0" indent="0">
              <a:buNone/>
            </a:pPr>
            <a:r>
              <a:rPr lang="en-US" altLang="ko-KR"/>
              <a:t>color = mask * vector(gray, gray, gray, 1.0)</a:t>
            </a:r>
          </a:p>
          <a:p>
            <a:pPr marL="0" indent="0">
              <a:buNone/>
            </a:pPr>
            <a:r>
              <a:rPr lang="en-US" altLang="ko-KR"/>
              <a:t>           + (1 - mask) * color;</a:t>
            </a:r>
          </a:p>
          <a:p>
            <a:pPr marL="0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7265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BA22A-6A6C-3808-220A-03A31F6D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masking</a:t>
            </a:r>
            <a:r>
              <a:rPr lang="ko-KR" altLang="en-US"/>
              <a:t>에서 사용한 코드 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FF4CD-D77E-0FB5-B27A-5CCB6C43E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/>
              <a:t>if ( texture.r &lt; 0.125 )</a:t>
            </a:r>
          </a:p>
          <a:p>
            <a:pPr marL="0" indent="0">
              <a:buNone/>
            </a:pPr>
            <a:r>
              <a:rPr lang="en-US" altLang="ko-KR"/>
              <a:t>	color = mat * 0.5;</a:t>
            </a:r>
          </a:p>
          <a:p>
            <a:pPr marL="0" indent="0">
              <a:buNone/>
            </a:pPr>
            <a:r>
              <a:rPr lang="en-US" altLang="ko-KR"/>
              <a:t>else if ( texture.r &lt; 0.25 )</a:t>
            </a:r>
          </a:p>
          <a:p>
            <a:pPr marL="0" indent="0">
              <a:buNone/>
            </a:pPr>
            <a:r>
              <a:rPr lang="en-US" altLang="ko-KR"/>
              <a:t>       color = mat * 0.75;</a:t>
            </a:r>
          </a:p>
          <a:p>
            <a:pPr marL="0" indent="0">
              <a:buNone/>
            </a:pPr>
            <a:r>
              <a:rPr lang="en-US" altLang="ko-KR"/>
              <a:t>else if ( texture.r &lt; 0.375 )</a:t>
            </a:r>
          </a:p>
          <a:p>
            <a:pPr marL="0" indent="0">
              <a:buNone/>
            </a:pPr>
            <a:r>
              <a:rPr lang="en-US" altLang="ko-KR"/>
              <a:t>       color = mat * 1;</a:t>
            </a:r>
          </a:p>
          <a:p>
            <a:pPr marL="0" indent="0">
              <a:buNone/>
            </a:pPr>
            <a:r>
              <a:rPr lang="en-US" altLang="ko-KR"/>
              <a:t>else ( texture.r &lt; 0.5 )</a:t>
            </a:r>
          </a:p>
          <a:p>
            <a:pPr marL="0" indent="0">
              <a:buNone/>
            </a:pPr>
            <a:r>
              <a:rPr lang="en-US" altLang="ko-KR"/>
              <a:t>       color = mat * 1.1;</a:t>
            </a:r>
            <a:endParaRPr lang="ko-KR" altLang="en-US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CFB0589-94C2-FC1F-0193-BC7E14B63A5F}"/>
              </a:ext>
            </a:extLst>
          </p:cNvPr>
          <p:cNvSpPr txBox="1">
            <a:spLocks/>
          </p:cNvSpPr>
          <p:nvPr/>
        </p:nvSpPr>
        <p:spPr>
          <a:xfrm>
            <a:off x="5842000" y="1690688"/>
            <a:ext cx="5994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idx = 0;</a:t>
            </a:r>
          </a:p>
          <a:p>
            <a:pPr marL="0" indent="0">
              <a:buNone/>
            </a:pPr>
            <a:r>
              <a:rPr lang="en-US" altLang="ko-KR"/>
              <a:t>idx += step(0.125, texture.r)</a:t>
            </a:r>
            <a:endParaRPr lang="ko-KR" altLang="en-US"/>
          </a:p>
          <a:p>
            <a:pPr marL="0" indent="0">
              <a:buNone/>
            </a:pPr>
            <a:r>
              <a:rPr lang="en-US" altLang="ko-KR"/>
              <a:t>idx += step(0.25, texture.r)</a:t>
            </a:r>
            <a:endParaRPr lang="ko-KR" altLang="en-US"/>
          </a:p>
          <a:p>
            <a:pPr marL="0" indent="0">
              <a:buNone/>
            </a:pPr>
            <a:r>
              <a:rPr lang="en-US" altLang="ko-KR"/>
              <a:t>idx += step(0.375, texture.r)</a:t>
            </a:r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en-US" altLang="ko-KR"/>
              <a:t>float weight[4] = {0.5, 0.75, 1, 1.1}</a:t>
            </a:r>
            <a:endParaRPr lang="ko-KR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color = mat * weight[idx];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237203-6ABB-95BD-F229-AF82242E90A0}"/>
              </a:ext>
            </a:extLst>
          </p:cNvPr>
          <p:cNvSpPr/>
          <p:nvPr/>
        </p:nvSpPr>
        <p:spPr>
          <a:xfrm>
            <a:off x="838200" y="5949384"/>
            <a:ext cx="10096500" cy="7562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(</a:t>
            </a:r>
            <a:r>
              <a:rPr lang="ko-KR" altLang="en-US"/>
              <a:t>매우 중요</a:t>
            </a:r>
            <a:r>
              <a:rPr lang="en-US" altLang="ko-KR"/>
              <a:t>)</a:t>
            </a:r>
            <a:r>
              <a:rPr lang="ko-KR" altLang="en-US"/>
              <a:t>근데 이게 꼭 빠르진 않다</a:t>
            </a:r>
            <a:r>
              <a:rPr lang="en-US" altLang="ko-KR"/>
              <a:t>! </a:t>
            </a:r>
          </a:p>
          <a:p>
            <a:pPr algn="ctr"/>
            <a:r>
              <a:rPr lang="ko-KR" altLang="en-US"/>
              <a:t>발산이 실제 연산보단 느리지만</a:t>
            </a:r>
            <a:r>
              <a:rPr lang="en-US" altLang="ko-KR"/>
              <a:t>, </a:t>
            </a:r>
            <a:r>
              <a:rPr lang="ko-KR" altLang="en-US"/>
              <a:t>워프 내 같은 분기가 많다면 분기를 쓰는게 더 빠를 수 있다</a:t>
            </a:r>
          </a:p>
        </p:txBody>
      </p:sp>
    </p:spTree>
    <p:extLst>
      <p:ext uri="{BB962C8B-B14F-4D97-AF65-F5344CB8AC3E}">
        <p14:creationId xmlns:p14="http://schemas.microsoft.com/office/powerpoint/2010/main" val="119839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697</Words>
  <Application>Microsoft Office PowerPoint</Application>
  <PresentationFormat>와이드스크린</PresentationFormat>
  <Paragraphs>88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셰이더 SIMD 연산 최적화</vt:lpstr>
      <vt:lpstr>셰이더의 최적화 방법</vt:lpstr>
      <vt:lpstr>SIMD연산</vt:lpstr>
      <vt:lpstr>셰이더에서 SIMD 예시</vt:lpstr>
      <vt:lpstr>그런데 여기에 if를 끼얹으면 어떨까?</vt:lpstr>
      <vt:lpstr>발산(Divergence)</vt:lpstr>
      <vt:lpstr>분기의 특징에 따라 여러 해결책</vt:lpstr>
      <vt:lpstr>if를 줄일 예시</vt:lpstr>
      <vt:lpstr>masking에서 사용한 코드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10</cp:revision>
  <dcterms:created xsi:type="dcterms:W3CDTF">2026-09-03T18:17:10Z</dcterms:created>
  <dcterms:modified xsi:type="dcterms:W3CDTF">2026-09-09T04:04:42Z</dcterms:modified>
</cp:coreProperties>
</file>