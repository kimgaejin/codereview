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7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napToGrid="0">
      <p:cViewPr>
        <p:scale>
          <a:sx n="66" d="100"/>
          <a:sy n="66" d="100"/>
        </p:scale>
        <p:origin x="4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217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string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C#</a:t>
            </a:r>
            <a:r>
              <a:rPr lang="ko-KR" altLang="en-US"/>
              <a:t>과 </a:t>
            </a:r>
            <a:r>
              <a:rPr lang="en-US" altLang="ko-KR"/>
              <a:t>C++</a:t>
            </a:r>
            <a:r>
              <a:rPr lang="ko-KR" altLang="en-US"/>
              <a:t>의 </a:t>
            </a:r>
            <a:r>
              <a:rPr lang="en-US" altLang="ko-KR"/>
              <a:t>string </a:t>
            </a:r>
            <a:r>
              <a:rPr lang="ko-KR" altLang="en-US"/>
              <a:t>구현과 유니티 </a:t>
            </a:r>
            <a:r>
              <a:rPr lang="en-US" altLang="ko-KR"/>
              <a:t>TMP,</a:t>
            </a:r>
            <a:r>
              <a:rPr lang="ko-KR" altLang="en-US"/>
              <a:t> </a:t>
            </a:r>
            <a:r>
              <a:rPr lang="en-US" altLang="ko-KR"/>
              <a:t>span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D538-6079-A2DC-B74A-73C10189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C++</a:t>
            </a:r>
            <a:r>
              <a:rPr lang="ko-KR" altLang="en-US"/>
              <a:t> </a:t>
            </a:r>
            <a:r>
              <a:rPr lang="en-US" altLang="ko-KR"/>
              <a:t>String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2F364C-4BA1-0A08-3F8A-995A69EA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/>
              <a:t>값 타입 </a:t>
            </a:r>
            <a:r>
              <a:rPr lang="en-US" altLang="ko-KR"/>
              <a:t>(</a:t>
            </a:r>
            <a:r>
              <a:rPr lang="ko-KR" altLang="en-US"/>
              <a:t>복사하면 사본이 생기며</a:t>
            </a:r>
            <a:r>
              <a:rPr lang="en-US" altLang="ko-KR"/>
              <a:t>, </a:t>
            </a:r>
            <a:r>
              <a:rPr lang="ko-KR" altLang="en-US"/>
              <a:t>원본에게 영향이 없다</a:t>
            </a:r>
            <a:r>
              <a:rPr lang="en-US" altLang="ko-KR"/>
              <a:t>)</a:t>
            </a:r>
          </a:p>
          <a:p>
            <a:pPr>
              <a:buFontTx/>
              <a:buChar char="-"/>
            </a:pPr>
            <a:r>
              <a:rPr lang="ko-KR" altLang="en-US" b="1"/>
              <a:t>변화가 가능하다</a:t>
            </a:r>
            <a:endParaRPr lang="en-US" altLang="ko-KR" b="1"/>
          </a:p>
          <a:p>
            <a:pPr marL="0" indent="0">
              <a:buNone/>
            </a:pPr>
            <a:endParaRPr lang="en-US" altLang="ko-KR" b="1"/>
          </a:p>
        </p:txBody>
      </p:sp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99673A0F-4A11-E8CB-AD38-0A96BCBF4E00}"/>
              </a:ext>
            </a:extLst>
          </p:cNvPr>
          <p:cNvSpPr txBox="1">
            <a:spLocks/>
          </p:cNvSpPr>
          <p:nvPr/>
        </p:nvSpPr>
        <p:spPr>
          <a:xfrm>
            <a:off x="954315" y="2336302"/>
            <a:ext cx="11008984" cy="495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/>
              <a:t>string team1 = “</a:t>
            </a:r>
            <a:r>
              <a:rPr lang="ko-KR" altLang="en-US"/>
              <a:t>우리 정글 뭐하냐</a:t>
            </a:r>
            <a:r>
              <a:rPr lang="en-US" altLang="ko-KR"/>
              <a:t>”;</a:t>
            </a:r>
          </a:p>
          <a:p>
            <a:pPr marL="0" indent="0">
              <a:buNone/>
            </a:pPr>
            <a:r>
              <a:rPr lang="en-US" altLang="ko-KR"/>
              <a:t>string team2 = team1; // </a:t>
            </a:r>
            <a:r>
              <a:rPr lang="ko-KR" altLang="en-US"/>
              <a:t>기본적으로 복사연산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if ( team1 == team2 ) =&gt; true. </a:t>
            </a:r>
            <a:r>
              <a:rPr lang="ko-KR" altLang="en-US"/>
              <a:t>값이 같으니까 </a:t>
            </a:r>
            <a:r>
              <a:rPr lang="en-US" altLang="ko-KR"/>
              <a:t>( == </a:t>
            </a:r>
            <a:r>
              <a:rPr lang="ko-KR" altLang="en-US"/>
              <a:t>연산을 값으로 처리 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if ( &amp;team1 == &amp;team2 ) =&gt; false. </a:t>
            </a:r>
            <a:r>
              <a:rPr lang="ko-KR" altLang="en-US"/>
              <a:t>주소는 다르니까</a:t>
            </a:r>
            <a:r>
              <a:rPr lang="en-US" altLang="ko-KR"/>
              <a:t> 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team2 = “</a:t>
            </a:r>
            <a:r>
              <a:rPr lang="ko-KR" altLang="en-US"/>
              <a:t>힘내보죠</a:t>
            </a:r>
            <a:r>
              <a:rPr lang="en-US" altLang="ko-KR"/>
              <a:t>”; // team1 </a:t>
            </a:r>
            <a:r>
              <a:rPr lang="ko-KR" altLang="en-US"/>
              <a:t>은 관계없이 </a:t>
            </a:r>
            <a:r>
              <a:rPr lang="en-US" altLang="ko-KR"/>
              <a:t>‘</a:t>
            </a:r>
            <a:r>
              <a:rPr lang="ko-KR" altLang="en-US"/>
              <a:t>우정뭐</a:t>
            </a:r>
            <a:r>
              <a:rPr lang="en-US" altLang="ko-KR"/>
              <a:t>’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team2 += “ </a:t>
            </a:r>
            <a:r>
              <a:rPr lang="ko-KR" altLang="en-US"/>
              <a:t>못하는 애들이 씨부림</a:t>
            </a:r>
            <a:r>
              <a:rPr lang="en-US" altLang="ko-KR"/>
              <a:t>”; // </a:t>
            </a:r>
            <a:r>
              <a:rPr lang="ko-KR" altLang="en-US"/>
              <a:t>허용됨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/>
              <a:t>// </a:t>
            </a:r>
            <a:r>
              <a:rPr lang="ko-KR" altLang="en-US"/>
              <a:t>하지만 </a:t>
            </a:r>
            <a:r>
              <a:rPr lang="en-US" altLang="ko-KR"/>
              <a:t>capacity</a:t>
            </a:r>
            <a:r>
              <a:rPr lang="ko-KR" altLang="en-US"/>
              <a:t>를 넘는경우</a:t>
            </a:r>
            <a:r>
              <a:rPr lang="en-US" altLang="ko-KR"/>
              <a:t>, </a:t>
            </a:r>
            <a:r>
              <a:rPr lang="ko-KR" altLang="en-US"/>
              <a:t>메모리 재할당</a:t>
            </a:r>
            <a:r>
              <a:rPr lang="en-US" altLang="ko-KR"/>
              <a:t>(vector</a:t>
            </a:r>
            <a:r>
              <a:rPr lang="ko-KR" altLang="en-US"/>
              <a:t>처럼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773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72BE-5D07-D618-C869-9DE99E13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D864A-2B35-905F-A299-5123B5A6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C#</a:t>
            </a:r>
            <a:r>
              <a:rPr lang="ko-KR" altLang="en-US"/>
              <a:t> </a:t>
            </a:r>
            <a:r>
              <a:rPr lang="en-US" altLang="ko-KR"/>
              <a:t>String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777ED6-A1F7-373D-2823-212A4E54A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/>
              <a:t>참조 타입 </a:t>
            </a:r>
            <a:r>
              <a:rPr lang="en-US" altLang="ko-KR"/>
              <a:t>(</a:t>
            </a:r>
            <a:r>
              <a:rPr lang="ko-KR" altLang="en-US"/>
              <a:t>복사하면 참조 포인터만 생긴다</a:t>
            </a:r>
            <a:r>
              <a:rPr lang="en-US" altLang="ko-KR"/>
              <a:t>)</a:t>
            </a:r>
          </a:p>
          <a:p>
            <a:pPr>
              <a:buFontTx/>
              <a:buChar char="-"/>
            </a:pPr>
            <a:r>
              <a:rPr lang="ko-KR" altLang="en-US"/>
              <a:t>불변함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COW(copy on write) </a:t>
            </a:r>
            <a:r>
              <a:rPr lang="ko-KR" altLang="en-US"/>
              <a:t>사용</a:t>
            </a:r>
            <a:r>
              <a:rPr lang="en-US" altLang="ko-KR"/>
              <a:t>. </a:t>
            </a:r>
            <a:r>
              <a:rPr lang="ko-KR" altLang="en-US"/>
              <a:t>값의 변경이 일어날 때</a:t>
            </a:r>
            <a:r>
              <a:rPr lang="en-US" altLang="ko-KR"/>
              <a:t>, </a:t>
            </a:r>
            <a:r>
              <a:rPr lang="ko-KR" altLang="en-US"/>
              <a:t>진짜 복사한다</a:t>
            </a:r>
            <a:endParaRPr lang="en-US" altLang="ko-KR"/>
          </a:p>
          <a:p>
            <a:pPr>
              <a:buFontTx/>
              <a:buChar char="-"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string team1 = “</a:t>
            </a:r>
            <a:r>
              <a:rPr lang="ko-KR" altLang="en-US"/>
              <a:t>벌레</a:t>
            </a:r>
            <a:r>
              <a:rPr lang="en-US" altLang="ko-KR"/>
              <a:t>”;</a:t>
            </a:r>
          </a:p>
          <a:p>
            <a:pPr marL="0" indent="0">
              <a:buNone/>
            </a:pPr>
            <a:r>
              <a:rPr lang="en-US" altLang="ko-KR"/>
              <a:t>string team2 = team1; // ‘</a:t>
            </a:r>
            <a:r>
              <a:rPr lang="ko-KR" altLang="en-US"/>
              <a:t>포인터</a:t>
            </a:r>
            <a:r>
              <a:rPr lang="en-US" altLang="ko-KR"/>
              <a:t>’ </a:t>
            </a:r>
            <a:r>
              <a:rPr lang="ko-KR" altLang="en-US"/>
              <a:t>복사가 일어났다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if ( ReferenceEqauls(team1, team2) ) =&gt; true. </a:t>
            </a:r>
            <a:r>
              <a:rPr lang="ko-KR" altLang="en-US"/>
              <a:t>주소가 같다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team2 = team2.ToUpper(); // </a:t>
            </a:r>
            <a:r>
              <a:rPr lang="ko-KR" altLang="en-US"/>
              <a:t>새로운 객체 생성</a:t>
            </a:r>
            <a:r>
              <a:rPr lang="en-US" altLang="ko-KR"/>
              <a:t>, </a:t>
            </a:r>
            <a:r>
              <a:rPr lang="ko-KR" altLang="en-US"/>
              <a:t>주소 새로 할당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team2 += “</a:t>
            </a:r>
            <a:r>
              <a:rPr lang="ko-KR" altLang="en-US"/>
              <a:t>팀차이</a:t>
            </a:r>
            <a:r>
              <a:rPr lang="en-US" altLang="ko-KR"/>
              <a:t>”;  // </a:t>
            </a:r>
            <a:r>
              <a:rPr lang="ko-KR" altLang="en-US"/>
              <a:t>동일</a:t>
            </a:r>
            <a:r>
              <a:rPr lang="en-US" altLang="ko-KR"/>
              <a:t>. (</a:t>
            </a:r>
            <a:r>
              <a:rPr lang="ko-KR" altLang="en-US"/>
              <a:t>가변적이지 않음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team2 = “</a:t>
            </a:r>
            <a:r>
              <a:rPr lang="ko-KR" altLang="en-US"/>
              <a:t>힘들다</a:t>
            </a:r>
            <a:r>
              <a:rPr lang="en-US" altLang="ko-KR"/>
              <a:t>”;  // </a:t>
            </a:r>
            <a:r>
              <a:rPr lang="ko-KR" altLang="en-US"/>
              <a:t>동일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5334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8534C-B902-EFB0-D7AA-66CB7A2E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다음 코드의 문제를 찾으시오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2A2A96-30B3-09E0-BE4D-2FA5C158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97FF1-D448-1B0A-44CD-3BB9CF51E3B5}"/>
              </a:ext>
            </a:extLst>
          </p:cNvPr>
          <p:cNvSpPr txBox="1"/>
          <p:nvPr/>
        </p:nvSpPr>
        <p:spPr>
          <a:xfrm>
            <a:off x="838200" y="1225118"/>
            <a:ext cx="985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void UpdateScore()</a:t>
            </a: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{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 </a:t>
            </a:r>
            <a:r>
              <a:rPr lang="ko-KR" altLang="ko-KR" sz="1800" b="0" i="0">
                <a:effectLst/>
                <a:latin typeface="+mn-lt"/>
              </a:rPr>
              <a:t>scoreText.SetText("Score: {0}", score);</a:t>
            </a:r>
            <a:endParaRPr lang="en-US" altLang="ko-KR" sz="1800" b="0" i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}</a:t>
            </a:r>
            <a:endParaRPr lang="ko-KR" altLang="ko-KR" sz="1050" b="0" i="0">
              <a:effectLst/>
              <a:latin typeface="anthropic-mono"/>
            </a:endParaRPr>
          </a:p>
        </p:txBody>
      </p:sp>
    </p:spTree>
    <p:extLst>
      <p:ext uri="{BB962C8B-B14F-4D97-AF65-F5344CB8AC3E}">
        <p14:creationId xmlns:p14="http://schemas.microsoft.com/office/powerpoint/2010/main" val="2190761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C4A6-FABE-0F34-B256-985519F3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4421E-C108-CFE7-1B5C-A7082EE9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온리 </a:t>
            </a:r>
            <a:r>
              <a:rPr lang="en-US" altLang="ko-KR"/>
              <a:t>C# </a:t>
            </a:r>
            <a:r>
              <a:rPr lang="ko-KR" altLang="en-US"/>
              <a:t>환경인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32F041-43B7-52BD-91CD-1F4571C5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844800"/>
            <a:ext cx="11019971" cy="3332163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scoreText </a:t>
            </a:r>
            <a:r>
              <a:rPr lang="ko-KR" altLang="en-US"/>
              <a:t>같은것은</a:t>
            </a:r>
            <a:r>
              <a:rPr lang="en-US" altLang="ko-KR"/>
              <a:t>… string.Format </a:t>
            </a:r>
            <a:r>
              <a:rPr lang="ko-KR" altLang="en-US"/>
              <a:t>같은 함수라고 생각하면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457200" indent="-457200">
              <a:buAutoNum type="arabicPeriod"/>
            </a:pPr>
            <a:r>
              <a:rPr lang="en-US" altLang="ko-KR"/>
              <a:t>boxing 1</a:t>
            </a:r>
            <a:r>
              <a:rPr lang="ko-KR" altLang="en-US"/>
              <a:t>회 </a:t>
            </a:r>
            <a:r>
              <a:rPr lang="en-US" altLang="ko-KR"/>
              <a:t>: string.Format(string, object); </a:t>
            </a:r>
            <a:r>
              <a:rPr lang="ko-KR" altLang="en-US"/>
              <a:t>이므로 </a:t>
            </a:r>
            <a:r>
              <a:rPr lang="en-US" altLang="ko-KR"/>
              <a:t>int to object (</a:t>
            </a:r>
            <a:r>
              <a:rPr lang="ko-KR" altLang="en-US"/>
              <a:t>힙에 자리만들어서 배정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* </a:t>
            </a:r>
            <a:r>
              <a:rPr lang="ko-KR" altLang="en-US"/>
              <a:t>스택에 존재하면 되는 애</a:t>
            </a:r>
            <a:r>
              <a:rPr lang="en-US" altLang="ko-KR"/>
              <a:t>(int)</a:t>
            </a:r>
            <a:r>
              <a:rPr lang="ko-KR" altLang="en-US"/>
              <a:t>를 힙에 복사하여 중복값 발생</a:t>
            </a:r>
            <a:endParaRPr lang="en-US" altLang="ko-KR"/>
          </a:p>
          <a:p>
            <a:pPr marL="457200" indent="-457200">
              <a:buAutoNum type="arabicPeriod"/>
            </a:pPr>
            <a:endParaRPr lang="en-US" altLang="ko-KR"/>
          </a:p>
          <a:p>
            <a:pPr marL="457200" indent="-457200">
              <a:buAutoNum type="arabicPeriod"/>
            </a:pPr>
            <a:r>
              <a:rPr lang="en-US" altLang="ko-KR"/>
              <a:t>GC : string</a:t>
            </a:r>
            <a:r>
              <a:rPr lang="ko-KR" altLang="en-US"/>
              <a:t>이 새로 생성 됨 </a:t>
            </a:r>
            <a:r>
              <a:rPr lang="en-US" altLang="ko-KR"/>
              <a:t>(</a:t>
            </a:r>
            <a:r>
              <a:rPr lang="ko-KR" altLang="en-US"/>
              <a:t>힙 영역에 계속 쌓임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ko-KR" altLang="en-US"/>
              <a:t>그러니 힙 영역에 </a:t>
            </a:r>
            <a:r>
              <a:rPr lang="en-US" altLang="ko-KR"/>
              <a:t>int (</a:t>
            </a:r>
            <a:r>
              <a:rPr lang="ko-KR" altLang="en-US"/>
              <a:t>가 </a:t>
            </a:r>
            <a:r>
              <a:rPr lang="en-US" altLang="ko-KR"/>
              <a:t>object</a:t>
            </a:r>
            <a:r>
              <a:rPr lang="ko-KR" altLang="en-US"/>
              <a:t>로</a:t>
            </a:r>
            <a:r>
              <a:rPr lang="en-US" altLang="ko-KR"/>
              <a:t>) 1</a:t>
            </a:r>
            <a:r>
              <a:rPr lang="ko-KR" altLang="en-US"/>
              <a:t>개</a:t>
            </a:r>
            <a:r>
              <a:rPr lang="en-US" altLang="ko-KR"/>
              <a:t>, string 1</a:t>
            </a:r>
            <a:r>
              <a:rPr lang="ko-KR" altLang="en-US"/>
              <a:t>개가 매 프레임 쌓임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06379-9B93-CB83-00B7-C30BC893CB76}"/>
              </a:ext>
            </a:extLst>
          </p:cNvPr>
          <p:cNvSpPr txBox="1"/>
          <p:nvPr/>
        </p:nvSpPr>
        <p:spPr>
          <a:xfrm>
            <a:off x="838200" y="1225118"/>
            <a:ext cx="985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void UpdateScore()</a:t>
            </a: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{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 </a:t>
            </a:r>
            <a:r>
              <a:rPr lang="ko-KR" altLang="ko-KR" sz="1800" b="0" i="0">
                <a:effectLst/>
                <a:latin typeface="+mn-lt"/>
              </a:rPr>
              <a:t>scoreText.SetText("Score: {0}", score);</a:t>
            </a:r>
            <a:endParaRPr lang="en-US" altLang="ko-KR" sz="1800" b="0" i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}</a:t>
            </a:r>
            <a:endParaRPr lang="ko-KR" altLang="ko-KR" sz="1050" b="0" i="0">
              <a:effectLst/>
              <a:latin typeface="anthropic-mono"/>
            </a:endParaRPr>
          </a:p>
        </p:txBody>
      </p:sp>
    </p:spTree>
    <p:extLst>
      <p:ext uri="{BB962C8B-B14F-4D97-AF65-F5344CB8AC3E}">
        <p14:creationId xmlns:p14="http://schemas.microsoft.com/office/powerpoint/2010/main" val="3490730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0BD9-8D14-26AB-52AD-2C648AA3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CF686-4367-24AD-C7E5-B015892C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유니티 </a:t>
            </a:r>
            <a:r>
              <a:rPr lang="en-US" altLang="ko-KR"/>
              <a:t>TMP</a:t>
            </a:r>
            <a:r>
              <a:rPr lang="ko-KR" altLang="en-US"/>
              <a:t>를 사용하는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03960A-4E13-38DD-300C-83AB0BFF9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844800"/>
            <a:ext cx="11019971" cy="3332163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/>
              <a:t>박싱</a:t>
            </a:r>
            <a:r>
              <a:rPr lang="en-US" altLang="ko-KR"/>
              <a:t> </a:t>
            </a:r>
            <a:r>
              <a:rPr lang="ko-KR" altLang="en-US"/>
              <a:t>은</a:t>
            </a:r>
            <a:r>
              <a:rPr lang="en-US" altLang="ko-KR"/>
              <a:t>… </a:t>
            </a:r>
            <a:r>
              <a:rPr lang="ko-KR" altLang="en-US"/>
              <a:t>없음</a:t>
            </a:r>
            <a:r>
              <a:rPr lang="en-US" altLang="ko-KR"/>
              <a:t>. SetText(string, float) </a:t>
            </a:r>
            <a:r>
              <a:rPr lang="ko-KR" altLang="en-US"/>
              <a:t>을 지원함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GC </a:t>
            </a:r>
            <a:r>
              <a:rPr lang="ko-KR" altLang="en-US"/>
              <a:t>도</a:t>
            </a:r>
            <a:r>
              <a:rPr lang="en-US" altLang="ko-KR"/>
              <a:t>… </a:t>
            </a:r>
            <a:r>
              <a:rPr lang="ko-KR" altLang="en-US"/>
              <a:t>없음</a:t>
            </a:r>
            <a:r>
              <a:rPr lang="en-US" altLang="ko-KR"/>
              <a:t>. TMP </a:t>
            </a:r>
            <a:r>
              <a:rPr lang="ko-KR" altLang="en-US"/>
              <a:t>내부의 재사용 버퍼가 존재함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=&gt; [s][c][o][r][e][:][ ][</a:t>
            </a:r>
            <a:r>
              <a:rPr lang="ko-KR" altLang="en-US"/>
              <a:t>이부분을 변경해서 사용함</a:t>
            </a:r>
            <a:r>
              <a:rPr lang="en-US" altLang="ko-KR"/>
              <a:t>]. (C++</a:t>
            </a:r>
            <a:r>
              <a:rPr lang="ko-KR" altLang="en-US"/>
              <a:t>처럼 버퍼를 다룸</a:t>
            </a:r>
            <a:r>
              <a:rPr lang="en-US" altLang="ko-KR"/>
              <a:t>)</a:t>
            </a:r>
          </a:p>
          <a:p>
            <a:pPr>
              <a:buFontTx/>
              <a:buChar char="-"/>
            </a:pPr>
            <a:endParaRPr lang="en-US" altLang="ko-KR"/>
          </a:p>
          <a:p>
            <a:pPr marL="457200" indent="-457200">
              <a:buAutoNum type="arabicPeriod"/>
            </a:pPr>
            <a:r>
              <a:rPr lang="ko-KR" altLang="en-US"/>
              <a:t>메시 리빌드 </a:t>
            </a:r>
            <a:r>
              <a:rPr lang="en-US" altLang="ko-KR"/>
              <a:t>: </a:t>
            </a:r>
            <a:r>
              <a:rPr lang="ko-KR" altLang="en-US"/>
              <a:t>호출 시 </a:t>
            </a:r>
            <a:r>
              <a:rPr lang="en-US" altLang="ko-KR"/>
              <a:t>text </a:t>
            </a:r>
            <a:r>
              <a:rPr lang="ko-KR" altLang="en-US"/>
              <a:t>가 </a:t>
            </a:r>
            <a:r>
              <a:rPr lang="en-US" altLang="ko-KR"/>
              <a:t>dirty </a:t>
            </a:r>
            <a:r>
              <a:rPr lang="ko-KR" altLang="en-US"/>
              <a:t>처리되므로</a:t>
            </a:r>
            <a:r>
              <a:rPr lang="en-US" altLang="ko-KR"/>
              <a:t>, canvas </a:t>
            </a:r>
            <a:r>
              <a:rPr lang="ko-KR" altLang="en-US"/>
              <a:t>전체의 리배칭이 일어남</a:t>
            </a:r>
            <a:r>
              <a:rPr lang="en-US" altLang="ko-KR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0A1E2-99E1-D7F0-EDD7-8644F4B11A4F}"/>
              </a:ext>
            </a:extLst>
          </p:cNvPr>
          <p:cNvSpPr txBox="1"/>
          <p:nvPr/>
        </p:nvSpPr>
        <p:spPr>
          <a:xfrm>
            <a:off x="838200" y="1225118"/>
            <a:ext cx="985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void UpdateScore()</a:t>
            </a: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{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 </a:t>
            </a:r>
            <a:r>
              <a:rPr lang="ko-KR" altLang="ko-KR" sz="1800" b="0" i="0">
                <a:effectLst/>
                <a:latin typeface="+mn-lt"/>
              </a:rPr>
              <a:t>scoreText.SetText("Score: {0}", score);</a:t>
            </a:r>
            <a:endParaRPr lang="en-US" altLang="ko-KR" sz="1800" b="0" i="0"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}</a:t>
            </a:r>
            <a:endParaRPr lang="ko-KR" altLang="ko-KR" sz="1050" b="0" i="0">
              <a:effectLst/>
              <a:latin typeface="anthropic-mono"/>
            </a:endParaRPr>
          </a:p>
        </p:txBody>
      </p:sp>
    </p:spTree>
    <p:extLst>
      <p:ext uri="{BB962C8B-B14F-4D97-AF65-F5344CB8AC3E}">
        <p14:creationId xmlns:p14="http://schemas.microsoft.com/office/powerpoint/2010/main" val="132170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F2D1-6EEE-9985-88D1-2AAEA953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06AEE-DB1B-546B-99AD-62BB8F5E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TMP</a:t>
            </a:r>
            <a:r>
              <a:rPr lang="ko-KR" altLang="en-US"/>
              <a:t>인데 위험한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2F13C-7F9C-A88B-9EED-47BE0FC7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01558"/>
            <a:ext cx="11019971" cy="3332163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1. C# </a:t>
            </a:r>
            <a:r>
              <a:rPr lang="ko-KR" altLang="en-US"/>
              <a:t>자체 </a:t>
            </a:r>
            <a:r>
              <a:rPr lang="en-US" altLang="ko-KR"/>
              <a:t>string </a:t>
            </a:r>
            <a:r>
              <a:rPr lang="ko-KR" altLang="en-US"/>
              <a:t>합체이므로</a:t>
            </a:r>
            <a:r>
              <a:rPr lang="en-US" altLang="ko-KR"/>
              <a:t>, </a:t>
            </a:r>
            <a:r>
              <a:rPr lang="ko-KR" altLang="en-US"/>
              <a:t>힙할당이 매번 일어남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2. hp </a:t>
            </a:r>
            <a:r>
              <a:rPr lang="ko-KR" altLang="en-US"/>
              <a:t>등 </a:t>
            </a:r>
            <a:r>
              <a:rPr lang="en-US" altLang="ko-KR"/>
              <a:t>string </a:t>
            </a:r>
            <a:r>
              <a:rPr lang="ko-KR" altLang="en-US"/>
              <a:t>화 하는 과정에서 값 객체의 </a:t>
            </a:r>
            <a:r>
              <a:rPr lang="en-US" altLang="ko-KR"/>
              <a:t>boxing</a:t>
            </a:r>
            <a:r>
              <a:rPr lang="ko-KR" altLang="en-US"/>
              <a:t>이 일어남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3. .tag </a:t>
            </a:r>
            <a:r>
              <a:rPr lang="ko-KR" altLang="en-US"/>
              <a:t>반환 시 새로 힙할당해서 돌려줌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- </a:t>
            </a:r>
            <a:r>
              <a:rPr lang="ko-KR" altLang="en-US"/>
              <a:t>유니티 </a:t>
            </a:r>
            <a:r>
              <a:rPr lang="en-US" altLang="ko-KR"/>
              <a:t>C++ </a:t>
            </a:r>
            <a:r>
              <a:rPr lang="ko-KR" altLang="en-US"/>
              <a:t>데이터를 변환해서 돌려주는 것이라</a:t>
            </a:r>
            <a:r>
              <a:rPr lang="en-US" altLang="ko-KR"/>
              <a:t>…</a:t>
            </a:r>
          </a:p>
          <a:p>
            <a:pPr marL="0" indent="0">
              <a:buNone/>
            </a:pPr>
            <a:r>
              <a:rPr lang="en-US" altLang="ko-KR"/>
              <a:t>   - native </a:t>
            </a:r>
            <a:r>
              <a:rPr lang="ko-KR" altLang="en-US"/>
              <a:t>메모리를 가리켜서 돌려줄 수 없으니</a:t>
            </a:r>
            <a:r>
              <a:rPr lang="en-US" altLang="ko-KR"/>
              <a:t>, </a:t>
            </a:r>
            <a:r>
              <a:rPr lang="ko-KR" altLang="en-US"/>
              <a:t>새로 힙할당 한 객체를 주는 것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4. </a:t>
            </a:r>
            <a:r>
              <a:rPr lang="ko-KR" altLang="en-US"/>
              <a:t>이 디버그코드 빌드에서도 동작하니까 여기저기 뿌려두지 마라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98AE1-3AAD-C013-38E3-4F35182A7534}"/>
              </a:ext>
            </a:extLst>
          </p:cNvPr>
          <p:cNvSpPr txBox="1"/>
          <p:nvPr/>
        </p:nvSpPr>
        <p:spPr>
          <a:xfrm>
            <a:off x="838200" y="1225118"/>
            <a:ext cx="9855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void UpdateScore()</a:t>
            </a: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{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text.text = "Score: " + score; 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text.text = $"HP {hp}/{maxHp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if (gameObject.tag == "Player") { } </a:t>
            </a:r>
          </a:p>
          <a:p>
            <a:pPr marL="0" marR="0" indent="0" algn="l">
              <a:buNone/>
            </a:pPr>
            <a:r>
              <a:rPr lang="en-US" altLang="ko-KR" sz="1800" b="0" i="0">
                <a:effectLst/>
                <a:latin typeface="+mn-lt"/>
              </a:rPr>
              <a:t>    Debug.Log("pos: " + transform.position);</a:t>
            </a:r>
          </a:p>
          <a:p>
            <a:pPr marL="0" marR="0" indent="0" algn="l">
              <a:buNone/>
            </a:pPr>
            <a:r>
              <a:rPr lang="ko-KR" altLang="ko-KR" sz="1800" b="0" i="0">
                <a:effectLst/>
                <a:latin typeface="+mn-lt"/>
              </a:rPr>
              <a:t>}</a:t>
            </a:r>
            <a:endParaRPr lang="ko-KR" altLang="ko-KR" sz="1050" b="0" i="0">
              <a:effectLst/>
              <a:latin typeface="anthropic-mono"/>
            </a:endParaRPr>
          </a:p>
        </p:txBody>
      </p:sp>
    </p:spTree>
    <p:extLst>
      <p:ext uri="{BB962C8B-B14F-4D97-AF65-F5344CB8AC3E}">
        <p14:creationId xmlns:p14="http://schemas.microsoft.com/office/powerpoint/2010/main" val="2778850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3BDAB-DD77-8CDC-D4E8-F203B297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해결 </a:t>
            </a:r>
            <a:r>
              <a:rPr lang="en-US" altLang="ko-KR"/>
              <a:t>1. string builder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091BD-1DBA-FB27-3928-CE6A092AF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for (int i = 0 ; I &lt; 10000; ++i) str += i;</a:t>
            </a:r>
          </a:p>
          <a:p>
            <a:pPr>
              <a:buFontTx/>
              <a:buChar char="-"/>
            </a:pPr>
            <a:r>
              <a:rPr lang="ko-KR" altLang="en-US"/>
              <a:t>이러면 힙에 </a:t>
            </a:r>
            <a:r>
              <a:rPr lang="en-US" altLang="ko-KR"/>
              <a:t>“1” “12” “123” “1234” “”12345” …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var sb = new StringBuilder(5000);</a:t>
            </a:r>
          </a:p>
          <a:p>
            <a:pPr marL="0" indent="0">
              <a:buNone/>
            </a:pPr>
            <a:r>
              <a:rPr lang="en-US" altLang="ko-KR"/>
              <a:t>for (int I = 0 ; I &lt; 10000; ++i) sb.Append(i);</a:t>
            </a:r>
          </a:p>
          <a:p>
            <a:pPr>
              <a:buFontTx/>
              <a:buChar char="-"/>
            </a:pPr>
            <a:r>
              <a:rPr lang="ko-KR" altLang="en-US"/>
              <a:t>이러면 힙에 </a:t>
            </a:r>
            <a:r>
              <a:rPr lang="en-US" altLang="ko-KR"/>
              <a:t>“123456789101112…5000” </a:t>
            </a:r>
            <a:r>
              <a:rPr lang="ko-KR" altLang="en-US"/>
              <a:t>쯤 저장하고 </a:t>
            </a:r>
            <a:r>
              <a:rPr lang="en-US" altLang="ko-KR"/>
              <a:t>“500150025003…” </a:t>
            </a:r>
            <a:r>
              <a:rPr lang="ko-KR" altLang="en-US"/>
              <a:t>쯤 저장하고</a:t>
            </a:r>
            <a:r>
              <a:rPr lang="en-US" altLang="ko-KR"/>
              <a:t>…</a:t>
            </a:r>
          </a:p>
          <a:p>
            <a:pPr>
              <a:buFontTx/>
              <a:buChar char="-"/>
            </a:pPr>
            <a:r>
              <a:rPr lang="ko-KR" altLang="en-US"/>
              <a:t>청크별로 나눠서 저장하며</a:t>
            </a:r>
            <a:r>
              <a:rPr lang="en-US" altLang="ko-KR"/>
              <a:t>, cpp</a:t>
            </a:r>
            <a:r>
              <a:rPr lang="ko-KR" altLang="en-US"/>
              <a:t>의 문자열 </a:t>
            </a:r>
            <a:r>
              <a:rPr lang="en-US" altLang="ko-KR"/>
              <a:t>insert </a:t>
            </a:r>
            <a:r>
              <a:rPr lang="ko-KR" altLang="en-US"/>
              <a:t>기능처럼 사용이 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021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94E5F-1385-6CA7-B1E9-1723688D8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0716C-CA1E-4E3E-7F3E-67EE514A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해결 </a:t>
            </a:r>
            <a:r>
              <a:rPr lang="en-US" altLang="ko-KR"/>
              <a:t>2. </a:t>
            </a:r>
            <a:r>
              <a:rPr lang="ko-KR" altLang="en-US"/>
              <a:t>문자열 캐싱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01E489-67FA-5D0A-4ED9-DD9204920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그냥 리터럴 문자는 읽기 전용 메모리에 저장되어 해당 효과를 누리긴 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30</a:t>
            </a:r>
            <a:r>
              <a:rPr lang="ko-KR" altLang="en-US"/>
              <a:t>초가 필요하면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readonly string[] cache = new string[31];</a:t>
            </a:r>
          </a:p>
          <a:p>
            <a:pPr marL="0" indent="0">
              <a:buNone/>
            </a:pPr>
            <a:r>
              <a:rPr lang="en-US" altLang="ko-KR"/>
              <a:t>cache[0] = “0</a:t>
            </a:r>
            <a:r>
              <a:rPr lang="ko-KR" altLang="en-US"/>
              <a:t>초</a:t>
            </a:r>
            <a:r>
              <a:rPr lang="en-US" altLang="ko-KR"/>
              <a:t>”;</a:t>
            </a:r>
          </a:p>
          <a:p>
            <a:pPr marL="0" indent="0">
              <a:buNone/>
            </a:pPr>
            <a:r>
              <a:rPr lang="en-US" altLang="ko-KR"/>
              <a:t>cache[1] = “1</a:t>
            </a:r>
            <a:r>
              <a:rPr lang="ko-KR" altLang="en-US"/>
              <a:t>초</a:t>
            </a:r>
            <a:r>
              <a:rPr lang="en-US" altLang="ko-KR"/>
              <a:t>”;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TMP </a:t>
            </a:r>
            <a:r>
              <a:rPr lang="ko-KR" altLang="en-US"/>
              <a:t>에서 문자열 캐싱의 조건은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413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7A38-6689-B3F6-EF4C-565C9B837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00489-F784-3A86-4D9C-86DC95F6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해결 </a:t>
            </a:r>
            <a:r>
              <a:rPr lang="en-US" altLang="ko-KR"/>
              <a:t>3. Span, </a:t>
            </a:r>
            <a:r>
              <a:rPr lang="ko-KR" altLang="en-US"/>
              <a:t>읽기 전용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292359-4AC0-78C9-266D-03C3C6ECE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C++17</a:t>
            </a:r>
            <a:r>
              <a:rPr lang="ko-KR" altLang="en-US"/>
              <a:t>의 </a:t>
            </a:r>
            <a:r>
              <a:rPr lang="en-US" altLang="ko-KR"/>
              <a:t>string_view, C++20</a:t>
            </a:r>
            <a:r>
              <a:rPr lang="ko-KR" altLang="en-US"/>
              <a:t>의 </a:t>
            </a:r>
            <a:r>
              <a:rPr lang="en-US" altLang="ko-KR"/>
              <a:t>span </a:t>
            </a:r>
            <a:r>
              <a:rPr lang="ko-KR" altLang="en-US"/>
              <a:t>들어왔다</a:t>
            </a:r>
            <a:r>
              <a:rPr lang="en-US" altLang="ko-KR"/>
              <a:t>. (C#</a:t>
            </a:r>
            <a:r>
              <a:rPr lang="ko-KR" altLang="en-US"/>
              <a:t>이 먼저함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ko-KR" altLang="en-US"/>
              <a:t>멤버로서 존재할 수는 없고 메서드에서만 사용 가능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ko-KR"/>
              <a:t>string line = "hp=100"; </a:t>
            </a:r>
            <a:endParaRPr lang="en-US" altLang="ko-KR"/>
          </a:p>
          <a:p>
            <a:pPr marL="0" indent="0">
              <a:buNone/>
            </a:pPr>
            <a:r>
              <a:rPr lang="ko-KR" altLang="ko-KR"/>
              <a:t>ReadOnlySpan&lt;char&gt; s = line.AsSpan(); </a:t>
            </a:r>
            <a:endParaRPr lang="en-US" altLang="ko-KR"/>
          </a:p>
          <a:p>
            <a:pPr marL="0" indent="0">
              <a:buNone/>
            </a:pPr>
            <a:r>
              <a:rPr lang="ko-KR" altLang="ko-KR"/>
              <a:t>int eq = s.IndexOf('=‘); </a:t>
            </a:r>
            <a:endParaRPr lang="en-US" altLang="ko-KR"/>
          </a:p>
          <a:p>
            <a:pPr marL="0" indent="0">
              <a:buNone/>
            </a:pPr>
            <a:r>
              <a:rPr lang="ko-KR" altLang="ko-KR"/>
              <a:t>ReadOnlySpan&lt;char&gt; key = s[..eq]; // "hp" (원본 메모리를 가리킬 뿐)</a:t>
            </a:r>
            <a:endParaRPr lang="en-US" altLang="ko-KR"/>
          </a:p>
          <a:p>
            <a:pPr marL="0" indent="0">
              <a:buNone/>
            </a:pPr>
            <a:r>
              <a:rPr lang="ko-KR" altLang="ko-KR"/>
              <a:t>ReadOnlySpan&lt;char&gt; val = s[(eq + 1)..];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hp </a:t>
            </a:r>
            <a:r>
              <a:rPr lang="ko-KR" altLang="en-US"/>
              <a:t>와 </a:t>
            </a:r>
            <a:r>
              <a:rPr lang="en-US" altLang="ko-KR"/>
              <a:t>100 </a:t>
            </a:r>
            <a:r>
              <a:rPr lang="ko-KR" altLang="en-US"/>
              <a:t>을 분리해내는데</a:t>
            </a:r>
            <a:r>
              <a:rPr lang="en-US" altLang="ko-KR"/>
              <a:t>, substr</a:t>
            </a:r>
            <a:r>
              <a:rPr lang="ko-KR" altLang="en-US"/>
              <a:t>을 사용하지 않았으며 힙할당 없음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075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DE61-BF85-34A1-534B-DBF59FE6D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07282-2ACC-2D89-BC02-A3037770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C++ Span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8D697C-6C0F-558B-BF7A-1776BFE7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ko-KR"/>
              <a:t>int Sum(std::span&lt;const int&gt; data)</a:t>
            </a:r>
            <a:r>
              <a:rPr lang="en-US" altLang="ko-KR"/>
              <a:t> </a:t>
            </a:r>
            <a:r>
              <a:rPr lang="ko-KR" altLang="ko-KR"/>
              <a:t>{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</a:t>
            </a:r>
            <a:r>
              <a:rPr lang="ko-KR" altLang="ko-KR"/>
              <a:t>int sum = 0;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</a:t>
            </a:r>
            <a:r>
              <a:rPr lang="ko-KR" altLang="ko-KR"/>
              <a:t>for (int v : data) sum += v;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 </a:t>
            </a:r>
            <a:r>
              <a:rPr lang="ko-KR" altLang="ko-KR"/>
              <a:t>return sum; </a:t>
            </a:r>
            <a:endParaRPr lang="en-US" altLang="ko-KR"/>
          </a:p>
          <a:p>
            <a:pPr marL="0" indent="0">
              <a:buNone/>
            </a:pPr>
            <a:r>
              <a:rPr lang="ko-KR" altLang="ko-KR"/>
              <a:t>}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vector&lt;int&gt; vec = {1,2,3};</a:t>
            </a:r>
          </a:p>
          <a:p>
            <a:pPr marL="0" indent="0">
              <a:buNone/>
            </a:pPr>
            <a:r>
              <a:rPr lang="en-US" altLang="ko-KR"/>
              <a:t>int arr[] = {4,5,6};</a:t>
            </a:r>
          </a:p>
          <a:p>
            <a:pPr marL="0" indent="0">
              <a:buNone/>
            </a:pPr>
            <a:r>
              <a:rPr lang="en-US" altLang="ko-KR"/>
              <a:t>array&lt;int, 3&gt; stdArr = {7,8,9};</a:t>
            </a:r>
          </a:p>
          <a:p>
            <a:pPr marL="0" indent="0">
              <a:buNone/>
            </a:pPr>
            <a:r>
              <a:rPr lang="en-US" altLang="ko-KR"/>
              <a:t>Sum(vec);  Sum(arr);  Sum(stdArr); // </a:t>
            </a:r>
            <a:r>
              <a:rPr lang="ko-KR" altLang="en-US"/>
              <a:t>모두 가능하다 우와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Span </a:t>
            </a:r>
            <a:r>
              <a:rPr lang="ko-KR" altLang="en-US"/>
              <a:t>내부는 포인터</a:t>
            </a:r>
            <a:r>
              <a:rPr lang="en-US" altLang="ko-KR"/>
              <a:t>/size </a:t>
            </a:r>
            <a:r>
              <a:rPr lang="ko-KR" altLang="en-US"/>
              <a:t>만 존재하므로 가벼움 </a:t>
            </a:r>
            <a:r>
              <a:rPr lang="en-US" altLang="ko-KR"/>
              <a:t>(</a:t>
            </a:r>
            <a:r>
              <a:rPr lang="ko-KR" altLang="en-US"/>
              <a:t>원본 사라지면 댕글링되니 주의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1065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489F3-0073-5EC8-6A6F-1BF66A4F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짬 </a:t>
            </a:r>
            <a:r>
              <a:rPr lang="en-US" altLang="ko-KR"/>
              <a:t>1. Small String Optimzation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E90065-2024-5302-0720-45BA71F1D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C++ string </a:t>
            </a:r>
            <a:r>
              <a:rPr lang="ko-KR" altLang="en-US"/>
              <a:t>은 사실 </a:t>
            </a:r>
            <a:r>
              <a:rPr lang="en-US" altLang="ko-KR"/>
              <a:t>buffer </a:t>
            </a:r>
            <a:r>
              <a:rPr lang="ko-KR" altLang="en-US"/>
              <a:t>를 가지고있으며</a:t>
            </a:r>
            <a:r>
              <a:rPr lang="en-US" altLang="ko-KR"/>
              <a:t>, </a:t>
            </a:r>
            <a:r>
              <a:rPr lang="ko-KR" altLang="en-US"/>
              <a:t>힙할당을 안해도 된다면 안하려고한다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(</a:t>
            </a:r>
            <a:r>
              <a:rPr lang="ko-KR" altLang="en-US"/>
              <a:t>약 </a:t>
            </a:r>
            <a:r>
              <a:rPr lang="en-US" altLang="ko-KR"/>
              <a:t>15</a:t>
            </a:r>
            <a:r>
              <a:rPr lang="ko-KR" altLang="en-US"/>
              <a:t>바이트 정도의 짧은 문자열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2C72C5-46A2-B73C-43F5-917946D0089E}"/>
              </a:ext>
            </a:extLst>
          </p:cNvPr>
          <p:cNvSpPr/>
          <p:nvPr/>
        </p:nvSpPr>
        <p:spPr>
          <a:xfrm>
            <a:off x="1318141" y="3554160"/>
            <a:ext cx="1120462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ptr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56212E-5389-B184-0F55-FA5DCA4E4530}"/>
              </a:ext>
            </a:extLst>
          </p:cNvPr>
          <p:cNvSpPr/>
          <p:nvPr/>
        </p:nvSpPr>
        <p:spPr>
          <a:xfrm>
            <a:off x="6077958" y="3592797"/>
            <a:ext cx="5087155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안녕하십니까 우매한 군중 여러분</a:t>
            </a:r>
            <a:r>
              <a:rPr lang="en-US" altLang="ko-KR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45C7C9-D956-7F56-FEDF-8F3EA35E5999}"/>
              </a:ext>
            </a:extLst>
          </p:cNvPr>
          <p:cNvSpPr/>
          <p:nvPr/>
        </p:nvSpPr>
        <p:spPr>
          <a:xfrm>
            <a:off x="1318142" y="2654937"/>
            <a:ext cx="2240924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</a:rPr>
              <a:t>안녕하십니까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DCA73A-8EEE-46BE-7EA9-6CCA0970EB85}"/>
              </a:ext>
            </a:extLst>
          </p:cNvPr>
          <p:cNvSpPr/>
          <p:nvPr/>
        </p:nvSpPr>
        <p:spPr>
          <a:xfrm>
            <a:off x="3559065" y="3557690"/>
            <a:ext cx="1120462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size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0E0FCE-B35B-B271-76C1-9FD9B656E47C}"/>
              </a:ext>
            </a:extLst>
          </p:cNvPr>
          <p:cNvSpPr/>
          <p:nvPr/>
        </p:nvSpPr>
        <p:spPr>
          <a:xfrm>
            <a:off x="4679527" y="3557690"/>
            <a:ext cx="1120462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capacity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D4E80-4F40-4E5B-334C-4AEE0CF06B36}"/>
              </a:ext>
            </a:extLst>
          </p:cNvPr>
          <p:cNvSpPr/>
          <p:nvPr/>
        </p:nvSpPr>
        <p:spPr>
          <a:xfrm>
            <a:off x="2438603" y="3554160"/>
            <a:ext cx="1120462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-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4C17EA-E98F-DBBF-EB54-33C085F8D837}"/>
              </a:ext>
            </a:extLst>
          </p:cNvPr>
          <p:cNvSpPr/>
          <p:nvPr/>
        </p:nvSpPr>
        <p:spPr>
          <a:xfrm>
            <a:off x="3559065" y="2654937"/>
            <a:ext cx="1120462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size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7560F8-BAC5-59E7-4AB7-63F27DB4165C}"/>
              </a:ext>
            </a:extLst>
          </p:cNvPr>
          <p:cNvSpPr/>
          <p:nvPr/>
        </p:nvSpPr>
        <p:spPr>
          <a:xfrm>
            <a:off x="4679527" y="2654937"/>
            <a:ext cx="1120462" cy="5698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capacity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내용 개체 틀 3">
            <a:extLst>
              <a:ext uri="{FF2B5EF4-FFF2-40B4-BE49-F238E27FC236}">
                <a16:creationId xmlns:a16="http://schemas.microsoft.com/office/drawing/2014/main" id="{323ED906-521B-0706-099A-3563ACB34082}"/>
              </a:ext>
            </a:extLst>
          </p:cNvPr>
          <p:cNvSpPr txBox="1">
            <a:spLocks/>
          </p:cNvSpPr>
          <p:nvPr/>
        </p:nvSpPr>
        <p:spPr>
          <a:xfrm>
            <a:off x="6035027" y="3040237"/>
            <a:ext cx="1327061" cy="369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/>
              <a:t>힙영역</a:t>
            </a:r>
            <a:endParaRPr lang="en-US" altLang="ko-KR"/>
          </a:p>
        </p:txBody>
      </p:sp>
      <p:sp>
        <p:nvSpPr>
          <p:cNvPr id="21" name="내용 개체 틀 3">
            <a:extLst>
              <a:ext uri="{FF2B5EF4-FFF2-40B4-BE49-F238E27FC236}">
                <a16:creationId xmlns:a16="http://schemas.microsoft.com/office/drawing/2014/main" id="{FCB698A6-1164-B806-6353-A4913D2E0C7D}"/>
              </a:ext>
            </a:extLst>
          </p:cNvPr>
          <p:cNvSpPr txBox="1">
            <a:spLocks/>
          </p:cNvSpPr>
          <p:nvPr/>
        </p:nvSpPr>
        <p:spPr>
          <a:xfrm>
            <a:off x="1111542" y="2231229"/>
            <a:ext cx="1327061" cy="369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/>
              <a:t>스택영역</a:t>
            </a:r>
            <a:endParaRPr lang="en-US" altLang="ko-KR"/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CB5933E6-EB51-3888-8A81-90208EB7B3B8}"/>
              </a:ext>
            </a:extLst>
          </p:cNvPr>
          <p:cNvCxnSpPr>
            <a:stCxn id="4" idx="2"/>
            <a:endCxn id="6" idx="1"/>
          </p:cNvCxnSpPr>
          <p:nvPr/>
        </p:nvCxnSpPr>
        <p:spPr>
          <a:xfrm rot="5400000" flipH="1" flipV="1">
            <a:off x="3855011" y="1901103"/>
            <a:ext cx="246308" cy="4199586"/>
          </a:xfrm>
          <a:prstGeom prst="curvedConnector4">
            <a:avLst>
              <a:gd name="adj1" fmla="val -92811"/>
              <a:gd name="adj2" fmla="val 960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92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922</Words>
  <Application>Microsoft Office PowerPoint</Application>
  <PresentationFormat>와이드스크린</PresentationFormat>
  <Paragraphs>122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string</vt:lpstr>
      <vt:lpstr>C++ String</vt:lpstr>
      <vt:lpstr>C# String</vt:lpstr>
      <vt:lpstr>다음 코드의 문제를 찾으시오</vt:lpstr>
      <vt:lpstr>1. 온리 C# 환경인 경우</vt:lpstr>
      <vt:lpstr>2. 유니티 TMP를 사용하는 경우</vt:lpstr>
      <vt:lpstr>3. TMP인데 위험한 경우</vt:lpstr>
      <vt:lpstr>해결 1. string builder</vt:lpstr>
      <vt:lpstr>해결 2. 문자열 캐싱</vt:lpstr>
      <vt:lpstr>해결 3. Span, 읽기 전용 처리</vt:lpstr>
      <vt:lpstr>C++ Span</vt:lpstr>
      <vt:lpstr>짬 1. Small String Optimzation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85</cp:revision>
  <dcterms:created xsi:type="dcterms:W3CDTF">2026-09-03T18:17:10Z</dcterms:created>
  <dcterms:modified xsi:type="dcterms:W3CDTF">2026-10-26T18:48:58Z</dcterms:modified>
</cp:coreProperties>
</file>