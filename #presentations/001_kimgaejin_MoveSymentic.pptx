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C6AAE-F4C5-4280-8609-A1AB9DA88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B48F9E-17C0-746C-CF20-CFB125EAD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5C104-CBC9-1DF8-899F-EB2021193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73CC5-22A8-CFED-74B3-A9371012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49EB29-75B6-542A-7858-FCA22328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91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1732D-2688-7EF2-9D5A-AEA9B811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7D091-2585-A838-73CD-24928056A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FFA660-B7DA-C4FB-EB98-23A22D00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991B6-8319-51B1-6AF7-CE3709A8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CD275-85B3-672E-A6CF-BE37A8F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10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07872-5F6A-514F-D79C-96EA31E0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AF5A79-501A-00C8-421E-3C0E7AD7D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54424-3B47-5399-3C55-9BC46191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B1252-3E6B-DAE5-0242-7C6B6F8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043FF-7B44-0CE4-56CF-FBD88EAE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15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9304B-F3F6-CB0C-6347-E630C208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1E2E6-8DD3-A747-74B3-1B0B986C6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9D13E-5B88-D8C4-2C9E-B86CBDAD5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236E7-E416-2A53-A73D-D0EF309D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14D3E2-F6EC-90AD-674B-6C30E469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33020-308E-52AC-4951-92B46648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50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499FE-FCB5-F06B-78BE-7310C4B7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6B8758-357C-3808-D6B1-B8D22BDE2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4FB119-1814-F68E-462B-639F8B1FD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34A8A6-BAEC-6E90-90F5-9AD32FA9E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561365-7A83-2892-42BA-F8623003C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BD8506-BBC9-BF54-C889-D172FEDC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637CA-76E5-2149-7940-99F13B193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A0B218-7FF2-1858-5241-BD8AF0A2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42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21278-9DEC-781F-8219-07291F41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2D3A0-76CC-D305-6F53-BB9DB53F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EE3778-7382-17D5-B89A-BAABAEE7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0E8EC-3E8E-F66B-8AD4-ABE2C28C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06F033-496C-0542-FA84-D8F65C97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6D123C-E6BC-4C01-3CB1-65E27C11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998274-CB53-B62E-4D4F-0455DDF8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52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C4A44-2C3B-EF58-9405-7441B5610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F625DD-3A22-08E7-D9C7-45F870D3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9F8D6E-219F-A308-7FA4-2F4143B6B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53A46-5481-2AE5-D993-857D52DE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40234E-8DD5-EA42-6CD6-A7A9A3A0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6591CF-812A-AA56-121F-0B821B82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70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8B835-C94B-D0CE-D992-E9B01796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2B1E03-3306-89E6-2F88-1409D6F28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85EB0E-2BA3-435F-C15D-84FE6D5A2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1B203-415C-434F-51DC-E0978E4B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6E4B4A-FABA-9A16-6422-8DA0C244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AE15E3-668F-6AA4-937F-8CBE2A0E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9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625A-F292-B996-9F62-8DA1C58D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27B49C-5E50-847E-6207-F84DE3083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ECA7D8-ADF7-91D0-6B1C-619B0763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E781E-8442-8E0A-478B-F9BFE8643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FA7600-DE6D-52F9-F15B-5D174522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1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BBD06C-F81A-6B0C-8EC4-CCB26D1BC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75563D-79D0-1035-F70D-C24D77891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E4219-8C41-4938-E4E9-98E81B2E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AE647-A7F7-D582-A633-1B216B59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D79DD-0BAE-D86E-F15E-8AE4EBE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52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A13652-1992-299F-D37F-41D1C674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32652E-D673-86EA-AAF2-32A99F9AD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89BB3-175D-D4ED-E898-BA3A49229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C72B6-8698-42DE-84FD-CD58A6ABB71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003D4-57EA-F518-8053-A5FCFC88D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8C522-F26E-8849-B3F3-0E526608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75013-5043-44CE-BEED-716E2D2B1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44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7B5C7-1BD3-1597-2083-7E5ABC6F6F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메시지에서의 </a:t>
            </a:r>
            <a:r>
              <a:rPr lang="en-US" altLang="ko-KR"/>
              <a:t>Move </a:t>
            </a:r>
            <a:r>
              <a:rPr lang="ko-KR" altLang="en-US"/>
              <a:t>사용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3C405E-C7D2-77A7-13A8-960B5893F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컴포넌트 패턴</a:t>
            </a:r>
            <a:br>
              <a:rPr lang="en-US" altLang="ko-KR"/>
            </a:br>
            <a:r>
              <a:rPr lang="ko-KR" altLang="en-US"/>
              <a:t>큐 자료구조</a:t>
            </a:r>
            <a:endParaRPr lang="en-US" altLang="ko-KR"/>
          </a:p>
          <a:p>
            <a:r>
              <a:rPr lang="en-US" altLang="ko-KR"/>
              <a:t>Move symentic</a:t>
            </a:r>
          </a:p>
          <a:p>
            <a:r>
              <a:rPr lang="en-US" altLang="ko-KR"/>
              <a:t>NRVO</a:t>
            </a:r>
          </a:p>
        </p:txBody>
      </p:sp>
    </p:spTree>
    <p:extLst>
      <p:ext uri="{BB962C8B-B14F-4D97-AF65-F5344CB8AC3E}">
        <p14:creationId xmlns:p14="http://schemas.microsoft.com/office/powerpoint/2010/main" val="301538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C5741-4C6D-5DB6-CB66-FCBFDEA1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D1B23-8DDD-4381-CAC1-F342B4F47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캐릭터</a:t>
            </a:r>
            <a:r>
              <a:rPr lang="en-US" altLang="ko-KR"/>
              <a:t> </a:t>
            </a:r>
            <a:r>
              <a:rPr lang="ko-KR" altLang="en-US"/>
              <a:t>오브젝트 를 구성하는데 구현한 컴포넌트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Character Component</a:t>
            </a:r>
          </a:p>
          <a:p>
            <a:pPr>
              <a:buFontTx/>
              <a:buChar char="-"/>
            </a:pPr>
            <a:r>
              <a:rPr lang="en-US" altLang="ko-KR"/>
              <a:t>SkeletalMesh Component</a:t>
            </a:r>
          </a:p>
          <a:p>
            <a:pPr>
              <a:buFontTx/>
              <a:buChar char="-"/>
            </a:pPr>
            <a:r>
              <a:rPr lang="en-US" altLang="ko-KR"/>
              <a:t>Collision Component</a:t>
            </a:r>
          </a:p>
          <a:p>
            <a:pPr>
              <a:buFontTx/>
              <a:buChar char="-"/>
            </a:pPr>
            <a:r>
              <a:rPr lang="en-US" altLang="ko-KR">
                <a:highlight>
                  <a:srgbClr val="FFFF00"/>
                </a:highlight>
              </a:rPr>
              <a:t>RequestHolder Component</a:t>
            </a:r>
          </a:p>
          <a:p>
            <a:pPr>
              <a:buFontTx/>
              <a:buChar char="-"/>
            </a:pPr>
            <a:endParaRPr lang="ko-KR" altLang="en-US"/>
          </a:p>
        </p:txBody>
      </p:sp>
      <p:pic>
        <p:nvPicPr>
          <p:cNvPr id="4" name="그림 3" descr="엔비 데마라 - 나무위키">
            <a:extLst>
              <a:ext uri="{FF2B5EF4-FFF2-40B4-BE49-F238E27FC236}">
                <a16:creationId xmlns:a16="http://schemas.microsoft.com/office/drawing/2014/main" id="{371A964A-22B9-0A33-3BB2-700CEDE4B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04" y="931894"/>
            <a:ext cx="34320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4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10143-1636-F7BA-7153-792A6A29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6C1ACA-7884-942A-D93E-091742D6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53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InitializeCharacter()</a:t>
            </a:r>
          </a:p>
          <a:p>
            <a:pPr>
              <a:buFontTx/>
              <a:buChar char="-"/>
            </a:pPr>
            <a:r>
              <a:rPr lang="ko-KR" altLang="en-US"/>
              <a:t>생성할 때 컴포넌트에 </a:t>
            </a:r>
            <a:r>
              <a:rPr lang="en-US" altLang="ko-KR"/>
              <a:t>RequestHolder</a:t>
            </a:r>
            <a:r>
              <a:rPr lang="ko-KR" altLang="en-US"/>
              <a:t>가 존재한다면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 altLang="ko-KR"/>
              <a:t>  </a:t>
            </a:r>
            <a:r>
              <a:rPr lang="ko-KR" altLang="en-US"/>
              <a:t>캐시에 넣는다 </a:t>
            </a:r>
            <a:r>
              <a:rPr lang="en-US" altLang="ko-KR"/>
              <a:t>(BattleSystem</a:t>
            </a:r>
            <a:r>
              <a:rPr lang="ko-KR" altLang="en-US"/>
              <a:t>이 매 프레임 감시한다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4BF5E4-2390-824B-9892-3782CE5344A1}"/>
              </a:ext>
            </a:extLst>
          </p:cNvPr>
          <p:cNvSpPr/>
          <p:nvPr/>
        </p:nvSpPr>
        <p:spPr>
          <a:xfrm>
            <a:off x="270586" y="702777"/>
            <a:ext cx="3629608" cy="1122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class Scene</a:t>
            </a:r>
          </a:p>
          <a:p>
            <a:pPr algn="ctr"/>
            <a:r>
              <a:rPr lang="en-US" altLang="ko-KR"/>
              <a:t>= Level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5869E0-2636-BB5F-40DD-9135E724A828}"/>
              </a:ext>
            </a:extLst>
          </p:cNvPr>
          <p:cNvSpPr/>
          <p:nvPr/>
        </p:nvSpPr>
        <p:spPr>
          <a:xfrm>
            <a:off x="838200" y="1650570"/>
            <a:ext cx="3629608" cy="561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멤버 </a:t>
            </a:r>
            <a:r>
              <a:rPr lang="en-US" altLang="ko-KR"/>
              <a:t>class BattleSystem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6B94BCF-8921-FA3A-455D-164A74B37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2" y="4055525"/>
            <a:ext cx="7030431" cy="2591162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4EB0CEC-A36A-EAC8-57C0-F14116944A4D}"/>
              </a:ext>
            </a:extLst>
          </p:cNvPr>
          <p:cNvSpPr/>
          <p:nvPr/>
        </p:nvSpPr>
        <p:spPr>
          <a:xfrm>
            <a:off x="1814801" y="5001208"/>
            <a:ext cx="5612365" cy="541176"/>
          </a:xfrm>
          <a:prstGeom prst="roundRect">
            <a:avLst/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F8C1A0D-B7E9-4F6B-6FAE-964419F120D2}"/>
              </a:ext>
            </a:extLst>
          </p:cNvPr>
          <p:cNvSpPr txBox="1">
            <a:spLocks/>
          </p:cNvSpPr>
          <p:nvPr/>
        </p:nvSpPr>
        <p:spPr>
          <a:xfrm>
            <a:off x="7595803" y="4772418"/>
            <a:ext cx="7166688" cy="115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/>
              <a:t>캐릭터 오브젝트는 이미 </a:t>
            </a:r>
            <a:r>
              <a:rPr lang="en-US" altLang="ko-KR" sz="1800"/>
              <a:t>Load</a:t>
            </a:r>
            <a:r>
              <a:rPr lang="ko-KR" altLang="en-US" sz="1800"/>
              <a:t>는 되어있고</a:t>
            </a:r>
            <a:endParaRPr lang="en-US" altLang="ko-KR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/>
              <a:t>캐싱을 위해 이름으로 검색한 상황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42658CF-FF07-F02B-B56C-144DA5BF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150" y="4114357"/>
            <a:ext cx="4182059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5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139CC-57C4-0EE9-F591-E57C21AA9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100"/>
            <a:ext cx="10515600" cy="5630863"/>
          </a:xfrm>
        </p:spPr>
        <p:txBody>
          <a:bodyPr/>
          <a:lstStyle/>
          <a:p>
            <a:r>
              <a:rPr lang="en-US" altLang="ko-KR"/>
              <a:t>Character Component</a:t>
            </a:r>
            <a:r>
              <a:rPr lang="ko-KR" altLang="en-US"/>
              <a:t> 가 파티클 오브젝트를 생성하고 싶다면</a:t>
            </a:r>
            <a:br>
              <a:rPr lang="en-US" altLang="ko-KR"/>
            </a:br>
            <a:r>
              <a:rPr lang="en-US" altLang="ko-KR"/>
              <a:t>				      </a:t>
            </a:r>
            <a:r>
              <a:rPr lang="ko-KR" altLang="en-US"/>
              <a:t>카메라의 위치를 바꾸고 싶다면</a:t>
            </a:r>
            <a:br>
              <a:rPr lang="en-US" altLang="ko-KR"/>
            </a:br>
            <a:r>
              <a:rPr lang="en-US" altLang="ko-KR"/>
              <a:t>RequestHolder </a:t>
            </a:r>
            <a:r>
              <a:rPr lang="ko-KR" altLang="en-US"/>
              <a:t>큐에 </a:t>
            </a:r>
            <a:r>
              <a:rPr lang="en-US" altLang="ko-KR"/>
              <a:t>Request_Desc </a:t>
            </a:r>
            <a:r>
              <a:rPr lang="ko-KR" altLang="en-US"/>
              <a:t>메시지를 저장한다</a:t>
            </a:r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E6D4AA1-C662-B4A9-81A5-CBAF1B015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760" y="2130797"/>
            <a:ext cx="3429479" cy="3143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5211380-8511-1B48-286A-361621F17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1" y="4408860"/>
            <a:ext cx="5010849" cy="21338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138CCB-9495-0C44-1379-0936E9546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1" y="2130797"/>
            <a:ext cx="5515745" cy="2229161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065092C6-C178-85FF-3B65-6D6086CF966A}"/>
              </a:ext>
            </a:extLst>
          </p:cNvPr>
          <p:cNvSpPr txBox="1">
            <a:spLocks/>
          </p:cNvSpPr>
          <p:nvPr/>
        </p:nvSpPr>
        <p:spPr>
          <a:xfrm>
            <a:off x="6476760" y="2565477"/>
            <a:ext cx="5788914" cy="115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/>
              <a:t>각 메시지는 상속으로 구현한 메시지 구조체</a:t>
            </a:r>
            <a:endParaRPr lang="en-US" altLang="ko-KR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/>
              <a:t>각자의 매개변수를 담고 있다</a:t>
            </a:r>
            <a:endParaRPr lang="en-US" altLang="ko-KR" sz="180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8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2C56C9-F069-9952-17A5-A72450B3ABB4}"/>
              </a:ext>
            </a:extLst>
          </p:cNvPr>
          <p:cNvSpPr/>
          <p:nvPr/>
        </p:nvSpPr>
        <p:spPr>
          <a:xfrm>
            <a:off x="1570629" y="5303169"/>
            <a:ext cx="3087399" cy="1056692"/>
          </a:xfrm>
          <a:prstGeom prst="roundRect">
            <a:avLst/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EC31FFA-D5C2-6962-92A1-62E991212426}"/>
              </a:ext>
            </a:extLst>
          </p:cNvPr>
          <p:cNvSpPr/>
          <p:nvPr/>
        </p:nvSpPr>
        <p:spPr>
          <a:xfrm>
            <a:off x="1570628" y="3870091"/>
            <a:ext cx="3087399" cy="355871"/>
          </a:xfrm>
          <a:prstGeom prst="roundRect">
            <a:avLst/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5A25543E-72DE-E54C-80D8-5D689A260E4C}"/>
              </a:ext>
            </a:extLst>
          </p:cNvPr>
          <p:cNvSpPr/>
          <p:nvPr/>
        </p:nvSpPr>
        <p:spPr>
          <a:xfrm rot="5400000">
            <a:off x="1197205" y="3072496"/>
            <a:ext cx="401084" cy="34576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5E64C26D-D252-0A36-7082-93C00FE341C9}"/>
              </a:ext>
            </a:extLst>
          </p:cNvPr>
          <p:cNvSpPr/>
          <p:nvPr/>
        </p:nvSpPr>
        <p:spPr>
          <a:xfrm rot="5400000">
            <a:off x="1197205" y="4518392"/>
            <a:ext cx="401084" cy="34576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39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0B7FF9-9126-DFBE-5B8E-E94A989D0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1701"/>
            <a:ext cx="10515600" cy="4351338"/>
          </a:xfrm>
        </p:spPr>
        <p:txBody>
          <a:bodyPr/>
          <a:lstStyle/>
          <a:p>
            <a:r>
              <a:rPr lang="en-US" altLang="ko-KR"/>
              <a:t>Character</a:t>
            </a:r>
            <a:br>
              <a:rPr lang="en-US" altLang="ko-KR"/>
            </a:br>
            <a:r>
              <a:rPr lang="en-US" altLang="ko-KR"/>
              <a:t>Component</a:t>
            </a:r>
            <a:br>
              <a:rPr lang="en-US" altLang="ko-KR"/>
            </a:br>
            <a:r>
              <a:rPr lang="ko-KR" altLang="en-US"/>
              <a:t>내부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30AD47-1640-9D68-B9BF-1A3E915D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0"/>
            <a:ext cx="751511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1611652-373E-1B40-7415-781C5E8822E9}"/>
              </a:ext>
            </a:extLst>
          </p:cNvPr>
          <p:cNvSpPr/>
          <p:nvPr/>
        </p:nvSpPr>
        <p:spPr>
          <a:xfrm>
            <a:off x="838200" y="2717370"/>
            <a:ext cx="4300714" cy="561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이 오브젝트가 </a:t>
            </a:r>
            <a:r>
              <a:rPr lang="en-US" altLang="ko-KR"/>
              <a:t>RequestHolder Component</a:t>
            </a:r>
            <a:r>
              <a:rPr lang="ko-KR" altLang="en-US"/>
              <a:t>가 있다면</a:t>
            </a:r>
            <a:endParaRPr lang="en-US" altLang="ko-KR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5284EAB-BB1F-C7D5-5B4D-B7D1501CCCCC}"/>
              </a:ext>
            </a:extLst>
          </p:cNvPr>
          <p:cNvSpPr/>
          <p:nvPr/>
        </p:nvSpPr>
        <p:spPr>
          <a:xfrm>
            <a:off x="5266329" y="2717370"/>
            <a:ext cx="4690471" cy="711630"/>
          </a:xfrm>
          <a:prstGeom prst="roundRect">
            <a:avLst/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6328DB5-9C90-AC9F-E6D2-4DA9C71BF197}"/>
              </a:ext>
            </a:extLst>
          </p:cNvPr>
          <p:cNvSpPr/>
          <p:nvPr/>
        </p:nvSpPr>
        <p:spPr>
          <a:xfrm>
            <a:off x="5266328" y="3449389"/>
            <a:ext cx="4690471" cy="3294312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5258A1-029D-2F84-4210-A28CD5038CA1}"/>
              </a:ext>
            </a:extLst>
          </p:cNvPr>
          <p:cNvSpPr/>
          <p:nvPr/>
        </p:nvSpPr>
        <p:spPr>
          <a:xfrm>
            <a:off x="838200" y="3539783"/>
            <a:ext cx="4300714" cy="561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Request_Spawn_AttackEffect</a:t>
            </a:r>
            <a:r>
              <a:rPr lang="ko-KR" altLang="en-US"/>
              <a:t> 메시지를</a:t>
            </a:r>
            <a:endParaRPr lang="en-US" altLang="ko-KR"/>
          </a:p>
          <a:p>
            <a:pPr algn="ctr"/>
            <a:r>
              <a:rPr lang="en-US" altLang="ko-KR"/>
              <a:t>RequestHolder </a:t>
            </a:r>
            <a:r>
              <a:rPr lang="ko-KR" altLang="en-US"/>
              <a:t>에 담는다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103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325064-6D39-15CC-45D4-0373368F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326" y="987528"/>
            <a:ext cx="7964011" cy="5572903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624A9B-C0D8-601E-0245-01E69FBCC364}"/>
              </a:ext>
            </a:extLst>
          </p:cNvPr>
          <p:cNvSpPr/>
          <p:nvPr/>
        </p:nvSpPr>
        <p:spPr>
          <a:xfrm>
            <a:off x="4627020" y="987528"/>
            <a:ext cx="4759052" cy="390668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53AF89-8A57-F0E6-31B6-BBF4CB664447}"/>
              </a:ext>
            </a:extLst>
          </p:cNvPr>
          <p:cNvSpPr/>
          <p:nvPr/>
        </p:nvSpPr>
        <p:spPr>
          <a:xfrm>
            <a:off x="4878480" y="1718500"/>
            <a:ext cx="4759052" cy="779836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826662-D81E-21E5-43B8-D5BB990CE181}"/>
              </a:ext>
            </a:extLst>
          </p:cNvPr>
          <p:cNvSpPr/>
          <p:nvPr/>
        </p:nvSpPr>
        <p:spPr>
          <a:xfrm>
            <a:off x="4878480" y="2823241"/>
            <a:ext cx="4759052" cy="306142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F19FC15-8239-C25A-91C6-396D4A7DA95E}"/>
              </a:ext>
            </a:extLst>
          </p:cNvPr>
          <p:cNvSpPr/>
          <p:nvPr/>
        </p:nvSpPr>
        <p:spPr>
          <a:xfrm>
            <a:off x="4878480" y="4019580"/>
            <a:ext cx="6222092" cy="1686775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7EBC52-99EC-1F7D-F215-CC0426933B44}"/>
              </a:ext>
            </a:extLst>
          </p:cNvPr>
          <p:cNvSpPr/>
          <p:nvPr/>
        </p:nvSpPr>
        <p:spPr>
          <a:xfrm>
            <a:off x="299663" y="694923"/>
            <a:ext cx="3473643" cy="526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 프레임 실행되는</a:t>
            </a:r>
            <a:endParaRPr lang="en-US" altLang="ko-KR"/>
          </a:p>
          <a:p>
            <a:pPr algn="ctr"/>
            <a:r>
              <a:rPr lang="en-US" altLang="ko-KR"/>
              <a:t>RequestProcess()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6C6BBE-3DAF-9A0F-BD88-DB38830FF607}"/>
              </a:ext>
            </a:extLst>
          </p:cNvPr>
          <p:cNvSpPr/>
          <p:nvPr/>
        </p:nvSpPr>
        <p:spPr>
          <a:xfrm>
            <a:off x="193296" y="1582120"/>
            <a:ext cx="3473643" cy="526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캐싱해둔 </a:t>
            </a:r>
            <a:r>
              <a:rPr lang="en-US" altLang="ko-KR"/>
              <a:t>reqeustHolder</a:t>
            </a:r>
            <a:r>
              <a:rPr lang="ko-KR" altLang="en-US"/>
              <a:t>에</a:t>
            </a:r>
            <a:endParaRPr lang="en-US" altLang="ko-KR"/>
          </a:p>
          <a:p>
            <a:pPr algn="ctr"/>
            <a:r>
              <a:rPr lang="ko-KR" altLang="en-US"/>
              <a:t>메시지가 있는지 검사</a:t>
            </a:r>
            <a:endParaRPr lang="en-US" altLang="ko-KR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8E877C-57D2-8C3C-8845-FE25C3B92191}"/>
              </a:ext>
            </a:extLst>
          </p:cNvPr>
          <p:cNvSpPr/>
          <p:nvPr/>
        </p:nvSpPr>
        <p:spPr>
          <a:xfrm>
            <a:off x="1404837" y="3295169"/>
            <a:ext cx="3473643" cy="526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메시지를 </a:t>
            </a:r>
            <a:r>
              <a:rPr lang="en-US" altLang="ko-KR"/>
              <a:t>pop (</a:t>
            </a:r>
            <a:r>
              <a:rPr lang="ko-KR" altLang="en-US"/>
              <a:t>중요</a:t>
            </a:r>
            <a:r>
              <a:rPr lang="en-US" altLang="ko-KR"/>
              <a:t>)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56659558-0867-093B-C3B8-CF69B2E69B91}"/>
              </a:ext>
            </a:extLst>
          </p:cNvPr>
          <p:cNvSpPr txBox="1">
            <a:spLocks/>
          </p:cNvSpPr>
          <p:nvPr/>
        </p:nvSpPr>
        <p:spPr>
          <a:xfrm>
            <a:off x="299663" y="2230496"/>
            <a:ext cx="5788914" cy="115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/>
              <a:t>메시지가 </a:t>
            </a:r>
            <a:r>
              <a:rPr lang="en-US" altLang="ko-KR" sz="1800"/>
              <a:t>10000</a:t>
            </a:r>
            <a:r>
              <a:rPr lang="ko-KR" altLang="en-US" sz="1800"/>
              <a:t>개가 넘어간다는 건</a:t>
            </a:r>
            <a:endParaRPr lang="en-US" altLang="ko-KR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/>
              <a:t>처리 안한 메시지가 쌓인다는 뜻</a:t>
            </a:r>
            <a:endParaRPr lang="en-US" altLang="ko-KR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/>
              <a:t>assert() </a:t>
            </a:r>
            <a:r>
              <a:rPr lang="ko-KR" altLang="en-US" sz="1800"/>
              <a:t>걸어놨음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39ACE0F-5FB6-41B1-D766-36B5E52CE953}"/>
              </a:ext>
            </a:extLst>
          </p:cNvPr>
          <p:cNvSpPr/>
          <p:nvPr/>
        </p:nvSpPr>
        <p:spPr>
          <a:xfrm>
            <a:off x="428625" y="4092002"/>
            <a:ext cx="4372345" cy="2365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메시지에 따라 처리</a:t>
            </a:r>
            <a:endParaRPr lang="en-US" altLang="ko-KR"/>
          </a:p>
          <a:p>
            <a:pPr marL="285750" indent="-285750" algn="ctr">
              <a:buFontTx/>
              <a:buChar char="-"/>
            </a:pPr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왜 상속구조인데</a:t>
            </a:r>
            <a:r>
              <a:rPr lang="en-US" altLang="ko-KR">
                <a:solidFill>
                  <a:schemeClr val="tx2">
                    <a:lumMod val="50000"/>
                    <a:lumOff val="50000"/>
                  </a:schemeClr>
                </a:solidFill>
              </a:rPr>
              <a:t>, if</a:t>
            </a:r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문으로 처리하느냐</a:t>
            </a:r>
            <a:r>
              <a:rPr lang="en-US" altLang="ko-KR">
                <a:solidFill>
                  <a:schemeClr val="tx2">
                    <a:lumMod val="50000"/>
                    <a:lumOff val="50000"/>
                  </a:schemeClr>
                </a:solidFill>
              </a:rPr>
              <a:t>…</a:t>
            </a:r>
          </a:p>
          <a:p>
            <a:pPr algn="ctr"/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동적 바인딩의 비교 연산 부하를 줄이기 위해 각 메시지의 </a:t>
            </a:r>
            <a:r>
              <a:rPr lang="en-US" altLang="ko-KR">
                <a:solidFill>
                  <a:schemeClr val="tx2">
                    <a:lumMod val="50000"/>
                    <a:lumOff val="50000"/>
                  </a:schemeClr>
                </a:solidFill>
              </a:rPr>
              <a:t>static id </a:t>
            </a:r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값을 캐싱해놔서 </a:t>
            </a:r>
            <a:r>
              <a:rPr lang="en-US" altLang="ko-KR">
                <a:solidFill>
                  <a:schemeClr val="tx2">
                    <a:lumMod val="50000"/>
                    <a:lumOff val="50000"/>
                  </a:schemeClr>
                </a:solidFill>
              </a:rPr>
              <a:t>vtable</a:t>
            </a:r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을 참조하지 않고</a:t>
            </a:r>
            <a:r>
              <a:rPr lang="en-US" altLang="ko-KR">
                <a:solidFill>
                  <a:schemeClr val="tx2">
                    <a:lumMod val="50000"/>
                    <a:lumOff val="50000"/>
                  </a:schemeClr>
                </a:solidFill>
              </a:rPr>
              <a:t>, int id</a:t>
            </a:r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로 비교하기 위해서</a:t>
            </a:r>
            <a:r>
              <a:rPr lang="en-US" altLang="ko-KR">
                <a:solidFill>
                  <a:schemeClr val="tx2">
                    <a:lumMod val="50000"/>
                    <a:lumOff val="50000"/>
                  </a:schemeClr>
                </a:solidFill>
              </a:rPr>
              <a:t>…</a:t>
            </a:r>
          </a:p>
          <a:p>
            <a:pPr algn="ctr"/>
            <a:r>
              <a:rPr lang="ko-KR" alt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지금 내용에선 안중요함</a:t>
            </a:r>
            <a:endParaRPr lang="en-US" altLang="ko-KR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11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791BB-533C-4FEB-27E5-363533DA2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392"/>
            <a:ext cx="10515600" cy="4351338"/>
          </a:xfrm>
        </p:spPr>
        <p:txBody>
          <a:bodyPr/>
          <a:lstStyle/>
          <a:p>
            <a:r>
              <a:rPr lang="en-US" altLang="ko-KR"/>
              <a:t>RequestHolder </a:t>
            </a:r>
            <a:r>
              <a:rPr lang="ko-KR" altLang="en-US"/>
              <a:t>가 갖고 있는 </a:t>
            </a:r>
            <a:r>
              <a:rPr lang="en-US" altLang="ko-KR"/>
              <a:t>queue </a:t>
            </a:r>
            <a:r>
              <a:rPr lang="ko-KR" altLang="en-US"/>
              <a:t>의 </a:t>
            </a:r>
            <a:r>
              <a:rPr lang="en-US" altLang="ko-KR"/>
              <a:t>Request_Desc </a:t>
            </a:r>
            <a:r>
              <a:rPr lang="ko-KR" altLang="en-US"/>
              <a:t>를 </a:t>
            </a:r>
            <a:r>
              <a:rPr lang="en-US" altLang="ko-KR"/>
              <a:t>Pop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큐에서 삭제하고</a:t>
            </a:r>
            <a:r>
              <a:rPr lang="en-US" altLang="ko-KR"/>
              <a:t>, </a:t>
            </a:r>
            <a:r>
              <a:rPr lang="ko-KR" altLang="en-US"/>
              <a:t>전달해주는 과정에서 </a:t>
            </a:r>
            <a:r>
              <a:rPr lang="en-US" altLang="ko-KR"/>
              <a:t>move</a:t>
            </a:r>
            <a:r>
              <a:rPr lang="ko-KR" altLang="en-US"/>
              <a:t>를 사용함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CDD24A-739C-0545-A478-955C71A0C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038" y="3933825"/>
            <a:ext cx="8310962" cy="22678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4A2C4D-8521-2FF5-E40F-71C6E151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644"/>
          <a:stretch>
            <a:fillRect/>
          </a:stretch>
        </p:blipFill>
        <p:spPr>
          <a:xfrm>
            <a:off x="1994896" y="1537270"/>
            <a:ext cx="7511246" cy="758255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9E9A995-BB50-409D-8E06-151DB55A46AA}"/>
              </a:ext>
            </a:extLst>
          </p:cNvPr>
          <p:cNvSpPr/>
          <p:nvPr/>
        </p:nvSpPr>
        <p:spPr>
          <a:xfrm>
            <a:off x="5969908" y="4514933"/>
            <a:ext cx="3793217" cy="514267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C0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23D098-9829-1B46-3AB8-E52E699183C4}"/>
              </a:ext>
            </a:extLst>
          </p:cNvPr>
          <p:cNvSpPr/>
          <p:nvPr/>
        </p:nvSpPr>
        <p:spPr>
          <a:xfrm>
            <a:off x="1431006" y="2992549"/>
            <a:ext cx="9329987" cy="872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1. shared_ptr</a:t>
            </a:r>
            <a:r>
              <a:rPr lang="ko-KR" altLang="en-US"/>
              <a:t>로 생성하며 </a:t>
            </a:r>
            <a:r>
              <a:rPr lang="en-US" altLang="ko-KR"/>
              <a:t>ref_count </a:t>
            </a:r>
            <a:r>
              <a:rPr lang="ko-KR" altLang="en-US"/>
              <a:t>가 증가</a:t>
            </a:r>
            <a:r>
              <a:rPr lang="en-US" altLang="ko-KR"/>
              <a:t>/</a:t>
            </a:r>
            <a:r>
              <a:rPr lang="ko-KR" altLang="en-US"/>
              <a:t>감소하는 원자적인 동작의 부하 줄임</a:t>
            </a:r>
            <a:endParaRPr lang="en-US" altLang="ko-KR"/>
          </a:p>
          <a:p>
            <a:pPr algn="ctr"/>
            <a:r>
              <a:rPr lang="en-US" altLang="ko-KR"/>
              <a:t>2. </a:t>
            </a:r>
            <a:r>
              <a:rPr lang="ko-KR" altLang="en-US"/>
              <a:t>메시지 자체를 이제 외부에서만 사용한다는 의도도 나타낼 수 있음</a:t>
            </a:r>
            <a:endParaRPr lang="en-US" altLang="ko-KR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79563C-5522-C564-9F37-944C91D5CE55}"/>
              </a:ext>
            </a:extLst>
          </p:cNvPr>
          <p:cNvSpPr/>
          <p:nvPr/>
        </p:nvSpPr>
        <p:spPr>
          <a:xfrm>
            <a:off x="576013" y="5610308"/>
            <a:ext cx="9329987" cy="872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덤으로 여기서 </a:t>
            </a:r>
            <a:r>
              <a:rPr lang="en-US" altLang="ko-KR"/>
              <a:t>return </a:t>
            </a:r>
            <a:r>
              <a:rPr lang="ko-KR" altLang="en-US"/>
              <a:t>값은 자동으로 </a:t>
            </a:r>
            <a:r>
              <a:rPr lang="en-US" altLang="ko-KR"/>
              <a:t>rvalue</a:t>
            </a:r>
            <a:r>
              <a:rPr lang="ko-KR" altLang="en-US"/>
              <a:t>로 먼저 간주해서 선택함</a:t>
            </a:r>
            <a:r>
              <a:rPr lang="en-US" altLang="ko-KR"/>
              <a:t> (implicit move)</a:t>
            </a:r>
          </a:p>
        </p:txBody>
      </p:sp>
    </p:spTree>
    <p:extLst>
      <p:ext uri="{BB962C8B-B14F-4D97-AF65-F5344CB8AC3E}">
        <p14:creationId xmlns:p14="http://schemas.microsoft.com/office/powerpoint/2010/main" val="351735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95162-E23C-893F-3869-1C4AA8C6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Bad </a:t>
            </a:r>
            <a:r>
              <a:rPr lang="ko-KR" altLang="en-US"/>
              <a:t>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8B9C9F-E23A-34FD-8FD3-5B5EC16DA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Pop()</a:t>
            </a:r>
            <a:r>
              <a:rPr lang="ko-KR" altLang="en-US"/>
              <a:t>은 원소를 삭제만 할지</a:t>
            </a:r>
            <a:r>
              <a:rPr lang="en-US" altLang="ko-KR"/>
              <a:t>, </a:t>
            </a:r>
            <a:r>
              <a:rPr lang="ko-KR" altLang="en-US"/>
              <a:t>삭제하고 가져올지 는 논란의 여지</a:t>
            </a:r>
          </a:p>
        </p:txBody>
      </p:sp>
    </p:spTree>
    <p:extLst>
      <p:ext uri="{BB962C8B-B14F-4D97-AF65-F5344CB8AC3E}">
        <p14:creationId xmlns:p14="http://schemas.microsoft.com/office/powerpoint/2010/main" val="4315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F68AE-160A-23BB-AE9C-2E579BC9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9D1DE-CFE0-732C-792D-A577438A1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r>
              <a:rPr lang="en-US" altLang="ko-KR"/>
              <a:t>https://en.cppreference.com/cpp/language/return#Notes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020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274</Words>
  <Application>Microsoft Office PowerPoint</Application>
  <PresentationFormat>와이드스크린</PresentationFormat>
  <Paragraphs>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메시지에서의 Move 사용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Bad 요소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8</cp:revision>
  <dcterms:created xsi:type="dcterms:W3CDTF">2026-08-27T17:01:05Z</dcterms:created>
  <dcterms:modified xsi:type="dcterms:W3CDTF">2026-08-27T17:45:13Z</dcterms:modified>
</cp:coreProperties>
</file>