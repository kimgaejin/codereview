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21"/>
  </p:notesMasterIdLst>
  <p:sldIdLst>
    <p:sldId id="256" r:id="rId2"/>
    <p:sldId id="264" r:id="rId3"/>
    <p:sldId id="265" r:id="rId4"/>
    <p:sldId id="268" r:id="rId5"/>
    <p:sldId id="266" r:id="rId6"/>
    <p:sldId id="269" r:id="rId7"/>
    <p:sldId id="270" r:id="rId8"/>
    <p:sldId id="267" r:id="rId9"/>
    <p:sldId id="272" r:id="rId10"/>
    <p:sldId id="274" r:id="rId11"/>
    <p:sldId id="275" r:id="rId12"/>
    <p:sldId id="273" r:id="rId13"/>
    <p:sldId id="276" r:id="rId14"/>
    <p:sldId id="277" r:id="rId15"/>
    <p:sldId id="278" r:id="rId16"/>
    <p:sldId id="280" r:id="rId17"/>
    <p:sldId id="281" r:id="rId18"/>
    <p:sldId id="282" r:id="rId19"/>
    <p:sldId id="283" r:id="rId20"/>
  </p:sldIdLst>
  <p:sldSz cx="18288000" cy="10287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1F2"/>
    <a:srgbClr val="E19689"/>
    <a:srgbClr val="FF0000"/>
    <a:srgbClr val="84A9CF"/>
    <a:srgbClr val="A892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739" autoAdjust="0"/>
  </p:normalViewPr>
  <p:slideViewPr>
    <p:cSldViewPr snapToGrid="0">
      <p:cViewPr varScale="1">
        <p:scale>
          <a:sx n="74" d="100"/>
          <a:sy n="74" d="100"/>
        </p:scale>
        <p:origin x="96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ko-KR" sz="1800" b="0" strike="noStrike" spc="-1">
                <a:solidFill>
                  <a:schemeClr val="dk1"/>
                </a:solidFill>
                <a:latin typeface="Calibri"/>
              </a:rPr>
              <a:t>슬라이드를 이동하려면 클릭하십시오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ko-KR" sz="2000" b="0" strike="noStrike" spc="-1">
                <a:solidFill>
                  <a:srgbClr val="000000"/>
                </a:solidFill>
                <a:latin typeface="Noto Sans KR"/>
              </a:rPr>
              <a:t>메모 서식을 편집하려면 클릭하십시오</a:t>
            </a:r>
            <a:r>
              <a:rPr lang="en-US" sz="2000" b="0" strike="noStrike" spc="-1">
                <a:solidFill>
                  <a:srgbClr val="000000"/>
                </a:solidFill>
                <a:latin typeface="Noto Sans KR"/>
              </a:rPr>
              <a:t>.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KR"/>
              </a:rPr>
              <a:t>&lt;머리글&gt;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KR"/>
              </a:rPr>
              <a:t>&lt;날짜/시간&gt;</a:t>
            </a: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KR"/>
              </a:rPr>
              <a:t>&lt;바닥글&gt;</a:t>
            </a: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r">
              <a:buNone/>
            </a:pPr>
            <a:fld id="{5C3F4C71-239A-4B08-92D2-C1D85BDA2C4C}" type="slidenum">
              <a:rPr lang="en-US" sz="1400" b="0" strike="noStrike" spc="-1">
                <a:solidFill>
                  <a:srgbClr val="000000"/>
                </a:solidFill>
                <a:latin typeface="Noto Serif KR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팀 이름은 비버 입니다</a:t>
            </a:r>
            <a:r>
              <a:rPr lang="en-US" altLang="ko-KR" dirty="0"/>
              <a:t>. </a:t>
            </a:r>
            <a:r>
              <a:rPr lang="ko-KR" altLang="en-US" dirty="0"/>
              <a:t>비버가 부지런한 동물로 잘 알려진 것처럼 저희도 성실하고 부지런하게 임하자는 의미를 담았습니다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2353898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Line Trace</a:t>
            </a:r>
            <a:r>
              <a:rPr lang="ko-KR" altLang="en-US" dirty="0"/>
              <a:t>는 </a:t>
            </a:r>
            <a:r>
              <a:rPr lang="en-US" altLang="ko-KR" dirty="0"/>
              <a:t>Single </a:t>
            </a:r>
            <a:r>
              <a:rPr lang="ko-KR" altLang="en-US" dirty="0"/>
              <a:t>및 </a:t>
            </a:r>
            <a:r>
              <a:rPr lang="en-US" altLang="ko-KR" dirty="0"/>
              <a:t>Multi Channel </a:t>
            </a:r>
            <a:r>
              <a:rPr lang="ko-KR" altLang="en-US" dirty="0"/>
              <a:t>방식을 모두 지원합니다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/>
              <a:t>Actor Transit</a:t>
            </a:r>
            <a:r>
              <a:rPr lang="ko-KR" altLang="en-US" dirty="0"/>
              <a:t>과 달리 별도의 컴포넌트를 부착할 필요 없이</a:t>
            </a:r>
            <a:r>
              <a:rPr lang="en-US" altLang="ko-KR" dirty="0"/>
              <a:t>, C++ API</a:t>
            </a:r>
            <a:r>
              <a:rPr lang="ko-KR" altLang="en-US" dirty="0"/>
              <a:t>와 </a:t>
            </a:r>
            <a:r>
              <a:rPr lang="en-US" altLang="ko-KR" dirty="0"/>
              <a:t>Blueprint</a:t>
            </a:r>
            <a:r>
              <a:rPr lang="ko-KR" altLang="en-US" dirty="0"/>
              <a:t>를 통해 사용할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2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1018175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3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3330885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4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2549832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502137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6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230844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7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3000815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8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2977509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2487172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10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3990831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11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859344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12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19115516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13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2831174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14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93235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15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4079602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16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3371917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17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3330485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18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7297971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5C3F4C71-239A-4B08-92D2-C1D85BDA2C4C}" type="slidenum">
              <a:rPr lang="en-US" sz="1400" b="0" strike="noStrike" spc="-1" smtClean="0">
                <a:solidFill>
                  <a:srgbClr val="000000"/>
                </a:solidFill>
                <a:latin typeface="Noto Serif KR"/>
              </a:rPr>
              <a:t>19</a:t>
            </a:fld>
            <a:endParaRPr lang="en-US" sz="1400" b="0" strike="noStrike" spc="-1">
              <a:solidFill>
                <a:srgbClr val="000000"/>
              </a:solidFill>
              <a:latin typeface="Noto Serif KR"/>
            </a:endParaRPr>
          </a:p>
        </p:txBody>
      </p:sp>
    </p:spTree>
    <p:extLst>
      <p:ext uri="{BB962C8B-B14F-4D97-AF65-F5344CB8AC3E}">
        <p14:creationId xmlns:p14="http://schemas.microsoft.com/office/powerpoint/2010/main" val="1579282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C5D9EA92-0589-4F08-98BE-507D004E208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lang="en-US" sz="1200" b="0" strike="noStrike" spc="-1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Noto Serif KR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Noto Serif KR"/>
              </a:rPr>
              <a:t>&lt;바닥글&gt;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BF3871-E6CD-4FCC-A1F5-3BB4EFEF984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Noto Serif KR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ko-KR" sz="1800" b="0" strike="noStrike" spc="-1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2</a:t>
            </a:r>
            <a:r>
              <a:rPr lang="ko-KR" sz="24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3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4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5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6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7</a:t>
            </a:r>
            <a:r>
              <a:rPr lang="ko-KR" sz="2000" b="0" strike="noStrike" spc="-1">
                <a:solidFill>
                  <a:schemeClr val="dk1"/>
                </a:solidFill>
                <a:latin typeface="Calibri"/>
              </a:rPr>
              <a:t>번째 개요 수준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5"/>
          <p:cNvSpPr/>
          <p:nvPr/>
        </p:nvSpPr>
        <p:spPr>
          <a:xfrm>
            <a:off x="3000600" y="3314880"/>
            <a:ext cx="12286440" cy="19878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639"/>
              </a:lnSpc>
            </a:pPr>
            <a:r>
              <a:rPr lang="en-US" sz="12000" b="0" strike="noStrike" spc="-800" dirty="0">
                <a:solidFill>
                  <a:srgbClr val="2F2F2F"/>
                </a:solidFill>
                <a:latin typeface="Pretendard Variable"/>
                <a:ea typeface="Pretendard Variable"/>
              </a:rPr>
              <a:t>Lo</a:t>
            </a:r>
            <a:r>
              <a:rPr lang="en-US" sz="12000" spc="-800" dirty="0">
                <a:solidFill>
                  <a:srgbClr val="2F2F2F"/>
                </a:solidFill>
                <a:latin typeface="Pretendard Variable"/>
                <a:ea typeface="Pretendard Variable"/>
              </a:rPr>
              <a:t>gging System</a:t>
            </a:r>
            <a:endParaRPr lang="en-US" sz="12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3000600" y="4615560"/>
            <a:ext cx="12286440" cy="175163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639"/>
              </a:lnSpc>
            </a:pPr>
            <a:r>
              <a:rPr lang="ko-KR" altLang="en-US" sz="5000" spc="-301" dirty="0" err="1">
                <a:solidFill>
                  <a:srgbClr val="2F2F2F"/>
                </a:solidFill>
                <a:latin typeface="Pretendard Light"/>
                <a:ea typeface="Pretendard Light"/>
              </a:rPr>
              <a:t>멀티스레드에서의</a:t>
            </a:r>
            <a:r>
              <a:rPr lang="ko-KR" altLang="en-US" sz="5000" spc="-301" dirty="0">
                <a:solidFill>
                  <a:srgbClr val="2F2F2F"/>
                </a:solidFill>
                <a:latin typeface="Pretendard Light"/>
                <a:ea typeface="Pretendard Light"/>
              </a:rPr>
              <a:t> 로깅</a:t>
            </a:r>
            <a:endParaRPr lang="en-US" sz="5000" b="0" strike="noStrike" spc="-1" dirty="0">
              <a:solidFill>
                <a:srgbClr val="000000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en-US" sz="6400" b="0" strike="noStrike" spc="-1" dirty="0">
                <a:solidFill>
                  <a:srgbClr val="000000"/>
                </a:solidFill>
                <a:latin typeface="Noto Sans KR"/>
              </a:rPr>
              <a:t>Single Thread Logging</a:t>
            </a:r>
          </a:p>
        </p:txBody>
      </p:sp>
      <p:sp>
        <p:nvSpPr>
          <p:cNvPr id="115" name="TextBox 7"/>
          <p:cNvSpPr/>
          <p:nvPr/>
        </p:nvSpPr>
        <p:spPr>
          <a:xfrm>
            <a:off x="4233975" y="7438305"/>
            <a:ext cx="9820050" cy="9746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b="0" strike="noStrike" spc="-49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싱글 스레드의 동기식 로깅은 프로그램을 실행하던 스레드가 </a:t>
            </a:r>
            <a:endParaRPr lang="en-US" altLang="ko-KR" sz="3200" b="0" strike="noStrike" spc="-49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algn="ctr" defTabSz="914400">
              <a:lnSpc>
                <a:spcPts val="3767"/>
              </a:lnSpc>
            </a:pPr>
            <a:r>
              <a:rPr lang="ko-KR" altLang="en-US" sz="3200" b="0" strike="noStrike" spc="-49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로그 기록까지 직접 처리하는 방식</a:t>
            </a:r>
            <a:r>
              <a:rPr lang="en-US" altLang="ko-KR" sz="3200" b="0" strike="noStrike" spc="-49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endParaRPr lang="en-US" sz="3200" b="0" strike="noStrike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3BD5295-12C4-38E4-21DF-62106027B6F4}"/>
              </a:ext>
            </a:extLst>
          </p:cNvPr>
          <p:cNvSpPr/>
          <p:nvPr/>
        </p:nvSpPr>
        <p:spPr>
          <a:xfrm>
            <a:off x="1420934" y="4448621"/>
            <a:ext cx="2083539" cy="788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코드 실행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8018FA0-3071-96A0-89F0-13E9E0FEE55C}"/>
              </a:ext>
            </a:extLst>
          </p:cNvPr>
          <p:cNvSpPr/>
          <p:nvPr/>
        </p:nvSpPr>
        <p:spPr>
          <a:xfrm>
            <a:off x="5365452" y="4441188"/>
            <a:ext cx="2083539" cy="788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함수 호출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CA9FEEC-86A8-3B01-EDCF-BE4DE8B60C92}"/>
              </a:ext>
            </a:extLst>
          </p:cNvPr>
          <p:cNvSpPr/>
          <p:nvPr/>
        </p:nvSpPr>
        <p:spPr>
          <a:xfrm>
            <a:off x="9309970" y="4448621"/>
            <a:ext cx="3362841" cy="788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콘솔</a:t>
            </a:r>
            <a:r>
              <a:rPr lang="en-US" altLang="ko-KR" sz="2400" b="0" i="0" dirty="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·</a:t>
            </a:r>
            <a:r>
              <a:rPr lang="ko-KR" altLang="en-US" sz="2400" b="0" i="0" dirty="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파일 등에 출력</a:t>
            </a:r>
            <a:br>
              <a:rPr lang="en-US" altLang="ko-KR" sz="2400" b="0" i="0" dirty="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2400" b="0" i="0" dirty="0">
                <a:solidFill>
                  <a:schemeClr val="tx1"/>
                </a:solidFill>
                <a:effectLst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또는 대기열에 등록</a:t>
            </a:r>
            <a:endParaRPr lang="ko-KR" altLang="en-US" sz="240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4EB45AC-18AE-C1F2-5A05-E2D45FA78467}"/>
              </a:ext>
            </a:extLst>
          </p:cNvPr>
          <p:cNvSpPr/>
          <p:nvPr/>
        </p:nvSpPr>
        <p:spPr>
          <a:xfrm>
            <a:off x="14533790" y="4448621"/>
            <a:ext cx="2083539" cy="7887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다음 코드 실행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26D039E-8F2B-011B-D21B-37508476912B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3504473" y="4835567"/>
            <a:ext cx="1860979" cy="74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6928B7D-4AD6-D5EA-85DA-8F391A8F78BC}"/>
              </a:ext>
            </a:extLst>
          </p:cNvPr>
          <p:cNvCxnSpPr/>
          <p:nvPr/>
        </p:nvCxnSpPr>
        <p:spPr>
          <a:xfrm flipV="1">
            <a:off x="7448991" y="4814359"/>
            <a:ext cx="1860979" cy="74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D129286-6035-1C36-8123-6E4E52DF335D}"/>
              </a:ext>
            </a:extLst>
          </p:cNvPr>
          <p:cNvCxnSpPr/>
          <p:nvPr/>
        </p:nvCxnSpPr>
        <p:spPr>
          <a:xfrm flipV="1">
            <a:off x="12672811" y="4843000"/>
            <a:ext cx="1860979" cy="743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93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en-US" sz="6400" b="0" strike="noStrike" spc="-1" dirty="0">
                <a:solidFill>
                  <a:srgbClr val="000000"/>
                </a:solidFill>
                <a:latin typeface="Noto Sans KR"/>
              </a:rPr>
              <a:t>Issue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00B2262-7733-DE09-560D-775B5B4F5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796" y="1908538"/>
            <a:ext cx="7340602" cy="6736082"/>
          </a:xfrm>
          <a:prstGeom prst="rect">
            <a:avLst/>
          </a:prstGeom>
        </p:spPr>
      </p:pic>
      <p:sp>
        <p:nvSpPr>
          <p:cNvPr id="14" name="TextBox 7">
            <a:extLst>
              <a:ext uri="{FF2B5EF4-FFF2-40B4-BE49-F238E27FC236}">
                <a16:creationId xmlns:a16="http://schemas.microsoft.com/office/drawing/2014/main" id="{682934F5-055A-CBEC-A8D8-CB845EE9B470}"/>
              </a:ext>
            </a:extLst>
          </p:cNvPr>
          <p:cNvSpPr/>
          <p:nvPr/>
        </p:nvSpPr>
        <p:spPr>
          <a:xfrm>
            <a:off x="3167606" y="8910366"/>
            <a:ext cx="12200983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각 스레드가 로그를 쓰기위해 버퍼에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락을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거는데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이때 병목이 생김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9194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en-US" sz="6400" b="0" strike="noStrike" spc="-1" dirty="0">
                <a:solidFill>
                  <a:srgbClr val="000000"/>
                </a:solidFill>
                <a:latin typeface="Noto Sans KR"/>
              </a:rPr>
              <a:t>Issue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82934F5-055A-CBEC-A8D8-CB845EE9B470}"/>
              </a:ext>
            </a:extLst>
          </p:cNvPr>
          <p:cNvSpPr/>
          <p:nvPr/>
        </p:nvSpPr>
        <p:spPr>
          <a:xfrm>
            <a:off x="1127854" y="3922073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단순히 로그를 기록하고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출력하는 동작 때문에 동시에 로그를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남길려는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스레드가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멈추는건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싫은데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….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21B5DD40-5497-8CAE-54BA-BC81FEDFA18B}"/>
              </a:ext>
            </a:extLst>
          </p:cNvPr>
          <p:cNvSpPr/>
          <p:nvPr/>
        </p:nvSpPr>
        <p:spPr>
          <a:xfrm>
            <a:off x="1127854" y="5877615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기왕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멀티쓰레딩을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하는데 로깅의 몇몇 기능은 다른 쓰레드에서 처리하도록 빼는 것도 고려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1695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en-US" sz="6400" b="0" strike="noStrike" spc="-1" dirty="0">
                <a:solidFill>
                  <a:srgbClr val="000000"/>
                </a:solidFill>
                <a:latin typeface="Noto Sans KR"/>
              </a:rPr>
              <a:t>Unreal?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2D8B223-402E-626E-371C-1C76FC7296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060" y="1650960"/>
            <a:ext cx="5727879" cy="763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2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en-US" altLang="ko-KR" sz="6400" b="0" strike="noStrike" spc="-1" dirty="0">
                <a:solidFill>
                  <a:srgbClr val="000000"/>
                </a:solidFill>
                <a:latin typeface="Noto Sans KR"/>
              </a:rPr>
              <a:t>Solution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82934F5-055A-CBEC-A8D8-CB845EE9B470}"/>
              </a:ext>
            </a:extLst>
          </p:cNvPr>
          <p:cNvSpPr/>
          <p:nvPr/>
        </p:nvSpPr>
        <p:spPr>
          <a:xfrm>
            <a:off x="1127854" y="4359954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단순히 로그를 기록하고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출력하는 동작 때문에 동시에 로그를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남길려는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스레드가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멈추는건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싫은데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….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0CF5A14-5551-340B-27D8-150D107A7E88}"/>
              </a:ext>
            </a:extLst>
          </p:cNvPr>
          <p:cNvSpPr/>
          <p:nvPr/>
        </p:nvSpPr>
        <p:spPr>
          <a:xfrm>
            <a:off x="8725436" y="5077516"/>
            <a:ext cx="837127" cy="73409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73A110EC-A7F5-7251-CF20-3F702E098572}"/>
              </a:ext>
            </a:extLst>
          </p:cNvPr>
          <p:cNvSpPr/>
          <p:nvPr/>
        </p:nvSpPr>
        <p:spPr>
          <a:xfrm>
            <a:off x="1127854" y="6063353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CAS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로 해결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201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en-US" altLang="ko-KR" sz="6400" b="0" strike="noStrike" spc="-1" dirty="0">
                <a:solidFill>
                  <a:srgbClr val="000000"/>
                </a:solidFill>
                <a:latin typeface="Noto Sans KR"/>
              </a:rPr>
              <a:t>Solution</a:t>
            </a: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82934F5-055A-CBEC-A8D8-CB845EE9B470}"/>
              </a:ext>
            </a:extLst>
          </p:cNvPr>
          <p:cNvSpPr/>
          <p:nvPr/>
        </p:nvSpPr>
        <p:spPr>
          <a:xfrm>
            <a:off x="1127854" y="4359954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기왕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멀티쓰레딩을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하는데 로깅의 몇몇 기능은 다른 쓰레드에서 처리하도록 빼는 것도 고려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0CF5A14-5551-340B-27D8-150D107A7E88}"/>
              </a:ext>
            </a:extLst>
          </p:cNvPr>
          <p:cNvSpPr/>
          <p:nvPr/>
        </p:nvSpPr>
        <p:spPr>
          <a:xfrm>
            <a:off x="8725436" y="5077516"/>
            <a:ext cx="837127" cy="734095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73A110EC-A7F5-7251-CF20-3F702E098572}"/>
              </a:ext>
            </a:extLst>
          </p:cNvPr>
          <p:cNvSpPr/>
          <p:nvPr/>
        </p:nvSpPr>
        <p:spPr>
          <a:xfrm>
            <a:off x="1127854" y="6063353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로그 담당 쓰레드 및 출력 쓰레드로 분리 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0914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en-US" sz="6400" b="0" strike="noStrike" spc="-1" dirty="0">
                <a:solidFill>
                  <a:srgbClr val="000000"/>
                </a:solidFill>
                <a:latin typeface="Noto Sans KR"/>
              </a:rPr>
              <a:t>CAS(Compare And Swap)</a:t>
            </a:r>
            <a:r>
              <a:rPr lang="ko-KR" altLang="en-US" sz="6400" b="0" strike="noStrike" spc="-1" dirty="0">
                <a:solidFill>
                  <a:srgbClr val="000000"/>
                </a:solidFill>
                <a:latin typeface="Noto Sans KR"/>
              </a:rPr>
              <a:t>는 무엇인가</a:t>
            </a:r>
            <a:r>
              <a:rPr lang="en-US" altLang="ko-KR" sz="6400" b="0" strike="noStrike" spc="-1" dirty="0">
                <a:solidFill>
                  <a:srgbClr val="000000"/>
                </a:solidFill>
                <a:latin typeface="Noto Sans KR"/>
              </a:rPr>
              <a:t>?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27854" y="4243021"/>
            <a:ext cx="16032292" cy="24365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 값이 내가 예상한 값과 같으면 새 값으로 바꾼다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다르면 값을 바꾸지 않고 실패를 알린다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  <a:b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b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b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핵심은 </a:t>
            </a:r>
            <a:r>
              <a:rPr lang="en-US" altLang="ko-KR" sz="3200" b="1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“</a:t>
            </a:r>
            <a:r>
              <a:rPr lang="ko-KR" altLang="en-US" sz="3200" b="1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비교와 변경을 나눌 수 없는 하나의 작업으로 수행한다</a:t>
            </a:r>
            <a:r>
              <a:rPr lang="en-US" altLang="ko-KR" sz="3200" b="1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＂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는 것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  <a:p>
            <a:pPr algn="ctr" defTabSz="914400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이를 원자적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즉 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atomic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이라고 한다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3364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예시로 이해해보기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27854" y="3946806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대기 열 큐의 첫 번째 노드를 가리키는 포인터를 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라고 하고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 상태가 다음과 같다고 가정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BB42F6B-4D1B-D7F4-0D7D-851332F38450}"/>
              </a:ext>
            </a:extLst>
          </p:cNvPr>
          <p:cNvSpPr/>
          <p:nvPr/>
        </p:nvSpPr>
        <p:spPr>
          <a:xfrm>
            <a:off x="4984124" y="5605801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H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B5F0A4B-2CE3-C86B-A915-5685B7939423}"/>
              </a:ext>
            </a:extLst>
          </p:cNvPr>
          <p:cNvSpPr/>
          <p:nvPr/>
        </p:nvSpPr>
        <p:spPr>
          <a:xfrm>
            <a:off x="11423562" y="5605801"/>
            <a:ext cx="2086376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기존 로그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</a:t>
            </a:r>
            <a:endParaRPr lang="ko-KR" altLang="en-US" sz="240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0651314-E28E-06BF-3EC4-AE2352A4FCF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70501" y="6167883"/>
            <a:ext cx="43530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834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예시로 이해해보기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27854" y="8991989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와 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 각각 새 로그를 앞에 붙이려고 함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85BF188-CB35-5E76-8386-5D91D96DCA9B}"/>
              </a:ext>
            </a:extLst>
          </p:cNvPr>
          <p:cNvSpPr/>
          <p:nvPr/>
        </p:nvSpPr>
        <p:spPr>
          <a:xfrm>
            <a:off x="1328897" y="2804463"/>
            <a:ext cx="2248557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 Thread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4F8AF18A-5FEB-6F30-6C9D-CC17F0126D3B}"/>
              </a:ext>
            </a:extLst>
          </p:cNvPr>
          <p:cNvSpPr/>
          <p:nvPr/>
        </p:nvSpPr>
        <p:spPr>
          <a:xfrm>
            <a:off x="1328897" y="7482793"/>
            <a:ext cx="2248557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 Thread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7D05C7E-5E52-921C-6F18-D589AC9459EE}"/>
              </a:ext>
            </a:extLst>
          </p:cNvPr>
          <p:cNvSpPr/>
          <p:nvPr/>
        </p:nvSpPr>
        <p:spPr>
          <a:xfrm>
            <a:off x="4726547" y="2486037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A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H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844A3EC-6B78-C89D-24A8-A2ACA6168769}"/>
              </a:ext>
            </a:extLst>
          </p:cNvPr>
          <p:cNvSpPr/>
          <p:nvPr/>
        </p:nvSpPr>
        <p:spPr>
          <a:xfrm>
            <a:off x="4726546" y="7164369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B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H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CBF4BE1-468F-3B68-081C-6AA0FC460CEC}"/>
              </a:ext>
            </a:extLst>
          </p:cNvPr>
          <p:cNvSpPr/>
          <p:nvPr/>
        </p:nvSpPr>
        <p:spPr>
          <a:xfrm>
            <a:off x="9298069" y="4581418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A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6B86CF33-97A1-DF03-7485-D83C993D5577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6812924" y="3048119"/>
            <a:ext cx="2485145" cy="2095381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7">
            <a:extLst>
              <a:ext uri="{FF2B5EF4-FFF2-40B4-BE49-F238E27FC236}">
                <a16:creationId xmlns:a16="http://schemas.microsoft.com/office/drawing/2014/main" id="{A3E94A30-114A-899A-6DB8-1145E6DA9CC3}"/>
              </a:ext>
            </a:extLst>
          </p:cNvPr>
          <p:cNvSpPr/>
          <p:nvPr/>
        </p:nvSpPr>
        <p:spPr>
          <a:xfrm>
            <a:off x="8721025" y="3526612"/>
            <a:ext cx="3147454" cy="9087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(Head Next == H) true</a:t>
            </a:r>
            <a:b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의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=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 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실행</a:t>
            </a:r>
            <a:endParaRPr lang="en-US" altLang="ko-KR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B158DB2-8374-4F2B-2D87-ED70069395CF}"/>
              </a:ext>
            </a:extLst>
          </p:cNvPr>
          <p:cNvSpPr/>
          <p:nvPr/>
        </p:nvSpPr>
        <p:spPr>
          <a:xfrm>
            <a:off x="14086863" y="4581417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B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C5CFCBFD-C63A-0DAC-6519-611D12CF66D8}"/>
              </a:ext>
            </a:extLst>
          </p:cNvPr>
          <p:cNvCxnSpPr>
            <a:stCxn id="11" idx="3"/>
            <a:endCxn id="25" idx="1"/>
          </p:cNvCxnSpPr>
          <p:nvPr/>
        </p:nvCxnSpPr>
        <p:spPr>
          <a:xfrm flipV="1">
            <a:off x="6812923" y="5143499"/>
            <a:ext cx="7273940" cy="2582952"/>
          </a:xfrm>
          <a:prstGeom prst="bentConnector3">
            <a:avLst>
              <a:gd name="adj1" fmla="val 7478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7">
            <a:extLst>
              <a:ext uri="{FF2B5EF4-FFF2-40B4-BE49-F238E27FC236}">
                <a16:creationId xmlns:a16="http://schemas.microsoft.com/office/drawing/2014/main" id="{B3611A53-E885-2187-6CCC-5F6D08EB1A29}"/>
              </a:ext>
            </a:extLst>
          </p:cNvPr>
          <p:cNvSpPr/>
          <p:nvPr/>
        </p:nvSpPr>
        <p:spPr>
          <a:xfrm>
            <a:off x="13701491" y="3478742"/>
            <a:ext cx="2857119" cy="9087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If (Head Next == H) true</a:t>
            </a:r>
            <a:b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의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=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 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실행</a:t>
            </a:r>
            <a:endParaRPr lang="en-US" altLang="ko-KR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41E9C0A4-2BE5-A1E2-1683-E2819F344FCD}"/>
              </a:ext>
            </a:extLst>
          </p:cNvPr>
          <p:cNvSpPr/>
          <p:nvPr/>
        </p:nvSpPr>
        <p:spPr>
          <a:xfrm>
            <a:off x="3735868" y="8218798"/>
            <a:ext cx="4506611" cy="421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의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= H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이라는 데이터를 가지고 있음</a:t>
            </a:r>
            <a:endParaRPr lang="en-US" altLang="ko-KR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F12BB3DA-9CC5-C156-DDD8-08D70C071EF0}"/>
              </a:ext>
            </a:extLst>
          </p:cNvPr>
          <p:cNvSpPr/>
          <p:nvPr/>
        </p:nvSpPr>
        <p:spPr>
          <a:xfrm>
            <a:off x="3735868" y="3526612"/>
            <a:ext cx="4506611" cy="421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의 </a:t>
            </a:r>
            <a:r>
              <a:rPr lang="en-US" altLang="ko-KR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= H</a:t>
            </a:r>
            <a:r>
              <a:rPr lang="ko-KR" altLang="en-US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이라는 데이터를 가지고 있음</a:t>
            </a:r>
            <a:endParaRPr lang="en-US" altLang="ko-KR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166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예시로 이해해보기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0E01884-DA85-3F0A-1ECD-E869847D8280}"/>
              </a:ext>
            </a:extLst>
          </p:cNvPr>
          <p:cNvSpPr/>
          <p:nvPr/>
        </p:nvSpPr>
        <p:spPr>
          <a:xfrm>
            <a:off x="4152016" y="3464294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A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F300F0-A545-4DA1-C29C-598C6294B931}"/>
              </a:ext>
            </a:extLst>
          </p:cNvPr>
          <p:cNvSpPr/>
          <p:nvPr/>
        </p:nvSpPr>
        <p:spPr>
          <a:xfrm>
            <a:off x="14744839" y="3464292"/>
            <a:ext cx="2086376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기존 로그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</a:t>
            </a:r>
            <a:endParaRPr lang="ko-KR" altLang="en-US" sz="240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76E1F31-A9A6-FBEB-5ECA-56FCC7DC65B3}"/>
              </a:ext>
            </a:extLst>
          </p:cNvPr>
          <p:cNvSpPr/>
          <p:nvPr/>
        </p:nvSpPr>
        <p:spPr>
          <a:xfrm>
            <a:off x="1127854" y="3710861"/>
            <a:ext cx="2248557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기대값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9212B4CB-DF00-003C-A167-F5B9EE292C19}"/>
              </a:ext>
            </a:extLst>
          </p:cNvPr>
          <p:cNvSpPr/>
          <p:nvPr/>
        </p:nvSpPr>
        <p:spPr>
          <a:xfrm>
            <a:off x="1127854" y="6347452"/>
            <a:ext cx="2248557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현실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F1778DD-16FA-8B0E-4AE2-EBE14E317C24}"/>
              </a:ext>
            </a:extLst>
          </p:cNvPr>
          <p:cNvSpPr/>
          <p:nvPr/>
        </p:nvSpPr>
        <p:spPr>
          <a:xfrm>
            <a:off x="7682957" y="3464293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A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B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BE7F10C-D862-402E-68F5-B627AC0F512C}"/>
              </a:ext>
            </a:extLst>
          </p:cNvPr>
          <p:cNvCxnSpPr>
            <a:stCxn id="6" idx="3"/>
            <a:endCxn id="16" idx="1"/>
          </p:cNvCxnSpPr>
          <p:nvPr/>
        </p:nvCxnSpPr>
        <p:spPr>
          <a:xfrm flipV="1">
            <a:off x="6238393" y="4026375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25189A0-58B6-2AA1-3283-48BF08BC1901}"/>
              </a:ext>
            </a:extLst>
          </p:cNvPr>
          <p:cNvSpPr/>
          <p:nvPr/>
        </p:nvSpPr>
        <p:spPr>
          <a:xfrm>
            <a:off x="11213898" y="3464293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B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H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ACEC5B9-620A-E125-6FFF-5300ABCA2FA7}"/>
              </a:ext>
            </a:extLst>
          </p:cNvPr>
          <p:cNvCxnSpPr/>
          <p:nvPr/>
        </p:nvCxnSpPr>
        <p:spPr>
          <a:xfrm flipV="1">
            <a:off x="9769334" y="4046915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2AAF18A-3A83-2363-4A56-B5AB820EB767}"/>
              </a:ext>
            </a:extLst>
          </p:cNvPr>
          <p:cNvCxnSpPr/>
          <p:nvPr/>
        </p:nvCxnSpPr>
        <p:spPr>
          <a:xfrm flipV="1">
            <a:off x="13300275" y="4046915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DC65366-A4EA-452F-2015-756ED5ED5D17}"/>
              </a:ext>
            </a:extLst>
          </p:cNvPr>
          <p:cNvSpPr/>
          <p:nvPr/>
        </p:nvSpPr>
        <p:spPr>
          <a:xfrm>
            <a:off x="4152016" y="6041900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B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AB35A68-D381-C254-A7A0-5CAAF50B3094}"/>
              </a:ext>
            </a:extLst>
          </p:cNvPr>
          <p:cNvSpPr/>
          <p:nvPr/>
        </p:nvSpPr>
        <p:spPr>
          <a:xfrm>
            <a:off x="11213899" y="6062439"/>
            <a:ext cx="2086376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기존 로그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</a:t>
            </a:r>
            <a:endParaRPr lang="ko-KR" altLang="en-US" sz="240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4A8F75F-4459-DF79-761E-A574CB897343}"/>
              </a:ext>
            </a:extLst>
          </p:cNvPr>
          <p:cNvSpPr/>
          <p:nvPr/>
        </p:nvSpPr>
        <p:spPr>
          <a:xfrm>
            <a:off x="7682957" y="6041899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B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H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B94EC49-6E87-70DE-D630-56A7EE3399F2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 flipV="1">
            <a:off x="6238393" y="6603981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313D4A2-47A0-7803-ED99-50511265FD67}"/>
              </a:ext>
            </a:extLst>
          </p:cNvPr>
          <p:cNvCxnSpPr/>
          <p:nvPr/>
        </p:nvCxnSpPr>
        <p:spPr>
          <a:xfrm flipV="1">
            <a:off x="9769334" y="6624521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339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예시로 이해해보기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27854" y="8636040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값 읽기와 쓰기를 따로 수행하면 문제가 발생할 수 있다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625BCD4-B75F-ACFF-FB38-F7B2BAE2FCDE}"/>
              </a:ext>
            </a:extLst>
          </p:cNvPr>
          <p:cNvSpPr/>
          <p:nvPr/>
        </p:nvSpPr>
        <p:spPr>
          <a:xfrm>
            <a:off x="1896034" y="2377015"/>
            <a:ext cx="14488732" cy="5534127"/>
          </a:xfrm>
          <a:prstGeom prst="roundRect">
            <a:avLst>
              <a:gd name="adj" fmla="val 805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0B5B35-DD67-2772-D022-005AB8B34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844" y="4026086"/>
            <a:ext cx="12041112" cy="2234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2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예시로 이해해보기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27854" y="8636040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비교와 변경을 한 번에 수행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625BCD4-B75F-ACFF-FB38-F7B2BAE2FCDE}"/>
              </a:ext>
            </a:extLst>
          </p:cNvPr>
          <p:cNvSpPr/>
          <p:nvPr/>
        </p:nvSpPr>
        <p:spPr>
          <a:xfrm>
            <a:off x="1896034" y="2377015"/>
            <a:ext cx="14488732" cy="5534127"/>
          </a:xfrm>
          <a:prstGeom prst="roundRect">
            <a:avLst>
              <a:gd name="adj" fmla="val 805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CEF33E-E097-D36F-342C-AA8C0C635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003" y="2838600"/>
            <a:ext cx="12310877" cy="46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05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예시로 이해해보기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040445" y="2364029"/>
            <a:ext cx="16207109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그럼 비교와 변경을 한 번에 수행하는 것은 누가 보장해줌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?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07A109-D624-6568-8F19-6EDEB557A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277" y="3062877"/>
            <a:ext cx="11424603" cy="640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319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의문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27854" y="3096800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대기 열 큐의 첫 번째 노드를 가리키는 포인터를 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라고 하고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 상태가 다음과 같다고 가정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BB42F6B-4D1B-D7F4-0D7D-851332F38450}"/>
              </a:ext>
            </a:extLst>
          </p:cNvPr>
          <p:cNvSpPr/>
          <p:nvPr/>
        </p:nvSpPr>
        <p:spPr>
          <a:xfrm>
            <a:off x="4984124" y="4755795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H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B5F0A4B-2CE3-C86B-A915-5685B7939423}"/>
              </a:ext>
            </a:extLst>
          </p:cNvPr>
          <p:cNvSpPr/>
          <p:nvPr/>
        </p:nvSpPr>
        <p:spPr>
          <a:xfrm>
            <a:off x="11423562" y="4755795"/>
            <a:ext cx="2086376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기존 로그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</a:t>
            </a:r>
            <a:endParaRPr lang="ko-KR" altLang="en-US" sz="240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0651314-E28E-06BF-3EC4-AE2352A4FCF2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070501" y="5317877"/>
            <a:ext cx="43530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54D4407-7954-DCED-DBF1-E3745B0E513D}"/>
              </a:ext>
            </a:extLst>
          </p:cNvPr>
          <p:cNvSpPr/>
          <p:nvPr/>
        </p:nvSpPr>
        <p:spPr>
          <a:xfrm>
            <a:off x="1455312" y="3026535"/>
            <a:ext cx="1700012" cy="583336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E4A4C-360D-024F-03E7-FCC738875779}"/>
              </a:ext>
            </a:extLst>
          </p:cNvPr>
          <p:cNvSpPr/>
          <p:nvPr/>
        </p:nvSpPr>
        <p:spPr>
          <a:xfrm>
            <a:off x="1230885" y="7256863"/>
            <a:ext cx="16032292" cy="9746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“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대기열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큐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“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인데 왜 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에 노드를 붙임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? Tail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에 </a:t>
            </a:r>
            <a:r>
              <a:rPr lang="ko-KR" altLang="en-US" sz="3200" spc="-1" dirty="0" err="1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붙여야하는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거 아닌가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?</a:t>
            </a:r>
            <a:b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FIFO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가 아닌데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631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의문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27854" y="7773156"/>
            <a:ext cx="16032292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여러 스레드가 로그를 등록하는 작업을 단순하게 만들기 위해서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B543398-AF08-EF4C-E664-6BB7DE9AF1CB}"/>
              </a:ext>
            </a:extLst>
          </p:cNvPr>
          <p:cNvSpPr/>
          <p:nvPr/>
        </p:nvSpPr>
        <p:spPr>
          <a:xfrm>
            <a:off x="2243765" y="3769112"/>
            <a:ext cx="3654760" cy="2066197"/>
          </a:xfrm>
          <a:prstGeom prst="roundRect">
            <a:avLst>
              <a:gd name="adj" fmla="val 805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H-&gt;A Tail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은 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넣으려면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기존 노드 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로 변경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 Tail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B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로 변경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CFD778C-FA21-005E-07AE-2216348CDEAC}"/>
              </a:ext>
            </a:extLst>
          </p:cNvPr>
          <p:cNvSpPr/>
          <p:nvPr/>
        </p:nvSpPr>
        <p:spPr>
          <a:xfrm>
            <a:off x="12389474" y="3769112"/>
            <a:ext cx="4005331" cy="2066197"/>
          </a:xfrm>
          <a:prstGeom prst="roundRect">
            <a:avLst>
              <a:gd name="adj" fmla="val 8056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현재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Head -&gt; H</a:t>
            </a:r>
          </a:p>
          <a:p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1. A 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스레드가 자기 노드를 준비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: A-&gt;H</a:t>
            </a:r>
          </a:p>
          <a:p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2. Head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를 </a:t>
            </a: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A</a:t>
            </a:r>
            <a:r>
              <a:rPr lang="ko-KR" altLang="en-US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로 변경</a:t>
            </a:r>
            <a:endParaRPr lang="en-US" altLang="ko-KR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815C1CB-D6A1-114A-3932-41F205BF621F}"/>
              </a:ext>
            </a:extLst>
          </p:cNvPr>
          <p:cNvSpPr/>
          <p:nvPr/>
        </p:nvSpPr>
        <p:spPr>
          <a:xfrm>
            <a:off x="8345510" y="4301544"/>
            <a:ext cx="1906073" cy="841956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36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의문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1140733" y="4899843"/>
            <a:ext cx="16477566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즉 기존의 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FIFO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큐를 사용하게 되면 기존 노드의 연결과 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Tail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을 일관되게 관리하는 알고리즘이 필요해짐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8199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의문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2261CF2-55AC-0125-FE9A-18A56E08B3B3}"/>
              </a:ext>
            </a:extLst>
          </p:cNvPr>
          <p:cNvSpPr/>
          <p:nvPr/>
        </p:nvSpPr>
        <p:spPr>
          <a:xfrm>
            <a:off x="2530696" y="7192283"/>
            <a:ext cx="13226603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소비할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 </a:t>
            </a: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목록을 한 번에 떼어 내기 위해서</a:t>
            </a:r>
            <a:r>
              <a:rPr lang="en-US" altLang="ko-KR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8C31F7-B174-1B31-AE81-B5A8FDE79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647" y="4021086"/>
            <a:ext cx="13460703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89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5"/>
          <p:cNvSpPr/>
          <p:nvPr/>
        </p:nvSpPr>
        <p:spPr>
          <a:xfrm>
            <a:off x="762120" y="647640"/>
            <a:ext cx="14243760" cy="78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208"/>
              </a:lnSpc>
            </a:pPr>
            <a:r>
              <a:rPr lang="ko-KR" altLang="en-US" sz="6400" spc="-1" dirty="0">
                <a:solidFill>
                  <a:srgbClr val="000000"/>
                </a:solidFill>
                <a:latin typeface="Noto Sans KR"/>
              </a:rPr>
              <a:t>의문</a:t>
            </a:r>
            <a:endParaRPr lang="en-US" sz="6400" b="0" strike="noStrike" spc="-1" dirty="0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41A03CF-62F4-1B89-5046-A5E8F6B1844E}"/>
              </a:ext>
            </a:extLst>
          </p:cNvPr>
          <p:cNvSpPr/>
          <p:nvPr/>
        </p:nvSpPr>
        <p:spPr>
          <a:xfrm>
            <a:off x="761759" y="1650960"/>
            <a:ext cx="1134275" cy="0"/>
          </a:xfrm>
          <a:prstGeom prst="line">
            <a:avLst/>
          </a:prstGeom>
          <a:ln w="57150">
            <a:solidFill>
              <a:srgbClr val="1F497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83A5779-6F88-D781-C149-8BD9860F6446}"/>
              </a:ext>
            </a:extLst>
          </p:cNvPr>
          <p:cNvSpPr/>
          <p:nvPr/>
        </p:nvSpPr>
        <p:spPr>
          <a:xfrm>
            <a:off x="963300" y="5143500"/>
            <a:ext cx="2248557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생산자들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CA028A6-7C16-546C-8433-D278C9BE8B1C}"/>
              </a:ext>
            </a:extLst>
          </p:cNvPr>
          <p:cNvSpPr/>
          <p:nvPr/>
        </p:nvSpPr>
        <p:spPr>
          <a:xfrm>
            <a:off x="963300" y="7762816"/>
            <a:ext cx="2248557" cy="4873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67"/>
              </a:lnSpc>
            </a:pPr>
            <a:r>
              <a:rPr lang="ko-KR" altLang="en-US" sz="3200" spc="-1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소비자</a:t>
            </a:r>
            <a:endParaRPr lang="en-US" altLang="ko-KR" sz="3200" spc="-1" dirty="0">
              <a:solidFill>
                <a:srgbClr val="000000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94772D3-52FE-FE90-C942-C08D167C8C5E}"/>
              </a:ext>
            </a:extLst>
          </p:cNvPr>
          <p:cNvSpPr/>
          <p:nvPr/>
        </p:nvSpPr>
        <p:spPr>
          <a:xfrm>
            <a:off x="3211858" y="2524184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Head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A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D909EE1-4A3E-4164-33B7-1A1D3B1A9D30}"/>
              </a:ext>
            </a:extLst>
          </p:cNvPr>
          <p:cNvSpPr/>
          <p:nvPr/>
        </p:nvSpPr>
        <p:spPr>
          <a:xfrm>
            <a:off x="13804681" y="2524182"/>
            <a:ext cx="2086376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</a:t>
            </a:r>
            <a:endParaRPr lang="ko-KR" altLang="en-US" sz="2400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FC5E90-AEBB-E536-3E3B-C0CE69FC71CC}"/>
              </a:ext>
            </a:extLst>
          </p:cNvPr>
          <p:cNvSpPr/>
          <p:nvPr/>
        </p:nvSpPr>
        <p:spPr>
          <a:xfrm>
            <a:off x="6742799" y="2524183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A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B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01A18D2-8EE9-CE1C-7AE2-85B5D9776FF7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5298235" y="3086265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7AB3748-6B0B-C6FA-3755-F6487F275365}"/>
              </a:ext>
            </a:extLst>
          </p:cNvPr>
          <p:cNvSpPr/>
          <p:nvPr/>
        </p:nvSpPr>
        <p:spPr>
          <a:xfrm>
            <a:off x="10273740" y="2524183"/>
            <a:ext cx="2086377" cy="112416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Log B</a:t>
            </a:r>
            <a:b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Next : H</a:t>
            </a:r>
            <a:endParaRPr lang="ko-KR" altLang="en-US" dirty="0">
              <a:solidFill>
                <a:schemeClr val="tx1"/>
              </a:solidFill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CBE4547-673F-DD6D-1882-61E567BD479F}"/>
              </a:ext>
            </a:extLst>
          </p:cNvPr>
          <p:cNvCxnSpPr/>
          <p:nvPr/>
        </p:nvCxnSpPr>
        <p:spPr>
          <a:xfrm flipV="1">
            <a:off x="8829176" y="3106805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D6F4F7A-9B8E-4F30-976C-2E50EFB9A914}"/>
              </a:ext>
            </a:extLst>
          </p:cNvPr>
          <p:cNvCxnSpPr/>
          <p:nvPr/>
        </p:nvCxnSpPr>
        <p:spPr>
          <a:xfrm flipV="1">
            <a:off x="12360117" y="3106805"/>
            <a:ext cx="144456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129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586</Words>
  <Application>Microsoft Office PowerPoint</Application>
  <PresentationFormat>사용자 지정</PresentationFormat>
  <Paragraphs>99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Noto Sans KR</vt:lpstr>
      <vt:lpstr>Noto Serif KR</vt:lpstr>
      <vt:lpstr>Pretendard Light</vt:lpstr>
      <vt:lpstr>Pretendard Medium</vt:lpstr>
      <vt:lpstr>Pretendard Variable</vt:lpstr>
      <vt:lpstr>Arial</vt:lpstr>
      <vt:lpstr>Calibri</vt:lpstr>
      <vt:lpstr>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팀. 비버 20260723 중간 빌드 발표</dc:title>
  <dc:subject/>
  <dc:creator>jungle</dc:creator>
  <dc:description/>
  <cp:lastModifiedBy>Myeongho Kang</cp:lastModifiedBy>
  <cp:revision>39</cp:revision>
  <dcterms:created xsi:type="dcterms:W3CDTF">2006-08-16T00:00:00Z</dcterms:created>
  <dcterms:modified xsi:type="dcterms:W3CDTF">2026-09-11T04:03:00Z</dcterms:modified>
  <dc:identifier>DAHQGzZPHgE</dc:identifier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3</vt:i4>
  </property>
  <property fmtid="{D5CDD505-2E9C-101B-9397-08002B2CF9AE}" pid="3" name="Notes">
    <vt:i4>1</vt:i4>
  </property>
  <property fmtid="{D5CDD505-2E9C-101B-9397-08002B2CF9AE}" pid="4" name="PresentationFormat">
    <vt:lpwstr>사용자 지정</vt:lpwstr>
  </property>
  <property fmtid="{D5CDD505-2E9C-101B-9397-08002B2CF9AE}" pid="5" name="Slides">
    <vt:i4>16</vt:i4>
  </property>
</Properties>
</file>