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FA3D1">
                    <a:alpha val="12000"/>
                  </a:srgbClr>
                </a:gs>
                <a:gs pos="100000">
                  <a:srgbClr val="4FA3D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5874" y="4961572"/>
            <a:ext cx="6551657" cy="1189101"/>
            <a:chOff x="515874" y="4961572"/>
            <a:chExt cx="6551657" cy="1189101"/>
          </a:xfrm>
        </p:grpSpPr>
        <p:sp>
          <p:nvSpPr>
            <p:cNvPr id="5" name="TextBox 5"/>
            <p:cNvSpPr txBox="1"/>
            <p:nvPr/>
          </p:nvSpPr>
          <p:spPr>
            <a:xfrm>
              <a:off x="515874" y="4961572"/>
              <a:ext cx="2861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dirty="0">
                  <a:solidFill>
                    <a:srgbClr val="4FA3D1">
                      <a:alphaMod val="16000"/>
                    </a:srgbClr>
                  </a:solidFill>
                  <a:latin typeface="Consolas"/>
                  <a:ea typeface="Consolas"/>
                  <a:cs typeface="Consolas"/>
                </a:rPr>
                <a:t>m_pCurTab =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5874" y="5475922"/>
              <a:ext cx="655165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dirty="0">
                  <a:solidFill>
                    <a:srgbClr val="4FA3D1">
                      <a:alphaMod val="16000"/>
                    </a:srgbClr>
                  </a:solidFill>
                  <a:latin typeface="Consolas"/>
                  <a:ea typeface="Consolas"/>
                  <a:cs typeface="Consolas"/>
                </a:rPr>
                <a:t>m_vecTabs[iTabNum].get();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428750"/>
            <a:ext cx="4181612" cy="257556"/>
            <a:chOff x="533400" y="1428750"/>
            <a:chExt cx="4181612" cy="257556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38100" cy="19050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9704" y="1451610"/>
              <a:ext cx="4035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DNF_DUEL · LEVEL_SELECT CODE REVIEW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2068830"/>
            <a:ext cx="10999870" cy="1703832"/>
            <a:chOff x="514350" y="2068830"/>
            <a:chExt cx="10999870" cy="1703832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2068830"/>
              <a:ext cx="1099987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60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전략 패턴 × 팩토리 메서드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33400" y="31051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rgbClr val="3DDC97">
                      <a:alpha val="90000"/>
                    </a:srgbClr>
                  </a:gs>
                  <a:gs pos="100000">
                    <a:srgbClr val="3DDC97">
                      <a:alpha val="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1208" y="3303270"/>
              <a:ext cx="73127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DNF_DUEL 캐릭터 속성 탭 UI 리팩터링 코드 리뷰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27304" y="6176010"/>
            <a:ext cx="5441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A93A0"/>
                </a:solidFill>
                <a:latin typeface="Consolas"/>
                <a:ea typeface="Consolas"/>
                <a:cs typeface="Consolas"/>
              </a:rPr>
              <a:t>Level_Select · Select_AttributePanel · AttributeTab_* / 2026-09-04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7398" y="1013460"/>
            <a:ext cx="6499670" cy="1526857"/>
            <a:chOff x="517398" y="1013460"/>
            <a:chExt cx="6499670" cy="152685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1013460"/>
              <a:ext cx="1220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02 / AGENDA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1222058"/>
              <a:ext cx="29706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오늘 다룰 내용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970" y="1757362"/>
              <a:ext cx="6495098" cy="7829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22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개념 두 개를 먼저 정의하고, 실제 코드에서 어떻게 </a:t>
              </a:r>
              <a:r>
                <a:rPr lang="ko-KR" sz="22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조합됐는지, 장단점과 대안까지 순서대로 봅니다.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3900" y="2647950"/>
            <a:ext cx="9525" cy="2971800"/>
            <a:chOff x="723900" y="2647950"/>
            <a:chExt cx="9525" cy="2971800"/>
          </a:xfrm>
        </p:grpSpPr>
        <p:sp>
          <p:nvSpPr>
            <p:cNvPr id="6" name="Line 6"/>
            <p:cNvSpPr/>
            <p:nvPr/>
          </p:nvSpPr>
          <p:spPr>
            <a:xfrm>
              <a:off x="723900" y="264795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 cap="rnd">
              <a:gradFill>
                <a:gsLst>
                  <a:gs pos="0">
                    <a:srgbClr val="3DDC97"/>
                  </a:gs>
                  <a:gs pos="100000">
                    <a:srgbClr val="4FA3D1"/>
                  </a:gs>
                </a:gsLst>
                <a:lin ang="5400000" scaled="1"/>
              </a:gra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81025" y="2505075"/>
            <a:ext cx="6498221" cy="318326"/>
            <a:chOff x="581025" y="2505075"/>
            <a:chExt cx="6498221" cy="318326"/>
          </a:xfrm>
        </p:grpSpPr>
        <p:sp>
          <p:nvSpPr>
            <p:cNvPr id="8" name="Ellipse 8"/>
            <p:cNvSpPr/>
            <p:nvPr/>
          </p:nvSpPr>
          <p:spPr>
            <a:xfrm>
              <a:off x="581025" y="2505075"/>
              <a:ext cx="285750" cy="285750"/>
            </a:xfrm>
            <a:prstGeom prst="ellipse">
              <a:avLst/>
            </a:prstGeom>
            <a:solidFill>
              <a:srgbClr val="12161C"/>
            </a:solidFill>
            <a:ln w="19050">
              <a:solidFill>
                <a:srgbClr val="3DDC9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4512" y="25660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2842" y="2559368"/>
              <a:ext cx="5676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Strategy 패턴이란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GoF 23개 패턴 중 하나, 런타임 알고리즘 교체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1025" y="2981325"/>
            <a:ext cx="6288833" cy="318326"/>
            <a:chOff x="581025" y="2981325"/>
            <a:chExt cx="6288833" cy="318326"/>
          </a:xfrm>
        </p:grpSpPr>
        <p:sp>
          <p:nvSpPr>
            <p:cNvPr id="12" name="Ellipse 12"/>
            <p:cNvSpPr/>
            <p:nvPr/>
          </p:nvSpPr>
          <p:spPr>
            <a:xfrm>
              <a:off x="581025" y="2981325"/>
              <a:ext cx="285750" cy="285750"/>
            </a:xfrm>
            <a:prstGeom prst="ellipse">
              <a:avLst/>
            </a:prstGeom>
            <a:solidFill>
              <a:srgbClr val="12161C"/>
            </a:solidFill>
            <a:ln w="19050">
              <a:solidFill>
                <a:srgbClr val="3DDC9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4512" y="30422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2842" y="3035618"/>
              <a:ext cx="5467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Factory Method 패턴이란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생성 로직 캡슐화, 반환 타입이 핵심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1025" y="3457575"/>
            <a:ext cx="8617896" cy="318326"/>
            <a:chOff x="581025" y="3457575"/>
            <a:chExt cx="8617896" cy="318326"/>
          </a:xfrm>
        </p:grpSpPr>
        <p:sp>
          <p:nvSpPr>
            <p:cNvPr id="16" name="Ellipse 16"/>
            <p:cNvSpPr/>
            <p:nvPr/>
          </p:nvSpPr>
          <p:spPr>
            <a:xfrm>
              <a:off x="581025" y="3457575"/>
              <a:ext cx="285750" cy="285750"/>
            </a:xfrm>
            <a:prstGeom prst="ellipse">
              <a:avLst/>
            </a:prstGeom>
            <a:solidFill>
              <a:srgbClr val="12161C"/>
            </a:solidFill>
            <a:ln w="19050">
              <a:solidFill>
                <a:srgbClr val="4FA3D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4512" y="35185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02842" y="3511868"/>
              <a:ext cx="7796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프로젝트 적용 사례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IAttributeTab · ConcreteStrategy 3종 · Context · Factory Method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1025" y="3933825"/>
            <a:ext cx="5841479" cy="318326"/>
            <a:chOff x="581025" y="3933825"/>
            <a:chExt cx="5841479" cy="318326"/>
          </a:xfrm>
        </p:grpSpPr>
        <p:sp>
          <p:nvSpPr>
            <p:cNvPr id="20" name="Ellipse 20"/>
            <p:cNvSpPr/>
            <p:nvPr/>
          </p:nvSpPr>
          <p:spPr>
            <a:xfrm>
              <a:off x="581025" y="3933825"/>
              <a:ext cx="285750" cy="285750"/>
            </a:xfrm>
            <a:prstGeom prst="ellipse">
              <a:avLst/>
            </a:prstGeom>
            <a:solidFill>
              <a:srgbClr val="12161C"/>
            </a:solidFill>
            <a:ln w="19050">
              <a:solidFill>
                <a:srgbClr val="4FA3D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4512" y="39947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02842" y="3988118"/>
              <a:ext cx="501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두 패턴의 결합 관계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어떻게 만들지 × 어떻게 교체하며 쓸지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1025" y="4410075"/>
            <a:ext cx="6099809" cy="318326"/>
            <a:chOff x="581025" y="4410075"/>
            <a:chExt cx="6099809" cy="318326"/>
          </a:xfrm>
        </p:grpSpPr>
        <p:sp>
          <p:nvSpPr>
            <p:cNvPr id="24" name="Ellipse 24"/>
            <p:cNvSpPr/>
            <p:nvPr/>
          </p:nvSpPr>
          <p:spPr>
            <a:xfrm>
              <a:off x="581025" y="4410075"/>
              <a:ext cx="285750" cy="285750"/>
            </a:xfrm>
            <a:prstGeom prst="ellipse">
              <a:avLst/>
            </a:prstGeom>
            <a:solidFill>
              <a:srgbClr val="12161C"/>
            </a:solidFill>
            <a:ln w="19050">
              <a:solidFill>
                <a:srgbClr val="3DDC9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4512" y="44710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02842" y="4464368"/>
              <a:ext cx="5277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장점과 단점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OCP 준수와 상태 유지 vs. 반복되는 다운캐스팅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1975" y="4867275"/>
            <a:ext cx="6610103" cy="337376"/>
            <a:chOff x="561975" y="4867275"/>
            <a:chExt cx="6610103" cy="337376"/>
          </a:xfrm>
        </p:grpSpPr>
        <p:sp>
          <p:nvSpPr>
            <p:cNvPr id="28" name="Ellipse 28"/>
            <p:cNvSpPr/>
            <p:nvPr/>
          </p:nvSpPr>
          <p:spPr>
            <a:xfrm>
              <a:off x="561975" y="4867275"/>
              <a:ext cx="323850" cy="323850"/>
            </a:xfrm>
            <a:prstGeom prst="ellipse">
              <a:avLst/>
            </a:prstGeom>
            <a:solidFill>
              <a:srgbClr val="4FA3D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4512" y="49472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2161C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02842" y="4940618"/>
              <a:ext cx="5769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대안이 될 수 있었던 접근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if/else · State 패턴 · Commit() 개선안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273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7398" y="531019"/>
            <a:ext cx="8495633" cy="1078516"/>
            <a:chOff x="517398" y="531019"/>
            <a:chExt cx="8495633" cy="107851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632460"/>
              <a:ext cx="1375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03 / CONCEPT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8798719" y="531019"/>
              <a:ext cx="214312" cy="214312"/>
            </a:xfrm>
            <a:custGeom>
              <a:avLst/>
              <a:gdLst/>
              <a:ahLst/>
              <a:cxnLst/>
              <a:rect l="l" t="t" r="r" b="b"/>
              <a:pathLst>
                <a:path w="214312" h="214312">
                  <a:moveTo>
                    <a:pt x="11906" y="47625"/>
                  </a:moveTo>
                  <a:lnTo>
                    <a:pt x="47625" y="47625"/>
                  </a:lnTo>
                  <a:cubicBezTo>
                    <a:pt x="54201" y="47625"/>
                    <a:pt x="59531" y="42294"/>
                    <a:pt x="59531" y="35719"/>
                  </a:cubicBezTo>
                  <a:lnTo>
                    <a:pt x="59531" y="23812"/>
                  </a:lnTo>
                  <a:cubicBezTo>
                    <a:pt x="59531" y="10661"/>
                    <a:pt x="70192" y="0"/>
                    <a:pt x="83344" y="0"/>
                  </a:cubicBezTo>
                  <a:cubicBezTo>
                    <a:pt x="96495" y="0"/>
                    <a:pt x="107156" y="10661"/>
                    <a:pt x="107156" y="23812"/>
                  </a:cubicBezTo>
                  <a:lnTo>
                    <a:pt x="107156" y="35719"/>
                  </a:lnTo>
                  <a:cubicBezTo>
                    <a:pt x="107156" y="42294"/>
                    <a:pt x="112487" y="47625"/>
                    <a:pt x="119062" y="47625"/>
                  </a:cubicBezTo>
                  <a:lnTo>
                    <a:pt x="154781" y="47625"/>
                  </a:lnTo>
                  <a:cubicBezTo>
                    <a:pt x="161357" y="47625"/>
                    <a:pt x="166688" y="52956"/>
                    <a:pt x="166688" y="59531"/>
                  </a:cubicBezTo>
                  <a:lnTo>
                    <a:pt x="166688" y="95250"/>
                  </a:lnTo>
                  <a:cubicBezTo>
                    <a:pt x="166688" y="101826"/>
                    <a:pt x="172018" y="107156"/>
                    <a:pt x="178594" y="107156"/>
                  </a:cubicBezTo>
                  <a:lnTo>
                    <a:pt x="190500" y="107156"/>
                  </a:lnTo>
                  <a:cubicBezTo>
                    <a:pt x="203651" y="107156"/>
                    <a:pt x="214312" y="117817"/>
                    <a:pt x="214312" y="130969"/>
                  </a:cubicBezTo>
                  <a:cubicBezTo>
                    <a:pt x="214312" y="144120"/>
                    <a:pt x="203651" y="154781"/>
                    <a:pt x="190500" y="154781"/>
                  </a:cubicBezTo>
                  <a:lnTo>
                    <a:pt x="178594" y="154781"/>
                  </a:lnTo>
                  <a:cubicBezTo>
                    <a:pt x="172018" y="154781"/>
                    <a:pt x="166688" y="160112"/>
                    <a:pt x="166688" y="166688"/>
                  </a:cubicBezTo>
                  <a:lnTo>
                    <a:pt x="166688" y="202406"/>
                  </a:lnTo>
                  <a:cubicBezTo>
                    <a:pt x="166688" y="208982"/>
                    <a:pt x="161357" y="214312"/>
                    <a:pt x="154781" y="214312"/>
                  </a:cubicBezTo>
                  <a:lnTo>
                    <a:pt x="119062" y="214312"/>
                  </a:lnTo>
                  <a:cubicBezTo>
                    <a:pt x="112487" y="214312"/>
                    <a:pt x="107156" y="208982"/>
                    <a:pt x="107156" y="202406"/>
                  </a:cubicBezTo>
                  <a:lnTo>
                    <a:pt x="107156" y="190500"/>
                  </a:lnTo>
                  <a:cubicBezTo>
                    <a:pt x="107156" y="177349"/>
                    <a:pt x="96495" y="166688"/>
                    <a:pt x="83344" y="166688"/>
                  </a:cubicBezTo>
                  <a:cubicBezTo>
                    <a:pt x="70192" y="166688"/>
                    <a:pt x="59531" y="177349"/>
                    <a:pt x="59531" y="190500"/>
                  </a:cubicBezTo>
                  <a:lnTo>
                    <a:pt x="59531" y="202406"/>
                  </a:lnTo>
                  <a:cubicBezTo>
                    <a:pt x="59531" y="208982"/>
                    <a:pt x="54201" y="214312"/>
                    <a:pt x="47625" y="214312"/>
                  </a:cubicBezTo>
                  <a:lnTo>
                    <a:pt x="11906" y="214312"/>
                  </a:lnTo>
                  <a:cubicBezTo>
                    <a:pt x="5331" y="214312"/>
                    <a:pt x="0" y="208982"/>
                    <a:pt x="0" y="202406"/>
                  </a:cubicBezTo>
                  <a:lnTo>
                    <a:pt x="0" y="166688"/>
                  </a:lnTo>
                  <a:cubicBezTo>
                    <a:pt x="0" y="160112"/>
                    <a:pt x="5331" y="154781"/>
                    <a:pt x="11906" y="154781"/>
                  </a:cubicBezTo>
                  <a:lnTo>
                    <a:pt x="23812" y="154781"/>
                  </a:lnTo>
                  <a:cubicBezTo>
                    <a:pt x="36964" y="154781"/>
                    <a:pt x="47625" y="144120"/>
                    <a:pt x="47625" y="130969"/>
                  </a:cubicBezTo>
                  <a:cubicBezTo>
                    <a:pt x="47625" y="117817"/>
                    <a:pt x="36964" y="107156"/>
                    <a:pt x="23812" y="107156"/>
                  </a:cubicBezTo>
                  <a:lnTo>
                    <a:pt x="11906" y="107156"/>
                  </a:lnTo>
                  <a:cubicBezTo>
                    <a:pt x="5331" y="107156"/>
                    <a:pt x="0" y="101826"/>
                    <a:pt x="0" y="95250"/>
                  </a:cubicBezTo>
                  <a:lnTo>
                    <a:pt x="0" y="59531"/>
                  </a:lnTo>
                  <a:cubicBezTo>
                    <a:pt x="0" y="52956"/>
                    <a:pt x="5331" y="47625"/>
                    <a:pt x="11906" y="47625"/>
                  </a:cubicBezTo>
                </a:path>
              </a:pathLst>
            </a:custGeom>
            <a:noFill/>
            <a:ln w="23812">
              <a:solidFill>
                <a:srgbClr val="4FA3D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17398" y="993458"/>
              <a:ext cx="39331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Strategy 패턴이란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21970" y="1624012"/>
            <a:ext cx="4652010" cy="782955"/>
            <a:chOff x="521970" y="1624012"/>
            <a:chExt cx="4652010" cy="782955"/>
          </a:xfrm>
        </p:grpSpPr>
        <p:sp>
          <p:nvSpPr>
            <p:cNvPr id="6" name="TextBox 6"/>
            <p:cNvSpPr txBox="1"/>
            <p:nvPr/>
          </p:nvSpPr>
          <p:spPr>
            <a:xfrm>
              <a:off x="521970" y="1624012"/>
              <a:ext cx="4652010" cy="7829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알고리즘을 인터페이스로 캡슐화해 </a:t>
              </a: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런타임에 교체 가능하게 만드는 패턴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2733675"/>
            <a:ext cx="3360420" cy="541020"/>
            <a:chOff x="533400" y="2733675"/>
            <a:chExt cx="3360420" cy="541020"/>
          </a:xfrm>
        </p:grpSpPr>
        <p:sp>
          <p:nvSpPr>
            <p:cNvPr id="8" name="Rectangle 8"/>
            <p:cNvSpPr/>
            <p:nvPr/>
          </p:nvSpPr>
          <p:spPr>
            <a:xfrm>
              <a:off x="533400" y="2743200"/>
              <a:ext cx="57150" cy="571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2733675"/>
              <a:ext cx="31394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5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GoF(Design Patterns 저자 4인) </a:t>
              </a:r>
              <a:r>
                <a:rPr lang="ko-KR" sz="15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23개 패턴 중 행동(Behavioral) 패턴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3495675"/>
            <a:ext cx="4484370" cy="541020"/>
            <a:chOff x="533400" y="3495675"/>
            <a:chExt cx="4484370" cy="541020"/>
          </a:xfrm>
        </p:grpSpPr>
        <p:sp>
          <p:nvSpPr>
            <p:cNvPr id="11" name="Rectangle 11"/>
            <p:cNvSpPr/>
            <p:nvPr/>
          </p:nvSpPr>
          <p:spPr>
            <a:xfrm>
              <a:off x="533400" y="3505200"/>
              <a:ext cx="57150" cy="571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4380" y="3495675"/>
              <a:ext cx="42633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5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구조: Context가 Strategy 인터페이스를 </a:t>
              </a:r>
              <a:r>
                <a:rPr lang="ko-KR" sz="15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has-a로 보유, ConcreteStrategy들이 이를 구현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4257675"/>
            <a:ext cx="4036695" cy="541020"/>
            <a:chOff x="533400" y="4257675"/>
            <a:chExt cx="4036695" cy="541020"/>
          </a:xfrm>
        </p:grpSpPr>
        <p:sp>
          <p:nvSpPr>
            <p:cNvPr id="14" name="Rectangle 14"/>
            <p:cNvSpPr/>
            <p:nvPr/>
          </p:nvSpPr>
          <p:spPr>
            <a:xfrm>
              <a:off x="533400" y="4267200"/>
              <a:ext cx="57150" cy="571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4380" y="4257675"/>
              <a:ext cx="381571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5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if/else · switch 분기가 흩어지는 것을 막고 </a:t>
              </a:r>
              <a:r>
                <a:rPr lang="ko-KR" sz="15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개방-폐쇄 원칙(OCP)을 지키기 위해 사용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29150" y="5391150"/>
            <a:ext cx="2798247" cy="457200"/>
            <a:chOff x="4629150" y="5391150"/>
            <a:chExt cx="2798247" cy="457200"/>
          </a:xfrm>
        </p:grpSpPr>
        <p:sp>
          <p:nvSpPr>
            <p:cNvPr id="17" name="Ellipse 17"/>
            <p:cNvSpPr/>
            <p:nvPr/>
          </p:nvSpPr>
          <p:spPr>
            <a:xfrm>
              <a:off x="4629150" y="5391150"/>
              <a:ext cx="457200" cy="457200"/>
            </a:xfrm>
            <a:prstGeom prst="ellipse">
              <a:avLst/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772025" y="5534025"/>
              <a:ext cx="171450" cy="171450"/>
              <a:chOff x="4772025" y="5534025"/>
              <a:chExt cx="171450" cy="1714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848225" y="56102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810125" y="557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72025" y="55340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194554" y="5547360"/>
              <a:ext cx="2232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75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OPEN-CLOSED PRINCIPLE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2750" y="1619250"/>
            <a:ext cx="2095500" cy="571500"/>
            <a:chOff x="6762750" y="1619250"/>
            <a:chExt cx="2095500" cy="571500"/>
          </a:xfrm>
        </p:grpSpPr>
        <p:sp>
          <p:nvSpPr>
            <p:cNvPr id="24" name="Rectangle 24"/>
            <p:cNvSpPr/>
            <p:nvPr/>
          </p:nvSpPr>
          <p:spPr>
            <a:xfrm>
              <a:off x="6762750" y="1619250"/>
              <a:ext cx="2095500" cy="571500"/>
            </a:xfrm>
            <a:prstGeom prst="roundRect">
              <a:avLst>
                <a:gd name="adj" fmla="val 10000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91429" y="1809750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Context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10500" y="2190750"/>
            <a:ext cx="647700" cy="647700"/>
            <a:chOff x="7810500" y="2190750"/>
            <a:chExt cx="647700" cy="647700"/>
          </a:xfrm>
        </p:grpSpPr>
        <p:sp>
          <p:nvSpPr>
            <p:cNvPr id="27" name="Line 27"/>
            <p:cNvSpPr/>
            <p:nvPr/>
          </p:nvSpPr>
          <p:spPr>
            <a:xfrm>
              <a:off x="7810500" y="2190750"/>
              <a:ext cx="1" cy="647700"/>
            </a:xfrm>
            <a:prstGeom prst="line">
              <a:avLst/>
            </a:prstGeom>
            <a:noFill/>
            <a:ln w="19050">
              <a:solidFill>
                <a:srgbClr val="4FA3D1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67650" y="2409825"/>
              <a:ext cx="590550" cy="20955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80604" y="24326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>has-a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62750" y="2857500"/>
            <a:ext cx="2095500" cy="579120"/>
            <a:chOff x="6762750" y="2857500"/>
            <a:chExt cx="2095500" cy="579120"/>
          </a:xfrm>
        </p:grpSpPr>
        <p:sp>
          <p:nvSpPr>
            <p:cNvPr id="31" name="Rectangle 31"/>
            <p:cNvSpPr/>
            <p:nvPr/>
          </p:nvSpPr>
          <p:spPr>
            <a:xfrm>
              <a:off x="6762750" y="2857500"/>
              <a:ext cx="2095500" cy="571500"/>
            </a:xfrm>
            <a:prstGeom prst="roundRect">
              <a:avLst>
                <a:gd name="adj" fmla="val 10000"/>
              </a:avLst>
            </a:prstGeom>
            <a:solidFill>
              <a:srgbClr val="3DDC97">
                <a:alpha val="8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85444" y="2947035"/>
              <a:ext cx="1050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75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«interface»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33121" y="3143250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Strategy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05337" y="1283018"/>
            <a:ext cx="3353426" cy="264033"/>
            <a:chOff x="7105337" y="1283018"/>
            <a:chExt cx="3353426" cy="264033"/>
          </a:xfrm>
        </p:grpSpPr>
        <p:sp>
          <p:nvSpPr>
            <p:cNvPr id="35" name="TextBox 35"/>
            <p:cNvSpPr txBox="1"/>
            <p:nvPr/>
          </p:nvSpPr>
          <p:spPr>
            <a:xfrm>
              <a:off x="7105337" y="1283018"/>
              <a:ext cx="3353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spc="75" dirty="0">
                  <a:solidFill>
                    <a:srgbClr val="4FA3D1"/>
                  </a:solidFill>
                  <a:latin typeface="Consolas"/>
                  <a:ea typeface="Microsoft YaHei"/>
                  <a:cs typeface="Consolas"/>
                </a:rPr>
                <a:t>패턴 구조 — ConcreteStrategy × 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915150" y="3448050"/>
            <a:ext cx="3733800" cy="933450"/>
            <a:chOff x="6915150" y="3448050"/>
            <a:chExt cx="3733800" cy="933450"/>
          </a:xfrm>
        </p:grpSpPr>
        <p:sp>
          <p:nvSpPr>
            <p:cNvPr id="37" name="Line 37"/>
            <p:cNvSpPr/>
            <p:nvPr/>
          </p:nvSpPr>
          <p:spPr>
            <a:xfrm>
              <a:off x="6915150" y="3448050"/>
              <a:ext cx="819150" cy="933450"/>
            </a:xfrm>
            <a:custGeom>
              <a:avLst/>
              <a:gdLst/>
              <a:ahLst/>
              <a:cxnLst/>
              <a:rect l="l" t="t" r="r" b="b"/>
              <a:pathLst>
                <a:path w="819150" h="933450">
                  <a:moveTo>
                    <a:pt x="0" y="933450"/>
                  </a:moveTo>
                  <a:lnTo>
                    <a:pt x="819150" y="0"/>
                  </a:lnTo>
                </a:path>
              </a:pathLst>
            </a:custGeom>
            <a:noFill/>
            <a:ln w="14288">
              <a:solidFill>
                <a:srgbClr val="3DDC97"/>
              </a:solidFill>
              <a:custDash>
                <a:ds d="400000" sp="400000"/>
              </a:custDash>
            </a:ln>
          </p:spPr>
        </p:sp>
        <p:sp>
          <p:nvSpPr>
            <p:cNvPr id="38" name="Line 38"/>
            <p:cNvSpPr/>
            <p:nvPr/>
          </p:nvSpPr>
          <p:spPr>
            <a:xfrm>
              <a:off x="7829550" y="3448050"/>
              <a:ext cx="952500" cy="933450"/>
            </a:xfrm>
            <a:custGeom>
              <a:avLst/>
              <a:gdLst/>
              <a:ahLst/>
              <a:cxnLst/>
              <a:rect l="l" t="t" r="r" b="b"/>
              <a:pathLst>
                <a:path w="952500" h="933450">
                  <a:moveTo>
                    <a:pt x="952500" y="9334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DDC97"/>
              </a:solidFill>
              <a:custDash>
                <a:ds d="400000" sp="400000"/>
              </a:custDash>
            </a:ln>
          </p:spPr>
        </p:sp>
        <p:sp>
          <p:nvSpPr>
            <p:cNvPr id="39" name="Line 39"/>
            <p:cNvSpPr/>
            <p:nvPr/>
          </p:nvSpPr>
          <p:spPr>
            <a:xfrm>
              <a:off x="7924800" y="3448050"/>
              <a:ext cx="2724150" cy="933450"/>
            </a:xfrm>
            <a:custGeom>
              <a:avLst/>
              <a:gdLst/>
              <a:ahLst/>
              <a:cxnLst/>
              <a:rect l="l" t="t" r="r" b="b"/>
              <a:pathLst>
                <a:path w="2724150" h="933450">
                  <a:moveTo>
                    <a:pt x="2724150" y="9334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DDC97"/>
              </a:solidFill>
              <a:custDash>
                <a:ds d="400000" sp="400000"/>
              </a:custDash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57900" y="4381500"/>
            <a:ext cx="1714500" cy="857250"/>
            <a:chOff x="6057900" y="4381500"/>
            <a:chExt cx="1714500" cy="857250"/>
          </a:xfrm>
        </p:grpSpPr>
        <p:sp>
          <p:nvSpPr>
            <p:cNvPr id="41" name="Rectangle 41"/>
            <p:cNvSpPr/>
            <p:nvPr/>
          </p:nvSpPr>
          <p:spPr>
            <a:xfrm>
              <a:off x="6057900" y="4381500"/>
              <a:ext cx="171450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4386" y="45796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4FA3D1"/>
                  </a:solidFill>
                  <a:latin typeface="Pretendard ExtraBold"/>
                  <a:ea typeface="Pretendard ExtraBold"/>
                  <a:cs typeface="Pretendard ExtraBold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6738" y="4956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구현체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924800" y="4381500"/>
            <a:ext cx="1714500" cy="857250"/>
            <a:chOff x="7924800" y="4381500"/>
            <a:chExt cx="1714500" cy="857250"/>
          </a:xfrm>
        </p:grpSpPr>
        <p:sp>
          <p:nvSpPr>
            <p:cNvPr id="45" name="Rectangle 45"/>
            <p:cNvSpPr/>
            <p:nvPr/>
          </p:nvSpPr>
          <p:spPr>
            <a:xfrm>
              <a:off x="7924800" y="4381500"/>
              <a:ext cx="171450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71286" y="45796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4FA3D1"/>
                  </a:solidFill>
                  <a:latin typeface="Pretendard ExtraBold"/>
                  <a:ea typeface="Pretendard ExtraBold"/>
                  <a:cs typeface="Pretendard ExtraBold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3638" y="4956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구현체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791700" y="4381500"/>
            <a:ext cx="1714500" cy="857250"/>
            <a:chOff x="9791700" y="4381500"/>
            <a:chExt cx="1714500" cy="857250"/>
          </a:xfrm>
        </p:grpSpPr>
        <p:sp>
          <p:nvSpPr>
            <p:cNvPr id="49" name="Rectangle 49"/>
            <p:cNvSpPr/>
            <p:nvPr/>
          </p:nvSpPr>
          <p:spPr>
            <a:xfrm>
              <a:off x="9791700" y="4381500"/>
              <a:ext cx="171450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38186" y="45796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4FA3D1"/>
                  </a:solidFill>
                  <a:latin typeface="Pretendard ExtraBold"/>
                  <a:ea typeface="Pretendard ExtraBold"/>
                  <a:cs typeface="Pretendard ExtraBold"/>
                </a:rPr>
                <a:t>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00538" y="4956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구현체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17398" y="531014"/>
            <a:ext cx="8722729" cy="1078521"/>
            <a:chOff x="517398" y="531014"/>
            <a:chExt cx="8722729" cy="1078521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632460"/>
              <a:ext cx="1375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04 / CONCEPT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8417719" y="531014"/>
              <a:ext cx="214312" cy="223842"/>
              <a:chOff x="8417719" y="531014"/>
              <a:chExt cx="214312" cy="22384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417719" y="745331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441531" y="602456"/>
                <a:ext cx="16668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42875">
                    <a:moveTo>
                      <a:pt x="0" y="142875"/>
                    </a:moveTo>
                    <a:lnTo>
                      <a:pt x="0" y="0"/>
                    </a:lnTo>
                    <a:lnTo>
                      <a:pt x="59531" y="47625"/>
                    </a:lnTo>
                    <a:lnTo>
                      <a:pt x="59531" y="0"/>
                    </a:lnTo>
                    <a:lnTo>
                      <a:pt x="119062" y="47625"/>
                    </a:lnTo>
                    <a:lnTo>
                      <a:pt x="166688" y="47625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548688" y="531014"/>
                <a:ext cx="59531" cy="214317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214317">
                    <a:moveTo>
                      <a:pt x="59531" y="214317"/>
                    </a:moveTo>
                    <a:lnTo>
                      <a:pt x="59531" y="119067"/>
                    </a:lnTo>
                    <a:lnTo>
                      <a:pt x="42434" y="5077"/>
                    </a:lnTo>
                    <a:cubicBezTo>
                      <a:pt x="41997" y="2159"/>
                      <a:pt x="39490" y="1"/>
                      <a:pt x="36540" y="4"/>
                    </a:cubicBezTo>
                    <a:lnTo>
                      <a:pt x="22908" y="4"/>
                    </a:lnTo>
                    <a:cubicBezTo>
                      <a:pt x="19993" y="0"/>
                      <a:pt x="17504" y="2106"/>
                      <a:pt x="17026" y="4981"/>
                    </a:cubicBezTo>
                    <a:lnTo>
                      <a:pt x="0" y="107161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489156" y="697706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548688" y="697706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517398" y="993458"/>
              <a:ext cx="87227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팩토리 메서드(Factory Method) 패턴이란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1970" y="1624012"/>
            <a:ext cx="7366635" cy="782955"/>
            <a:chOff x="521970" y="1624012"/>
            <a:chExt cx="7366635" cy="782955"/>
          </a:xfrm>
        </p:grpSpPr>
        <p:sp>
          <p:nvSpPr>
            <p:cNvPr id="11" name="TextBox 11"/>
            <p:cNvSpPr txBox="1"/>
            <p:nvPr/>
          </p:nvSpPr>
          <p:spPr>
            <a:xfrm>
              <a:off x="521970" y="1624012"/>
              <a:ext cx="7366635" cy="7829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객체 생성 로직을 static 함수로 캡슐화하고, 반환 타입을 </a:t>
              </a: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구체 클래스가 아닌 인터페이스로 주는 것이 핵심이다.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762250"/>
            <a:ext cx="3429000" cy="857250"/>
            <a:chOff x="533400" y="2762250"/>
            <a:chExt cx="3429000" cy="857250"/>
          </a:xfrm>
        </p:grpSpPr>
        <p:sp>
          <p:nvSpPr>
            <p:cNvPr id="13" name="Rectangle 13"/>
            <p:cNvSpPr/>
            <p:nvPr/>
          </p:nvSpPr>
          <p:spPr>
            <a:xfrm>
              <a:off x="533400" y="2762250"/>
              <a:ext cx="342900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762250"/>
              <a:ext cx="38100" cy="8572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142" y="2949892"/>
              <a:ext cx="1463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생성 로직 캡슐화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3223260"/>
              <a:ext cx="1781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별도 static 함수로 분리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52900" y="2762250"/>
            <a:ext cx="3429000" cy="857250"/>
            <a:chOff x="4152900" y="2762250"/>
            <a:chExt cx="3429000" cy="857250"/>
          </a:xfrm>
        </p:grpSpPr>
        <p:sp>
          <p:nvSpPr>
            <p:cNvPr id="18" name="Rectangle 18"/>
            <p:cNvSpPr/>
            <p:nvPr/>
          </p:nvSpPr>
          <p:spPr>
            <a:xfrm>
              <a:off x="4152900" y="2762250"/>
              <a:ext cx="3429000" cy="857250"/>
            </a:xfrm>
            <a:prstGeom prst="roundRect">
              <a:avLst>
                <a:gd name="adj" fmla="val 6667"/>
              </a:avLst>
            </a:prstGeom>
            <a:solidFill>
              <a:srgbClr val="3DDC97">
                <a:alpha val="8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52900" y="2762250"/>
              <a:ext cx="38100" cy="8572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74642" y="2949892"/>
              <a:ext cx="1463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반환 타입이 핵심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75404" y="3223260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구체 클래스가 아닌 인터페이스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72400" y="2762250"/>
            <a:ext cx="3429000" cy="857250"/>
            <a:chOff x="7772400" y="2762250"/>
            <a:chExt cx="3429000" cy="857250"/>
          </a:xfrm>
        </p:grpSpPr>
        <p:sp>
          <p:nvSpPr>
            <p:cNvPr id="23" name="Rectangle 23"/>
            <p:cNvSpPr/>
            <p:nvPr/>
          </p:nvSpPr>
          <p:spPr>
            <a:xfrm>
              <a:off x="7772400" y="2762250"/>
              <a:ext cx="342900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772400" y="2762250"/>
              <a:ext cx="38100" cy="8572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4142" y="2949892"/>
              <a:ext cx="127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실패 처리 은닉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94904" y="3223260"/>
              <a:ext cx="313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초기화 체크 + 에러 알림을 호출부에서 숨김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4000500"/>
            <a:ext cx="11125200" cy="1905000"/>
            <a:chOff x="533400" y="4000500"/>
            <a:chExt cx="11125200" cy="1905000"/>
          </a:xfrm>
        </p:grpSpPr>
        <p:sp>
          <p:nvSpPr>
            <p:cNvPr id="28" name="Rectangle 28"/>
            <p:cNvSpPr/>
            <p:nvPr/>
          </p:nvSpPr>
          <p:spPr>
            <a:xfrm>
              <a:off x="533400" y="4000500"/>
              <a:ext cx="11125200" cy="1905000"/>
            </a:xfrm>
            <a:prstGeom prst="roundRect">
              <a:avLst>
                <a:gd name="adj" fmla="val 4000"/>
              </a:avLst>
            </a:prstGeom>
            <a:solidFill>
              <a:srgbClr val="1B2028"/>
            </a:solidFill>
            <a:ln w="14288">
              <a:solidFill>
                <a:srgbClr val="333B45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81050" y="4248150"/>
              <a:ext cx="114300" cy="114300"/>
            </a:xfrm>
            <a:prstGeom prst="ellipse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90600" y="4248150"/>
              <a:ext cx="114300" cy="114300"/>
            </a:xfrm>
            <a:prstGeom prst="ellipse">
              <a:avLst/>
            </a:prstGeom>
            <a:solidFill>
              <a:srgbClr val="4FA3D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200150" y="4248150"/>
              <a:ext cx="114300" cy="11430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0580" y="4695825"/>
              <a:ext cx="3183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</a:t>
              </a:r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 xml:space="preserve">HRESULT Initialize() 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= 0;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580" y="5038725"/>
              <a:ext cx="4456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 xml:space="preserve">static unique_ptr&lt;IAttributeTab&gt; </a:t>
              </a:r>
              <a:r>
                <a:rPr lang="en-US" sz="150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Create();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0580" y="5362575"/>
              <a:ext cx="6491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3DDC97"/>
                  </a:solidFill>
                  <a:latin typeface="Consolas"/>
                  <a:ea typeface="Microsoft YaHei"/>
                  <a:cs typeface="Consolas"/>
                </a:rPr>
                <a:t>// 반환 타입이 구체 클래스(CAttributeTab_Cube)가 아닌 인터페이스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17398" y="531019"/>
            <a:ext cx="8281321" cy="1078516"/>
            <a:chOff x="517398" y="531019"/>
            <a:chExt cx="8281321" cy="107851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632460"/>
              <a:ext cx="3634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05 / APPLIED — STRATEGY INTERFACE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8632031" y="531019"/>
              <a:ext cx="166688" cy="214312"/>
              <a:chOff x="8632031" y="531019"/>
              <a:chExt cx="166688" cy="214312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679656" y="638175"/>
                <a:ext cx="11906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59531">
                    <a:moveTo>
                      <a:pt x="11906" y="0"/>
                    </a:moveTo>
                    <a:lnTo>
                      <a:pt x="0" y="0"/>
                    </a:lnTo>
                    <a:lnTo>
                      <a:pt x="0" y="59531"/>
                    </a:lnTo>
                    <a:lnTo>
                      <a:pt x="11906" y="59531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739188" y="638175"/>
                <a:ext cx="11906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59531">
                    <a:moveTo>
                      <a:pt x="0" y="0"/>
                    </a:moveTo>
                    <a:lnTo>
                      <a:pt x="11906" y="0"/>
                    </a:lnTo>
                    <a:lnTo>
                      <a:pt x="11906" y="59531"/>
                    </a:lnTo>
                    <a:lnTo>
                      <a:pt x="0" y="59531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39188" y="53101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632031" y="5310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517398" y="993458"/>
              <a:ext cx="6392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프로젝트 적용 — IAttributeTab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1970" y="1757362"/>
            <a:ext cx="3080385" cy="821055"/>
            <a:chOff x="521970" y="1757362"/>
            <a:chExt cx="3080385" cy="821055"/>
          </a:xfrm>
        </p:grpSpPr>
        <p:sp>
          <p:nvSpPr>
            <p:cNvPr id="10" name="TextBox 10"/>
            <p:cNvSpPr txBox="1"/>
            <p:nvPr/>
          </p:nvSpPr>
          <p:spPr>
            <a:xfrm>
              <a:off x="521970" y="1757362"/>
              <a:ext cx="3080385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6개 가상 함수가 이 UI의 </a:t>
              </a: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Strategy 인터페이스다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2857500"/>
            <a:ext cx="2584752" cy="518351"/>
            <a:chOff x="533400" y="2857500"/>
            <a:chExt cx="2584752" cy="518351"/>
          </a:xfrm>
        </p:grpSpPr>
        <p:sp>
          <p:nvSpPr>
            <p:cNvPr id="12" name="Rectangle 12"/>
            <p:cNvSpPr/>
            <p:nvPr/>
          </p:nvSpPr>
          <p:spPr>
            <a:xfrm>
              <a:off x="533400" y="2857500"/>
              <a:ext cx="57150" cy="571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2864168"/>
              <a:ext cx="2363010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b="1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IAttributeTab.h가 정의하는 </a:t>
              </a:r>
              <a:r>
                <a:rPr lang="ko-KR" sz="1350" b="1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Strategy 인터페이스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3810000"/>
            <a:ext cx="2993136" cy="486156"/>
            <a:chOff x="533400" y="3810000"/>
            <a:chExt cx="2993136" cy="486156"/>
          </a:xfrm>
        </p:grpSpPr>
        <p:sp>
          <p:nvSpPr>
            <p:cNvPr id="15" name="Rectangle 15"/>
            <p:cNvSpPr/>
            <p:nvPr/>
          </p:nvSpPr>
          <p:spPr>
            <a:xfrm>
              <a:off x="533400" y="3810000"/>
              <a:ext cx="57150" cy="57150"/>
            </a:xfrm>
            <a:prstGeom prst="rect">
              <a:avLst/>
            </a:prstGeom>
            <a:solidFill>
              <a:srgbClr val="4FA3D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904" y="3832860"/>
              <a:ext cx="27706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Update, Late_Update, Render, </a:t>
              </a:r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Handle_Input, Set_Context, Initialize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191000" y="1619250"/>
            <a:ext cx="7467600" cy="4000500"/>
            <a:chOff x="4191000" y="1619250"/>
            <a:chExt cx="7467600" cy="4000500"/>
          </a:xfrm>
        </p:grpSpPr>
        <p:sp>
          <p:nvSpPr>
            <p:cNvPr id="18" name="Rectangle 18"/>
            <p:cNvSpPr/>
            <p:nvPr/>
          </p:nvSpPr>
          <p:spPr>
            <a:xfrm>
              <a:off x="4191000" y="1619250"/>
              <a:ext cx="7467600" cy="4000500"/>
            </a:xfrm>
            <a:prstGeom prst="roundRect">
              <a:avLst>
                <a:gd name="adj" fmla="val 1905"/>
              </a:avLst>
            </a:prstGeom>
            <a:solidFill>
              <a:srgbClr val="1B2028"/>
            </a:solidFill>
            <a:ln w="14288">
              <a:solidFill>
                <a:srgbClr val="333B45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438650" y="1866900"/>
              <a:ext cx="114300" cy="114300"/>
            </a:xfrm>
            <a:prstGeom prst="ellipse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648200" y="1866900"/>
              <a:ext cx="114300" cy="114300"/>
            </a:xfrm>
            <a:prstGeom prst="ellipse">
              <a:avLst/>
            </a:prstGeom>
            <a:solidFill>
              <a:srgbClr val="4FA3D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857750" y="1866900"/>
              <a:ext cx="114300" cy="11430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27928" y="1842135"/>
              <a:ext cx="1279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IAttributeTab.h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8180" y="2219325"/>
              <a:ext cx="2958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 xml:space="preserve">class </a:t>
              </a:r>
              <a:r>
                <a:rPr lang="en-US" sz="150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IAttributeTab</a:t>
              </a:r>
              <a:r>
                <a:rPr lang="en-US" sz="15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 xml:space="preserve"> abstract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8180" y="25241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54880" y="2828925"/>
              <a:ext cx="3183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HRESULT </a:t>
              </a:r>
              <a:r>
                <a:rPr lang="en-US" sz="1500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Initialize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() = 0;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4880" y="3133725"/>
              <a:ext cx="3456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void </a:t>
              </a:r>
              <a:r>
                <a:rPr lang="en-US" sz="1500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Update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(_float dt) = 0;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4880" y="3438525"/>
              <a:ext cx="3736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void </a:t>
              </a:r>
              <a:r>
                <a:rPr lang="en-US" sz="1500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Late_Update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(_float) = 0;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4880" y="3743325"/>
              <a:ext cx="2999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HRESULT </a:t>
              </a:r>
              <a:r>
                <a:rPr lang="en-US" sz="1500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Render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() = 0;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4880" y="4048125"/>
              <a:ext cx="3192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void </a:t>
              </a:r>
              <a:r>
                <a:rPr lang="en-US" sz="15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Handle_Input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() = 0;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4880" y="4352925"/>
              <a:ext cx="3517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virtual void </a:t>
              </a:r>
              <a:r>
                <a:rPr lang="en-US" sz="15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Set_Context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(...) = 0;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8180" y="46577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495800" y="51435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333B4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89704" y="5299710"/>
              <a:ext cx="4193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모든 ConcreteStrategy가 이 6개 함수를 구현해야 한다.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7398" y="632460"/>
            <a:ext cx="8899292" cy="1201674"/>
            <a:chOff x="517398" y="632460"/>
            <a:chExt cx="8899292" cy="1201674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632460"/>
              <a:ext cx="3519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06 / APPLIED — CONCRETESTRATEGY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993458"/>
              <a:ext cx="81481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프로젝트 적용 — ConcreteStrategy 3종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82090"/>
              <a:ext cx="8892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큐브 · 캐릭터 컬러 · 헬퍼, 세 탭이 각자 독립적으로 IAttributeTab을 구현한다.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2095500"/>
            <a:ext cx="3505200" cy="3810000"/>
            <a:chOff x="533400" y="2095500"/>
            <a:chExt cx="3505200" cy="3810000"/>
          </a:xfrm>
        </p:grpSpPr>
        <p:sp>
          <p:nvSpPr>
            <p:cNvPr id="6" name="Rectangle 6"/>
            <p:cNvSpPr/>
            <p:nvPr/>
          </p:nvSpPr>
          <p:spPr>
            <a:xfrm>
              <a:off x="533400" y="2095500"/>
              <a:ext cx="3505200" cy="3810000"/>
            </a:xfrm>
            <a:prstGeom prst="roundRect">
              <a:avLst>
                <a:gd name="adj" fmla="val 2174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09600" y="2095500"/>
              <a:ext cx="3352800" cy="914400"/>
            </a:xfrm>
            <a:custGeom>
              <a:avLst/>
              <a:gdLst/>
              <a:ahLst/>
              <a:cxnLst/>
              <a:rect l="l" t="t" r="r" b="b"/>
              <a:pathLst>
                <a:path w="3352800" h="914400">
                  <a:moveTo>
                    <a:pt x="0" y="0"/>
                  </a:moveTo>
                  <a:lnTo>
                    <a:pt x="3352800" y="0"/>
                  </a:lnTo>
                  <a:lnTo>
                    <a:pt x="3352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DDC97">
                <a:alpha val="8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009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333B4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2371725"/>
              <a:ext cx="540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75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CUBE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708910"/>
              <a:ext cx="1591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CAttributeTab_Cube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448050" y="2419350"/>
              <a:ext cx="228600" cy="228600"/>
              <a:chOff x="3448050" y="2419350"/>
              <a:chExt cx="22860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505200" y="24193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3DDC9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448050" y="24765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3DDC97"/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733425" y="3400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8492" y="3330892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30 / 50 큐브 선택 처리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3425" y="3781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8492" y="3711892"/>
              <a:ext cx="2538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캐릭터별 3개 큐브 JSON 로드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3425" y="4162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8492" y="4092892"/>
              <a:ext cx="1703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반환값: CUBE_TYPE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5486400"/>
              <a:ext cx="3352800" cy="9525"/>
            </a:xfrm>
            <a:prstGeom prst="rect">
              <a:avLst/>
            </a:prstGeom>
            <a:solidFill>
              <a:srgbClr val="333B4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5904" y="5633085"/>
              <a:ext cx="1906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W/S로 30 ↔ 50 큐브 전환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43400" y="2095500"/>
            <a:ext cx="3505200" cy="3810000"/>
            <a:chOff x="4343400" y="2095500"/>
            <a:chExt cx="3505200" cy="3810000"/>
          </a:xfrm>
        </p:grpSpPr>
        <p:sp>
          <p:nvSpPr>
            <p:cNvPr id="23" name="Rectangle 23"/>
            <p:cNvSpPr/>
            <p:nvPr/>
          </p:nvSpPr>
          <p:spPr>
            <a:xfrm>
              <a:off x="4343400" y="2095500"/>
              <a:ext cx="3505200" cy="3810000"/>
            </a:xfrm>
            <a:prstGeom prst="roundRect">
              <a:avLst>
                <a:gd name="adj" fmla="val 2174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419600" y="2095500"/>
              <a:ext cx="3352800" cy="914400"/>
            </a:xfrm>
            <a:custGeom>
              <a:avLst/>
              <a:gdLst/>
              <a:ahLst/>
              <a:cxnLst/>
              <a:rect l="l" t="t" r="r" b="b"/>
              <a:pathLst>
                <a:path w="3352800" h="914400">
                  <a:moveTo>
                    <a:pt x="0" y="0"/>
                  </a:moveTo>
                  <a:lnTo>
                    <a:pt x="3352800" y="0"/>
                  </a:lnTo>
                  <a:lnTo>
                    <a:pt x="3352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DDC97">
                <a:alpha val="8000"/>
              </a:srgbClr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4419600" y="3009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333B4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64380" y="2371725"/>
              <a:ext cx="763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75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COLOR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5904" y="2708910"/>
              <a:ext cx="2000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CAttributeTab_CharColor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258050" y="2419350"/>
              <a:ext cx="228600" cy="228600"/>
              <a:chOff x="7258050" y="2419350"/>
              <a:chExt cx="228600" cy="2286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15200" y="24193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3DDC9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58050" y="24765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3DDC97"/>
                </a:solidFill>
              </a:ln>
            </p:spPr>
          </p:sp>
        </p:grpSp>
        <p:sp>
          <p:nvSpPr>
            <p:cNvPr id="31" name="Ellipse 31"/>
            <p:cNvSpPr/>
            <p:nvPr/>
          </p:nvSpPr>
          <p:spPr>
            <a:xfrm>
              <a:off x="4543425" y="3400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98492" y="3330892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캐릭터 컬러 슬롯 처리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543425" y="3781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98492" y="37118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슬롯 4개, 스크롤바로 탐색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543425" y="4162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98492" y="4092892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반환값: uint 컬러 인덱스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419600" y="5486400"/>
              <a:ext cx="3352800" cy="9525"/>
            </a:xfrm>
            <a:prstGeom prst="rect">
              <a:avLst/>
            </a:prstGeom>
            <a:solidFill>
              <a:srgbClr val="333B4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5904" y="5633085"/>
              <a:ext cx="2111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WASD로 포커스 프레임 이동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53400" y="2095500"/>
            <a:ext cx="3505200" cy="3810000"/>
            <a:chOff x="8153400" y="2095500"/>
            <a:chExt cx="3505200" cy="3810000"/>
          </a:xfrm>
        </p:grpSpPr>
        <p:sp>
          <p:nvSpPr>
            <p:cNvPr id="40" name="Rectangle 40"/>
            <p:cNvSpPr/>
            <p:nvPr/>
          </p:nvSpPr>
          <p:spPr>
            <a:xfrm>
              <a:off x="8153400" y="2095500"/>
              <a:ext cx="3505200" cy="3810000"/>
            </a:xfrm>
            <a:prstGeom prst="roundRect">
              <a:avLst>
                <a:gd name="adj" fmla="val 2174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229600" y="2095500"/>
              <a:ext cx="3352800" cy="914400"/>
            </a:xfrm>
            <a:custGeom>
              <a:avLst/>
              <a:gdLst/>
              <a:ahLst/>
              <a:cxnLst/>
              <a:rect l="l" t="t" r="r" b="b"/>
              <a:pathLst>
                <a:path w="3352800" h="914400">
                  <a:moveTo>
                    <a:pt x="0" y="0"/>
                  </a:moveTo>
                  <a:lnTo>
                    <a:pt x="3352800" y="0"/>
                  </a:lnTo>
                  <a:lnTo>
                    <a:pt x="3352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DDC97">
                <a:alpha val="8000"/>
              </a:srgbClr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8229600" y="3009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333B4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4380" y="2371725"/>
              <a:ext cx="807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spc="75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HELPER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904" y="2708910"/>
              <a:ext cx="17286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CAttributeTab_Helper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1068050" y="2419350"/>
              <a:ext cx="228600" cy="228600"/>
              <a:chOff x="11068050" y="2419350"/>
              <a:chExt cx="228600" cy="228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1125200" y="24193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3DDC9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068050" y="24765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3DDC97"/>
                </a:solidFill>
              </a:ln>
            </p:spPr>
          </p:sp>
        </p:grpSp>
        <p:sp>
          <p:nvSpPr>
            <p:cNvPr id="48" name="Ellipse 48"/>
            <p:cNvSpPr/>
            <p:nvPr/>
          </p:nvSpPr>
          <p:spPr>
            <a:xfrm>
              <a:off x="8353425" y="3400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08492" y="3330892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헬퍼 슬롯 처리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353425" y="3781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08492" y="3711892"/>
              <a:ext cx="2056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2명 선택 (Left / Right)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353425" y="4162425"/>
              <a:ext cx="57150" cy="5715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08492" y="4092892"/>
              <a:ext cx="2737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반환값: SelectedHelperIcon 2개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229600" y="5486400"/>
              <a:ext cx="3352800" cy="9525"/>
            </a:xfrm>
            <a:prstGeom prst="rect">
              <a:avLst/>
            </a:prstGeom>
            <a:solidFill>
              <a:srgbClr val="333B4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375904" y="5633085"/>
              <a:ext cx="1678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Enter로 순차 2명 확정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17398" y="542925"/>
            <a:ext cx="8293227" cy="1066610"/>
            <a:chOff x="517398" y="542925"/>
            <a:chExt cx="8293227" cy="1066610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632460"/>
              <a:ext cx="2440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07 / APPLIED — CONTEXT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8620125" y="542925"/>
              <a:ext cx="190500" cy="190500"/>
              <a:chOff x="8620125" y="542925"/>
              <a:chExt cx="190500" cy="1905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667750" y="5429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620125" y="5905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4FA3D1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517398" y="993458"/>
              <a:ext cx="51040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프로젝트 적용 — Context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970" y="1757362"/>
            <a:ext cx="2766060" cy="821055"/>
            <a:chOff x="521970" y="1757362"/>
            <a:chExt cx="2766060" cy="821055"/>
          </a:xfrm>
        </p:grpSpPr>
        <p:sp>
          <p:nvSpPr>
            <p:cNvPr id="8" name="TextBox 8"/>
            <p:cNvSpPr txBox="1"/>
            <p:nvPr/>
          </p:nvSpPr>
          <p:spPr>
            <a:xfrm>
              <a:off x="521970" y="1757362"/>
              <a:ext cx="2766060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포인터 하나만 바꿔서 </a:t>
              </a:r>
              <a:r>
                <a:rPr lang="ko-KR" sz="22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전략을 전환한다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1975" y="2864168"/>
            <a:ext cx="2577656" cy="511683"/>
            <a:chOff x="561975" y="2864168"/>
            <a:chExt cx="2577656" cy="511683"/>
          </a:xfrm>
        </p:grpSpPr>
        <p:grpSp>
          <p:nvGrpSpPr>
            <p:cNvPr id="14" name="Group 14"/>
            <p:cNvGrpSpPr/>
            <p:nvPr/>
          </p:nvGrpSpPr>
          <p:grpSpPr>
            <a:xfrm>
              <a:off x="561975" y="2876550"/>
              <a:ext cx="171450" cy="152400"/>
              <a:chOff x="561975" y="2876550"/>
              <a:chExt cx="171450" cy="152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04850" y="287655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04850" y="2971800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61975" y="2905125"/>
                <a:ext cx="1714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0">
                    <a:moveTo>
                      <a:pt x="0" y="0"/>
                    </a:moveTo>
                    <a:lnTo>
                      <a:pt x="28575" y="0"/>
                    </a:lnTo>
                    <a:cubicBezTo>
                      <a:pt x="54878" y="0"/>
                      <a:pt x="76200" y="21322"/>
                      <a:pt x="76200" y="47625"/>
                    </a:cubicBezTo>
                    <a:cubicBezTo>
                      <a:pt x="76200" y="73928"/>
                      <a:pt x="97522" y="95250"/>
                      <a:pt x="123825" y="95250"/>
                    </a:cubicBezTo>
                    <a:lnTo>
                      <a:pt x="171450" y="95250"/>
                    </a:ln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61975" y="2905110"/>
                <a:ext cx="171450" cy="95276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76">
                    <a:moveTo>
                      <a:pt x="171450" y="15"/>
                    </a:moveTo>
                    <a:lnTo>
                      <a:pt x="123825" y="15"/>
                    </a:lnTo>
                    <a:cubicBezTo>
                      <a:pt x="113518" y="0"/>
                      <a:pt x="103487" y="3344"/>
                      <a:pt x="95250" y="9540"/>
                    </a:cubicBezTo>
                    <a:moveTo>
                      <a:pt x="57150" y="85740"/>
                    </a:moveTo>
                    <a:cubicBezTo>
                      <a:pt x="48911" y="91933"/>
                      <a:pt x="38881" y="95276"/>
                      <a:pt x="28575" y="95265"/>
                    </a:cubicBezTo>
                    <a:lnTo>
                      <a:pt x="0" y="95265"/>
                    </a:lnTo>
                  </a:path>
                </a:pathLst>
              </a:custGeom>
              <a:noFill/>
              <a:ln w="19050">
                <a:solidFill>
                  <a:srgbClr val="3DDC97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88492" y="2864168"/>
              <a:ext cx="225113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CSelect_AttributePanel —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탭 3개를 미리 다 만들어 보관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61975" y="3626168"/>
            <a:ext cx="1677543" cy="511683"/>
            <a:chOff x="561975" y="3626168"/>
            <a:chExt cx="1677543" cy="511683"/>
          </a:xfrm>
        </p:grpSpPr>
        <p:grpSp>
          <p:nvGrpSpPr>
            <p:cNvPr id="20" name="Group 20"/>
            <p:cNvGrpSpPr/>
            <p:nvPr/>
          </p:nvGrpSpPr>
          <p:grpSpPr>
            <a:xfrm>
              <a:off x="561975" y="3629025"/>
              <a:ext cx="171450" cy="171450"/>
              <a:chOff x="561975" y="3629025"/>
              <a:chExt cx="171450" cy="1714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61975" y="3762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4FA3D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95325" y="36290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4FA3D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28650" y="36480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38100" y="0"/>
                    </a:moveTo>
                    <a:cubicBezTo>
                      <a:pt x="27579" y="0"/>
                      <a:pt x="19050" y="8529"/>
                      <a:pt x="19050" y="19050"/>
                    </a:cubicBezTo>
                    <a:lnTo>
                      <a:pt x="19050" y="114300"/>
                    </a:lnTo>
                    <a:cubicBezTo>
                      <a:pt x="19050" y="124821"/>
                      <a:pt x="10521" y="133350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4FA3D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88492" y="3626168"/>
              <a:ext cx="13510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 xml:space="preserve">Set_TabNum()이 </a:t>
              </a:r>
              <a:r>
                <a:rPr lang="ko-KR" sz="13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포인터만 교체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4438650"/>
            <a:ext cx="3810000" cy="895350"/>
            <a:chOff x="533400" y="4438650"/>
            <a:chExt cx="3810000" cy="895350"/>
          </a:xfrm>
        </p:grpSpPr>
        <p:sp>
          <p:nvSpPr>
            <p:cNvPr id="23" name="Rectangle 23"/>
            <p:cNvSpPr/>
            <p:nvPr/>
          </p:nvSpPr>
          <p:spPr>
            <a:xfrm>
              <a:off x="533400" y="4438650"/>
              <a:ext cx="3810000" cy="895350"/>
            </a:xfrm>
            <a:prstGeom prst="roundRect">
              <a:avLst>
                <a:gd name="adj" fmla="val 6383"/>
              </a:avLst>
            </a:prstGeom>
            <a:solidFill>
              <a:srgbClr val="3DDC97">
                <a:alpha val="8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042" y="4578668"/>
              <a:ext cx="2849070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탭 전환해도 내부 상태(선택 중이던 </a:t>
              </a:r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타입, 스크롤 위치)가 보존됨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53000" y="1619250"/>
            <a:ext cx="6705600" cy="4000500"/>
            <a:chOff x="4953000" y="1619250"/>
            <a:chExt cx="6705600" cy="4000500"/>
          </a:xfrm>
        </p:grpSpPr>
        <p:sp>
          <p:nvSpPr>
            <p:cNvPr id="26" name="Rectangle 26"/>
            <p:cNvSpPr/>
            <p:nvPr/>
          </p:nvSpPr>
          <p:spPr>
            <a:xfrm>
              <a:off x="4953000" y="1619250"/>
              <a:ext cx="6705600" cy="4000500"/>
            </a:xfrm>
            <a:prstGeom prst="roundRect">
              <a:avLst>
                <a:gd name="adj" fmla="val 1905"/>
              </a:avLst>
            </a:prstGeom>
            <a:solidFill>
              <a:srgbClr val="1B2028"/>
            </a:solidFill>
            <a:ln w="14288">
              <a:solidFill>
                <a:srgbClr val="333B45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200650" y="1866900"/>
              <a:ext cx="114300" cy="114300"/>
            </a:xfrm>
            <a:prstGeom prst="ellipse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410200" y="1866900"/>
              <a:ext cx="114300" cy="114300"/>
            </a:xfrm>
            <a:prstGeom prst="ellipse">
              <a:avLst/>
            </a:prstGeom>
            <a:solidFill>
              <a:srgbClr val="4FA3D1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619750" y="1866900"/>
              <a:ext cx="114300" cy="11430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65715" y="1842135"/>
              <a:ext cx="2127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Select_AttributePanel.cpp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0180" y="2276475"/>
              <a:ext cx="32709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 xml:space="preserve">void </a:t>
              </a:r>
              <a:r>
                <a:rPr lang="en-US" sz="150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Set_TabNum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(_uint iTabNum)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0180" y="25812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16880" y="2886075"/>
              <a:ext cx="3374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if (iTabNum &gt;= m_vecTabs.size())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83580" y="31908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return;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50180" y="3648075"/>
              <a:ext cx="2656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m_iCurTabIndex = iTabNum;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50180" y="3952875"/>
              <a:ext cx="4344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m_pCurTab = m_vecTabs[iTabNum].get();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50180" y="4257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257800" y="4762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333B4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51704" y="4918710"/>
              <a:ext cx="41727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 xml:space="preserve">새 객체를 만들지 않으므로 각 탭이 갖고 있던 </a:t>
              </a:r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상태(선택 중이던 타입, 스크롤 위치 등)가 그대로 유지된다.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7398" y="556260"/>
            <a:ext cx="9658636" cy="1126807"/>
            <a:chOff x="517398" y="556260"/>
            <a:chExt cx="9658636" cy="112680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556260"/>
              <a:ext cx="3306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08 / APPLIED — FACTORY METHOD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83908"/>
              <a:ext cx="88799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프로젝트 적용 — Factory Method로 탭 생성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970" y="1243012"/>
              <a:ext cx="96540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Create()가 생성 + 실패 체크 + 인터페이스 반환을 한 번에 캡슐화한다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828800"/>
            <a:ext cx="11125200" cy="1922145"/>
            <a:chOff x="533400" y="1828800"/>
            <a:chExt cx="11125200" cy="1922145"/>
          </a:xfrm>
        </p:grpSpPr>
        <p:sp>
          <p:nvSpPr>
            <p:cNvPr id="6" name="Rectangle 6"/>
            <p:cNvSpPr/>
            <p:nvPr/>
          </p:nvSpPr>
          <p:spPr>
            <a:xfrm>
              <a:off x="533400" y="1828800"/>
              <a:ext cx="11125200" cy="1676400"/>
            </a:xfrm>
            <a:prstGeom prst="roundRect">
              <a:avLst>
                <a:gd name="adj" fmla="val 4545"/>
              </a:avLst>
            </a:prstGeom>
            <a:solidFill>
              <a:srgbClr val="1B2028"/>
            </a:solidFill>
            <a:ln w="14288">
              <a:solidFill>
                <a:srgbClr val="333B45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81050" y="2038350"/>
              <a:ext cx="114300" cy="114300"/>
            </a:xfrm>
            <a:prstGeom prst="ellipse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2038350"/>
              <a:ext cx="114300" cy="114300"/>
            </a:xfrm>
            <a:prstGeom prst="ellipse">
              <a:avLst/>
            </a:prstGeom>
            <a:solidFill>
              <a:srgbClr val="4FA3D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00150" y="2038350"/>
              <a:ext cx="114300" cy="11430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05942" y="2013585"/>
              <a:ext cx="1853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AttributeTab_Cube.cpp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352675"/>
              <a:ext cx="5851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unique_ptr&lt;IAttributeTab&gt; CAttributeTab_Cube::</a:t>
              </a:r>
              <a:r>
                <a:rPr lang="en-US" sz="150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Create</a:t>
              </a:r>
              <a:r>
                <a:rPr lang="en-US" sz="15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2657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62275"/>
              <a:ext cx="4611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>auto p = make_unique&lt;CAttributeTab_Cube&gt;();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8804" y="3223260"/>
              <a:ext cx="5523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if (FAILED(p-&gt;Initialize())) MSG_BOX("Failed to Create"); return p;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3457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52625" y="4476750"/>
            <a:ext cx="6143625" cy="1"/>
            <a:chOff x="1952625" y="4476750"/>
            <a:chExt cx="6143625" cy="1"/>
          </a:xfrm>
        </p:grpSpPr>
        <p:sp>
          <p:nvSpPr>
            <p:cNvPr id="17" name="Line 17"/>
            <p:cNvSpPr/>
            <p:nvPr/>
          </p:nvSpPr>
          <p:spPr>
            <a:xfrm>
              <a:off x="1952625" y="4476750"/>
              <a:ext cx="1190625" cy="1"/>
            </a:xfrm>
            <a:prstGeom prst="line">
              <a:avLst/>
            </a:prstGeom>
            <a:noFill/>
            <a:ln w="19050">
              <a:solidFill>
                <a:srgbClr val="333B45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>
              <a:off x="4429125" y="4476750"/>
              <a:ext cx="1190625" cy="1"/>
            </a:xfrm>
            <a:prstGeom prst="line">
              <a:avLst/>
            </a:prstGeom>
            <a:noFill/>
            <a:ln w="19050">
              <a:solidFill>
                <a:srgbClr val="333B45"/>
              </a:solidFill>
              <a:tailEnd type="triangle" w="lg" len="lg"/>
            </a:ln>
          </p:spPr>
        </p:sp>
        <p:sp>
          <p:nvSpPr>
            <p:cNvPr id="19" name="Line 19"/>
            <p:cNvSpPr/>
            <p:nvPr/>
          </p:nvSpPr>
          <p:spPr>
            <a:xfrm>
              <a:off x="6905625" y="4476750"/>
              <a:ext cx="1190625" cy="1"/>
            </a:xfrm>
            <a:prstGeom prst="line">
              <a:avLst/>
            </a:prstGeom>
            <a:noFill/>
            <a:ln w="19050">
              <a:solidFill>
                <a:srgbClr val="333B45"/>
              </a:solidFill>
              <a:tailEnd type="triangle" w="lg" len="lg"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39311" y="4191000"/>
            <a:ext cx="1788378" cy="1051751"/>
            <a:chOff x="439311" y="4191000"/>
            <a:chExt cx="1788378" cy="1051751"/>
          </a:xfrm>
        </p:grpSpPr>
        <p:sp>
          <p:nvSpPr>
            <p:cNvPr id="21" name="Ellipse 21"/>
            <p:cNvSpPr/>
            <p:nvPr/>
          </p:nvSpPr>
          <p:spPr>
            <a:xfrm>
              <a:off x="1047750" y="4191000"/>
              <a:ext cx="571500" cy="571500"/>
            </a:xfrm>
            <a:prstGeom prst="ellipse">
              <a:avLst/>
            </a:prstGeom>
            <a:solidFill>
              <a:srgbClr val="232932"/>
            </a:solidFill>
            <a:ln w="19050">
              <a:solidFill>
                <a:srgbClr val="3DDC9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54387" y="4358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3DDC97"/>
                  </a:solidFill>
                  <a:latin typeface="Pretendard ExtraBold"/>
                  <a:ea typeface="Pretendard ExtraBold"/>
                  <a:cs typeface="Pretendard ExtraBold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311" y="4978718"/>
              <a:ext cx="1788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make_unique로 생성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48420" y="4191000"/>
            <a:ext cx="1923161" cy="1051751"/>
            <a:chOff x="2848420" y="4191000"/>
            <a:chExt cx="1923161" cy="1051751"/>
          </a:xfrm>
        </p:grpSpPr>
        <p:sp>
          <p:nvSpPr>
            <p:cNvPr id="25" name="Ellipse 25"/>
            <p:cNvSpPr/>
            <p:nvPr/>
          </p:nvSpPr>
          <p:spPr>
            <a:xfrm>
              <a:off x="3524250" y="4191000"/>
              <a:ext cx="571500" cy="571500"/>
            </a:xfrm>
            <a:prstGeom prst="ellipse">
              <a:avLst/>
            </a:prstGeom>
            <a:solidFill>
              <a:srgbClr val="232932"/>
            </a:solidFill>
            <a:ln w="19050">
              <a:solidFill>
                <a:srgbClr val="3DDC9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30887" y="4358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3DDC97"/>
                  </a:solidFill>
                  <a:latin typeface="Pretendard ExtraBold"/>
                  <a:ea typeface="Pretendard ExtraBold"/>
                  <a:cs typeface="Pretendard ExtraBold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8420" y="4978718"/>
              <a:ext cx="1923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Initialize() 실패 체크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488263" y="4191000"/>
            <a:ext cx="1596474" cy="1051751"/>
            <a:chOff x="5488263" y="4191000"/>
            <a:chExt cx="1596474" cy="1051751"/>
          </a:xfrm>
        </p:grpSpPr>
        <p:sp>
          <p:nvSpPr>
            <p:cNvPr id="29" name="Ellipse 29"/>
            <p:cNvSpPr/>
            <p:nvPr/>
          </p:nvSpPr>
          <p:spPr>
            <a:xfrm>
              <a:off x="6000750" y="4191000"/>
              <a:ext cx="571500" cy="571500"/>
            </a:xfrm>
            <a:prstGeom prst="ellipse">
              <a:avLst/>
            </a:prstGeom>
            <a:solidFill>
              <a:srgbClr val="232932"/>
            </a:solidFill>
            <a:ln w="19050">
              <a:solidFill>
                <a:srgbClr val="E257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07387" y="4358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2574C"/>
                  </a:solidFill>
                  <a:latin typeface="Pretendard ExtraBold"/>
                  <a:ea typeface="Pretendard ExtraBold"/>
                  <a:cs typeface="Pretendard ExtraBold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88263" y="4978718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실패 시 MSG_BOX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49286" y="4191000"/>
            <a:ext cx="2627428" cy="1038606"/>
            <a:chOff x="7449286" y="4191000"/>
            <a:chExt cx="2627428" cy="1038606"/>
          </a:xfrm>
        </p:grpSpPr>
        <p:sp>
          <p:nvSpPr>
            <p:cNvPr id="33" name="Ellipse 33"/>
            <p:cNvSpPr/>
            <p:nvPr/>
          </p:nvSpPr>
          <p:spPr>
            <a:xfrm>
              <a:off x="8477250" y="4191000"/>
              <a:ext cx="571500" cy="571500"/>
            </a:xfrm>
            <a:prstGeom prst="ellipse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83887" y="4358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2161C"/>
                  </a:solidFill>
                  <a:latin typeface="Pretendard ExtraBold"/>
                  <a:ea typeface="Pretendard ExtraBold"/>
                  <a:cs typeface="Pretendard ExtraBold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49286" y="4994910"/>
              <a:ext cx="26274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3DDC97"/>
                  </a:solidFill>
                  <a:latin typeface="Consolas"/>
                  <a:ea typeface="Microsoft YaHei"/>
                  <a:cs typeface="Consolas"/>
                </a:rPr>
                <a:t>unique_ptr&lt;IAttributeTab&gt; 반환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5543550"/>
            <a:ext cx="11125200" cy="571500"/>
            <a:chOff x="533400" y="5543550"/>
            <a:chExt cx="11125200" cy="571500"/>
          </a:xfrm>
        </p:grpSpPr>
        <p:sp>
          <p:nvSpPr>
            <p:cNvPr id="37" name="Rectangle 37"/>
            <p:cNvSpPr/>
            <p:nvPr/>
          </p:nvSpPr>
          <p:spPr>
            <a:xfrm>
              <a:off x="533400" y="5543550"/>
              <a:ext cx="11125200" cy="571500"/>
            </a:xfrm>
            <a:prstGeom prst="roundRect">
              <a:avLst>
                <a:gd name="adj" fmla="val 13333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90575" y="5743575"/>
              <a:ext cx="171450" cy="171450"/>
              <a:chOff x="790575" y="5743575"/>
              <a:chExt cx="171450" cy="1714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0575" y="58769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4FA3D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3925" y="5743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4FA3D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7250" y="576262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38100" y="0"/>
                    </a:moveTo>
                    <a:cubicBezTo>
                      <a:pt x="27579" y="0"/>
                      <a:pt x="19050" y="8529"/>
                      <a:pt x="19050" y="19050"/>
                    </a:cubicBezTo>
                    <a:lnTo>
                      <a:pt x="19050" y="114300"/>
                    </a:lnTo>
                    <a:cubicBezTo>
                      <a:pt x="19050" y="124821"/>
                      <a:pt x="10521" y="133350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4FA3D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136904" y="5756910"/>
              <a:ext cx="9430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Level_Select.cpp — tabs.push_back(CAttributeTab_Cube::Create()); → panel-&gt;Set_AttributeTabs(std::move(tabs));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6260"/>
            <a:ext cx="11154994" cy="843725"/>
            <a:chOff x="517398" y="556260"/>
            <a:chExt cx="11154994" cy="843725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556260"/>
              <a:ext cx="3199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09 / APPLIED — FULL STRUCTURE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83908"/>
              <a:ext cx="111549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전체 구조 — Context · Strategy · ConcreteStrategy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2000250"/>
            <a:ext cx="2190750" cy="666750"/>
            <a:chOff x="609600" y="2000250"/>
            <a:chExt cx="2190750" cy="6667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2190750" cy="666750"/>
            </a:xfrm>
            <a:prstGeom prst="roundRect">
              <a:avLst>
                <a:gd name="adj" fmla="val 8571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4649" y="2140268"/>
              <a:ext cx="1300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CLevel_Select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1352" y="2366010"/>
              <a:ext cx="1587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전략 선택 · 등록 주체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6750" y="2000250"/>
            <a:ext cx="2762250" cy="666750"/>
            <a:chOff x="8286750" y="2000250"/>
            <a:chExt cx="2762250" cy="666750"/>
          </a:xfrm>
        </p:grpSpPr>
        <p:sp>
          <p:nvSpPr>
            <p:cNvPr id="9" name="Rectangle 9"/>
            <p:cNvSpPr/>
            <p:nvPr/>
          </p:nvSpPr>
          <p:spPr>
            <a:xfrm>
              <a:off x="8286750" y="2000250"/>
              <a:ext cx="2762250" cy="666750"/>
            </a:xfrm>
            <a:prstGeom prst="roundRect">
              <a:avLst>
                <a:gd name="adj" fmla="val 8571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416" y="2140268"/>
              <a:ext cx="22029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CSelect_AttributePanel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23100" y="2366010"/>
              <a:ext cx="1689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Context — 전략 보유자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19400" y="2190750"/>
            <a:ext cx="5429250" cy="276606"/>
            <a:chOff x="2819400" y="2190750"/>
            <a:chExt cx="5429250" cy="276606"/>
          </a:xfrm>
        </p:grpSpPr>
        <p:sp>
          <p:nvSpPr>
            <p:cNvPr id="13" name="Line 13"/>
            <p:cNvSpPr/>
            <p:nvPr/>
          </p:nvSpPr>
          <p:spPr>
            <a:xfrm>
              <a:off x="2819400" y="2333625"/>
              <a:ext cx="5429250" cy="1"/>
            </a:xfrm>
            <a:prstGeom prst="line">
              <a:avLst/>
            </a:prstGeom>
            <a:noFill/>
            <a:ln w="19050">
              <a:solidFill>
                <a:srgbClr val="4FA3D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0" y="2190750"/>
              <a:ext cx="2762250" cy="22860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5904" y="2232660"/>
              <a:ext cx="248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>push_back → Set_AttributeTabs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48250" y="3143250"/>
            <a:ext cx="2095500" cy="666750"/>
            <a:chOff x="5048250" y="3143250"/>
            <a:chExt cx="2095500" cy="666750"/>
          </a:xfrm>
        </p:grpSpPr>
        <p:sp>
          <p:nvSpPr>
            <p:cNvPr id="17" name="Rectangle 17"/>
            <p:cNvSpPr/>
            <p:nvPr/>
          </p:nvSpPr>
          <p:spPr>
            <a:xfrm>
              <a:off x="5048250" y="3143250"/>
              <a:ext cx="2095500" cy="666750"/>
            </a:xfrm>
            <a:prstGeom prst="roundRect">
              <a:avLst>
                <a:gd name="adj" fmla="val 8571"/>
              </a:avLst>
            </a:prstGeom>
            <a:solidFill>
              <a:srgbClr val="3DDC97">
                <a:alpha val="8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70944" y="3261360"/>
              <a:ext cx="1050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75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«interface»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46365" y="3473768"/>
              <a:ext cx="12992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IAttributeTab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72300" y="2667000"/>
            <a:ext cx="2171700" cy="533400"/>
            <a:chOff x="6972300" y="2667000"/>
            <a:chExt cx="2171700" cy="533400"/>
          </a:xfrm>
        </p:grpSpPr>
        <p:sp>
          <p:nvSpPr>
            <p:cNvPr id="21" name="Line 21"/>
            <p:cNvSpPr/>
            <p:nvPr/>
          </p:nvSpPr>
          <p:spPr>
            <a:xfrm flipH="1">
              <a:off x="6972300" y="2667000"/>
              <a:ext cx="2171700" cy="533400"/>
            </a:xfrm>
            <a:prstGeom prst="line">
              <a:avLst/>
            </a:prstGeom>
            <a:noFill/>
            <a:ln w="19050">
              <a:solidFill>
                <a:srgbClr val="4FA3D1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0" y="2781300"/>
              <a:ext cx="571500" cy="20955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52004" y="280416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FA3D1"/>
                  </a:solidFill>
                  <a:latin typeface="Consolas"/>
                  <a:ea typeface="Consolas"/>
                  <a:cs typeface="Consolas"/>
                </a:rPr>
                <a:t>has-a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2154" y="2667000"/>
            <a:ext cx="8892922" cy="1885950"/>
            <a:chOff x="1232154" y="2667000"/>
            <a:chExt cx="8892922" cy="1885950"/>
          </a:xfrm>
        </p:grpSpPr>
        <p:sp>
          <p:nvSpPr>
            <p:cNvPr id="25" name="Line 25"/>
            <p:cNvSpPr/>
            <p:nvPr/>
          </p:nvSpPr>
          <p:spPr>
            <a:xfrm>
              <a:off x="1704975" y="26670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4288">
              <a:solidFill>
                <a:srgbClr val="8A93A0"/>
              </a:solidFill>
              <a:custDash>
                <a:ds d="400000" sp="400000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1704975" y="428625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14288">
              <a:solidFill>
                <a:srgbClr val="8A93A0"/>
              </a:solidFill>
              <a:custDash>
                <a:ds d="400000" sp="400000"/>
              </a:custDash>
            </a:ln>
          </p:spPr>
        </p:sp>
        <p:sp>
          <p:nvSpPr>
            <p:cNvPr id="27" name="Line 27"/>
            <p:cNvSpPr/>
            <p:nvPr/>
          </p:nvSpPr>
          <p:spPr>
            <a:xfrm>
              <a:off x="2047875" y="4286250"/>
              <a:ext cx="1" cy="266700"/>
            </a:xfrm>
            <a:prstGeom prst="line">
              <a:avLst/>
            </a:prstGeom>
            <a:noFill/>
            <a:ln w="14288">
              <a:solidFill>
                <a:srgbClr val="8A93A0"/>
              </a:solidFill>
              <a:custDash>
                <a:ds d="400000" sp="400000"/>
              </a:custDash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6076950" y="4286250"/>
              <a:ext cx="1" cy="266700"/>
            </a:xfrm>
            <a:prstGeom prst="line">
              <a:avLst/>
            </a:prstGeom>
            <a:noFill/>
            <a:ln w="14288">
              <a:solidFill>
                <a:srgbClr val="8A93A0"/>
              </a:solidFill>
              <a:custDash>
                <a:ds d="400000" sp="400000"/>
              </a:custDash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10125075" y="4286250"/>
              <a:ext cx="1" cy="266700"/>
            </a:xfrm>
            <a:prstGeom prst="line">
              <a:avLst/>
            </a:prstGeom>
            <a:noFill/>
            <a:ln w="14288">
              <a:solidFill>
                <a:srgbClr val="8A93A0"/>
              </a:solidFill>
              <a:custDash>
                <a:ds d="400000" sp="400000"/>
              </a:custDash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38250" y="3219450"/>
              <a:ext cx="1143000" cy="22860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32154" y="326136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Create() × 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7250" y="4572000"/>
            <a:ext cx="2381250" cy="857250"/>
            <a:chOff x="857250" y="4572000"/>
            <a:chExt cx="2381250" cy="857250"/>
          </a:xfrm>
        </p:grpSpPr>
        <p:sp>
          <p:nvSpPr>
            <p:cNvPr id="33" name="Rectangle 33"/>
            <p:cNvSpPr/>
            <p:nvPr/>
          </p:nvSpPr>
          <p:spPr>
            <a:xfrm>
              <a:off x="857250" y="4572000"/>
              <a:ext cx="238125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57250" y="4572000"/>
              <a:ext cx="38100" cy="8572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8517" y="4731068"/>
              <a:ext cx="1879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CAttributeTab_Cube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9279" y="49758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큐브 30/50 선택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9279" y="5185410"/>
              <a:ext cx="1002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→ CUBE_TYPE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905375" y="4572000"/>
            <a:ext cx="2593319" cy="857250"/>
            <a:chOff x="4905375" y="4572000"/>
            <a:chExt cx="2593319" cy="857250"/>
          </a:xfrm>
        </p:grpSpPr>
        <p:sp>
          <p:nvSpPr>
            <p:cNvPr id="39" name="Rectangle 39"/>
            <p:cNvSpPr/>
            <p:nvPr/>
          </p:nvSpPr>
          <p:spPr>
            <a:xfrm>
              <a:off x="4905375" y="4572000"/>
              <a:ext cx="238125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05375" y="4572000"/>
              <a:ext cx="38100" cy="8572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36642" y="4731068"/>
              <a:ext cx="2362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CAttributeTab_CharColor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7404" y="497586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캐릭터 컬러 슬롯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37404" y="51854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→ uint 컬러 인덱스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53500" y="4572000"/>
            <a:ext cx="2381250" cy="857250"/>
            <a:chOff x="8953500" y="4572000"/>
            <a:chExt cx="2381250" cy="857250"/>
          </a:xfrm>
        </p:grpSpPr>
        <p:sp>
          <p:nvSpPr>
            <p:cNvPr id="45" name="Rectangle 45"/>
            <p:cNvSpPr/>
            <p:nvPr/>
          </p:nvSpPr>
          <p:spPr>
            <a:xfrm>
              <a:off x="8953500" y="4572000"/>
              <a:ext cx="2381250" cy="857250"/>
            </a:xfrm>
            <a:prstGeom prst="roundRect">
              <a:avLst>
                <a:gd name="adj" fmla="val 6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953500" y="4572000"/>
              <a:ext cx="38100" cy="8572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84767" y="4731068"/>
              <a:ext cx="204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CAttributeTab_Helper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85529" y="49758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헬퍼 2명 선택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85529" y="5185410"/>
              <a:ext cx="1911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→ SelectedHelperIcon[2]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047875" y="3829050"/>
            <a:ext cx="8077200" cy="723900"/>
            <a:chOff x="2047875" y="3829050"/>
            <a:chExt cx="8077200" cy="723900"/>
          </a:xfrm>
        </p:grpSpPr>
        <p:sp>
          <p:nvSpPr>
            <p:cNvPr id="51" name="Line 51"/>
            <p:cNvSpPr/>
            <p:nvPr/>
          </p:nvSpPr>
          <p:spPr>
            <a:xfrm flipV="1">
              <a:off x="2047875" y="3829050"/>
              <a:ext cx="3571875" cy="723900"/>
            </a:xfrm>
            <a:prstGeom prst="line">
              <a:avLst/>
            </a:prstGeom>
            <a:noFill/>
            <a:ln w="14288">
              <a:solidFill>
                <a:srgbClr val="3DDC97"/>
              </a:solidFill>
              <a:prstDash val="dash"/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 flipV="1">
              <a:off x="6076950" y="3829050"/>
              <a:ext cx="19050" cy="723900"/>
            </a:xfrm>
            <a:prstGeom prst="line">
              <a:avLst/>
            </a:prstGeom>
            <a:noFill/>
            <a:ln w="14288">
              <a:solidFill>
                <a:srgbClr val="3DDC97"/>
              </a:solidFill>
              <a:prstDash val="dash"/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 flipH="1" flipV="1">
              <a:off x="6591300" y="3829050"/>
              <a:ext cx="3533775" cy="723900"/>
            </a:xfrm>
            <a:prstGeom prst="line">
              <a:avLst/>
            </a:prstGeom>
            <a:noFill/>
            <a:ln w="14288">
              <a:solidFill>
                <a:srgbClr val="3DDC97"/>
              </a:solidFill>
              <a:prstDash val="dash"/>
              <a:tailEnd type="triangle" w="lg" len="lg"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34100" y="4152900"/>
              <a:ext cx="895350" cy="20955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47054" y="417576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implements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86750" y="5791200"/>
            <a:ext cx="2920764" cy="323850"/>
            <a:chOff x="8286750" y="5791200"/>
            <a:chExt cx="2920764" cy="323850"/>
          </a:xfrm>
        </p:grpSpPr>
        <p:sp>
          <p:nvSpPr>
            <p:cNvPr id="57" name="Rectangle 57"/>
            <p:cNvSpPr/>
            <p:nvPr/>
          </p:nvSpPr>
          <p:spPr>
            <a:xfrm>
              <a:off x="8286750" y="5791200"/>
              <a:ext cx="2762250" cy="323850"/>
            </a:xfrm>
            <a:prstGeom prst="roundRect">
              <a:avLst>
                <a:gd name="adj" fmla="val 17647"/>
              </a:avLst>
            </a:prstGeom>
            <a:solidFill>
              <a:srgbClr val="4FA3D1">
                <a:alpha val="10000"/>
              </a:srgbClr>
            </a:solidFill>
            <a:ln w="9525">
              <a:solidFill>
                <a:srgbClr val="4FA3D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23529" y="5871210"/>
              <a:ext cx="2783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4FA3D1"/>
                  </a:solidFill>
                  <a:latin typeface="Pretendard"/>
                  <a:ea typeface="Pretendard"/>
                  <a:cs typeface="Pretendard"/>
                </a:rPr>
                <a:t>Panel은 IAttributeTab.h만 include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7398" y="556260"/>
            <a:ext cx="11055706" cy="1113663"/>
            <a:chOff x="517398" y="556260"/>
            <a:chExt cx="11055706" cy="1113663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556260"/>
              <a:ext cx="1535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10 / SYNTHESIS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783908"/>
              <a:ext cx="53305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두 패턴은 이렇게 맞물린다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259205"/>
              <a:ext cx="110503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Factory Method는 어떻게 만들지를, Strategy는 어떻게 교체하며 쓸지를 캡슐화한다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2000250"/>
            <a:ext cx="5257800" cy="2857500"/>
            <a:chOff x="533400" y="2000250"/>
            <a:chExt cx="5257800" cy="2857500"/>
          </a:xfrm>
        </p:grpSpPr>
        <p:sp>
          <p:nvSpPr>
            <p:cNvPr id="6" name="Rectangle 6"/>
            <p:cNvSpPr/>
            <p:nvPr/>
          </p:nvSpPr>
          <p:spPr>
            <a:xfrm>
              <a:off x="533400" y="2000250"/>
              <a:ext cx="5257800" cy="2857500"/>
            </a:xfrm>
            <a:prstGeom prst="roundRect">
              <a:avLst>
                <a:gd name="adj" fmla="val 2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09600" y="2000250"/>
              <a:ext cx="5105400" cy="609600"/>
            </a:xfrm>
            <a:custGeom>
              <a:avLst/>
              <a:gdLst/>
              <a:ahLst/>
              <a:cxnLst/>
              <a:rect l="l" t="t" r="r" b="b"/>
              <a:pathLst>
                <a:path w="5105400" h="609600">
                  <a:moveTo>
                    <a:pt x="0" y="0"/>
                  </a:moveTo>
                  <a:lnTo>
                    <a:pt x="5105400" y="0"/>
                  </a:lnTo>
                  <a:lnTo>
                    <a:pt x="5105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4FA3D1">
                <a:alpha val="10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33438" y="2205033"/>
              <a:ext cx="200026" cy="209555"/>
              <a:chOff x="833438" y="2205033"/>
              <a:chExt cx="200026" cy="20955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33438" y="2405063"/>
                <a:ext cx="20002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9525">
                    <a:moveTo>
                      <a:pt x="0" y="0"/>
                    </a:move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rgbClr val="4FA3D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55663" y="2271713"/>
                <a:ext cx="1555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33350">
                    <a:moveTo>
                      <a:pt x="0" y="133350"/>
                    </a:moveTo>
                    <a:lnTo>
                      <a:pt x="0" y="0"/>
                    </a:lnTo>
                    <a:lnTo>
                      <a:pt x="55563" y="44450"/>
                    </a:lnTo>
                    <a:lnTo>
                      <a:pt x="55563" y="0"/>
                    </a:lnTo>
                    <a:lnTo>
                      <a:pt x="111125" y="44450"/>
                    </a:lnTo>
                    <a:lnTo>
                      <a:pt x="155575" y="44450"/>
                    </a:lnTo>
                  </a:path>
                </a:pathLst>
              </a:custGeom>
              <a:noFill/>
              <a:ln w="22225">
                <a:solidFill>
                  <a:srgbClr val="4FA3D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5675" y="2205033"/>
                <a:ext cx="55563" cy="20003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200030">
                    <a:moveTo>
                      <a:pt x="55563" y="200030"/>
                    </a:moveTo>
                    <a:lnTo>
                      <a:pt x="55563" y="111130"/>
                    </a:lnTo>
                    <a:lnTo>
                      <a:pt x="39605" y="4738"/>
                    </a:lnTo>
                    <a:cubicBezTo>
                      <a:pt x="39198" y="2015"/>
                      <a:pt x="36858" y="1"/>
                      <a:pt x="34104" y="4"/>
                    </a:cubicBezTo>
                    <a:lnTo>
                      <a:pt x="21381" y="4"/>
                    </a:lnTo>
                    <a:cubicBezTo>
                      <a:pt x="18660" y="0"/>
                      <a:pt x="16337" y="1966"/>
                      <a:pt x="15891" y="4649"/>
                    </a:cubicBezTo>
                    <a:lnTo>
                      <a:pt x="0" y="100017"/>
                    </a:lnTo>
                  </a:path>
                </a:pathLst>
              </a:custGeom>
              <a:noFill/>
              <a:ln w="22225">
                <a:solidFill>
                  <a:srgbClr val="4FA3D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00113" y="23606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rgbClr val="4FA3D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55675" y="23606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rgbClr val="4FA3D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92530" y="2219325"/>
              <a:ext cx="2504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spc="75" dirty="0">
                  <a:solidFill>
                    <a:srgbClr val="4FA3D1"/>
                  </a:solidFill>
                  <a:latin typeface="Consolas"/>
                  <a:ea typeface="Microsoft YaHei"/>
                  <a:cs typeface="Consolas"/>
                </a:rPr>
                <a:t>FACTORY METHOD 담당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3054668"/>
              <a:ext cx="312553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Create()가 인터페이스 타입으로 반환 → </a:t>
              </a:r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이종 객체를 같은 벡터에 담을 수 있게 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154" y="3966210"/>
              <a:ext cx="2984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unique_ptr&lt;IAttributeTab&gt; Create();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4232910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// 반환 타입 = 인터페이스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00800" y="2000250"/>
            <a:ext cx="5257800" cy="2857500"/>
            <a:chOff x="6400800" y="2000250"/>
            <a:chExt cx="5257800" cy="2857500"/>
          </a:xfrm>
        </p:grpSpPr>
        <p:sp>
          <p:nvSpPr>
            <p:cNvPr id="19" name="Rectangle 19"/>
            <p:cNvSpPr/>
            <p:nvPr/>
          </p:nvSpPr>
          <p:spPr>
            <a:xfrm>
              <a:off x="6400800" y="2000250"/>
              <a:ext cx="5257800" cy="2857500"/>
            </a:xfrm>
            <a:prstGeom prst="roundRect">
              <a:avLst>
                <a:gd name="adj" fmla="val 2667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477000" y="2000250"/>
              <a:ext cx="5105400" cy="609600"/>
            </a:xfrm>
            <a:custGeom>
              <a:avLst/>
              <a:gdLst/>
              <a:ahLst/>
              <a:cxnLst/>
              <a:rect l="l" t="t" r="r" b="b"/>
              <a:pathLst>
                <a:path w="5105400" h="609600">
                  <a:moveTo>
                    <a:pt x="0" y="0"/>
                  </a:moveTo>
                  <a:lnTo>
                    <a:pt x="5105400" y="0"/>
                  </a:lnTo>
                  <a:lnTo>
                    <a:pt x="5105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3DDC97">
                <a:alpha val="10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700838" y="2216150"/>
              <a:ext cx="200026" cy="177800"/>
              <a:chOff x="6700838" y="2216150"/>
              <a:chExt cx="200026" cy="177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867526" y="221615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rgbClr val="3DDC9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867526" y="23272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3DDC9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00838" y="2249488"/>
                <a:ext cx="20002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11125">
                    <a:moveTo>
                      <a:pt x="0" y="0"/>
                    </a:moveTo>
                    <a:lnTo>
                      <a:pt x="33338" y="0"/>
                    </a:lnTo>
                    <a:cubicBezTo>
                      <a:pt x="64024" y="0"/>
                      <a:pt x="88900" y="24876"/>
                      <a:pt x="88900" y="55563"/>
                    </a:cubicBezTo>
                    <a:cubicBezTo>
                      <a:pt x="88900" y="86249"/>
                      <a:pt x="113777" y="111125"/>
                      <a:pt x="144463" y="111125"/>
                    </a:cubicBezTo>
                    <a:lnTo>
                      <a:pt x="200026" y="111125"/>
                    </a:lnTo>
                  </a:path>
                </a:pathLst>
              </a:custGeom>
              <a:noFill/>
              <a:ln w="22225">
                <a:solidFill>
                  <a:srgbClr val="3DDC9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00838" y="2249470"/>
                <a:ext cx="200026" cy="11115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11156">
                    <a:moveTo>
                      <a:pt x="200026" y="18"/>
                    </a:moveTo>
                    <a:lnTo>
                      <a:pt x="144463" y="18"/>
                    </a:lnTo>
                    <a:cubicBezTo>
                      <a:pt x="132438" y="0"/>
                      <a:pt x="120735" y="3901"/>
                      <a:pt x="111125" y="11130"/>
                    </a:cubicBezTo>
                    <a:moveTo>
                      <a:pt x="66675" y="100031"/>
                    </a:moveTo>
                    <a:cubicBezTo>
                      <a:pt x="57064" y="107255"/>
                      <a:pt x="45362" y="111156"/>
                      <a:pt x="33338" y="111143"/>
                    </a:cubicBezTo>
                    <a:lnTo>
                      <a:pt x="0" y="111143"/>
                    </a:lnTo>
                  </a:path>
                </a:pathLst>
              </a:custGeom>
              <a:noFill/>
              <a:ln w="22225">
                <a:solidFill>
                  <a:srgbClr val="3DDC9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059930" y="2219325"/>
              <a:ext cx="1622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spc="75" dirty="0">
                  <a:solidFill>
                    <a:srgbClr val="3DDC97"/>
                  </a:solidFill>
                  <a:latin typeface="Consolas"/>
                  <a:ea typeface="Microsoft YaHei"/>
                  <a:cs typeface="Consolas"/>
                </a:rPr>
                <a:t>STRATEGY 담당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17792" y="3054668"/>
              <a:ext cx="268833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 xml:space="preserve">m_pCurTab 포인터 교체만으로 </a:t>
              </a:r>
              <a:r>
                <a:rPr lang="ko-KR" sz="1350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전환, Context는 구체 타입을 모름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554" y="3966210"/>
              <a:ext cx="3310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Consolas"/>
                  <a:ea typeface="Consolas"/>
                  <a:cs typeface="Consolas"/>
                </a:rPr>
                <a:t>m_pCurTab = m_vecTabs[iTabNum].get();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8554" y="423291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// 새 객체 생성 없음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48350" y="3181350"/>
            <a:ext cx="495300" cy="495300"/>
            <a:chOff x="5848350" y="3181350"/>
            <a:chExt cx="495300" cy="495300"/>
          </a:xfrm>
        </p:grpSpPr>
        <p:sp>
          <p:nvSpPr>
            <p:cNvPr id="31" name="Ellipse 31"/>
            <p:cNvSpPr/>
            <p:nvPr/>
          </p:nvSpPr>
          <p:spPr>
            <a:xfrm>
              <a:off x="5848350" y="3181350"/>
              <a:ext cx="495300" cy="495300"/>
            </a:xfrm>
            <a:prstGeom prst="ellipse">
              <a:avLst/>
            </a:prstGeom>
            <a:solidFill>
              <a:srgbClr val="12161C"/>
            </a:solidFill>
            <a:ln w="19050">
              <a:solidFill>
                <a:srgbClr val="E8ECF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3258" y="33661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8ECF1"/>
                  </a:solidFill>
                  <a:latin typeface="Consolas"/>
                  <a:ea typeface="Consolas"/>
                  <a:cs typeface="Consolas"/>
                </a:rPr>
                <a:t>×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5200650"/>
            <a:ext cx="11125200" cy="762000"/>
            <a:chOff x="533400" y="5200650"/>
            <a:chExt cx="11125200" cy="762000"/>
          </a:xfrm>
        </p:grpSpPr>
        <p:sp>
          <p:nvSpPr>
            <p:cNvPr id="34" name="Rectangle 34"/>
            <p:cNvSpPr/>
            <p:nvPr/>
          </p:nvSpPr>
          <p:spPr>
            <a:xfrm>
              <a:off x="533400" y="5200650"/>
              <a:ext cx="11125200" cy="762000"/>
            </a:xfrm>
            <a:prstGeom prst="roundRect">
              <a:avLst>
                <a:gd name="adj" fmla="val 10000"/>
              </a:avLst>
            </a:prstGeom>
            <a:solidFill>
              <a:srgbClr val="3DDC97">
                <a:alpha val="8000"/>
              </a:srgbClr>
            </a:solidFill>
            <a:ln w="14288">
              <a:solidFill>
                <a:srgbClr val="3DDC97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92956" y="5498306"/>
              <a:ext cx="185737" cy="185737"/>
              <a:chOff x="792956" y="5498306"/>
              <a:chExt cx="185737" cy="18573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5506" y="558085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rgbClr val="3DDC9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4231" y="55395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20637">
                <a:solidFill>
                  <a:srgbClr val="3DDC9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92956" y="54983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3DDC9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94054" y="5394960"/>
              <a:ext cx="78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75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확장 지점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0392" y="5616892"/>
              <a:ext cx="9826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E8ECF1"/>
                  </a:solidFill>
                  <a:latin typeface="Consolas"/>
                  <a:ea typeface="Microsoft YaHei"/>
                  <a:cs typeface="Consolas"/>
                </a:rPr>
                <a:t>새 탭 추가 시: IAttributeTab 상속 + Create() 작성 + Level_Select에 push_back 한 줄만 — Panel 코드는 전혀 안 바뀜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1208" y="441960"/>
            <a:ext cx="8666635" cy="720852"/>
            <a:chOff x="521208" y="441960"/>
            <a:chExt cx="8666635" cy="720852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960"/>
              <a:ext cx="1735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11 /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693420"/>
              <a:ext cx="18223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장점과 단점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04156" y="806768"/>
              <a:ext cx="6183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확장에는 열려있지만, 서로 다른 반환값을 꺼내올 땐 다운캐스팅이 반복된다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257300"/>
            <a:ext cx="11049000" cy="342900"/>
            <a:chOff x="571500" y="1257300"/>
            <a:chExt cx="11049000" cy="342900"/>
          </a:xfrm>
        </p:grpSpPr>
        <p:sp>
          <p:nvSpPr>
            <p:cNvPr id="6" name="Rectangle 6"/>
            <p:cNvSpPr/>
            <p:nvPr/>
          </p:nvSpPr>
          <p:spPr>
            <a:xfrm>
              <a:off x="571500" y="1257300"/>
              <a:ext cx="5143500" cy="342900"/>
            </a:xfrm>
            <a:prstGeom prst="roundRect">
              <a:avLst>
                <a:gd name="adj" fmla="val 22222"/>
              </a:avLst>
            </a:prstGeom>
            <a:solidFill>
              <a:srgbClr val="3DDC97">
                <a:alpha val="10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783431" y="1381125"/>
              <a:ext cx="121444" cy="114840"/>
            </a:xfrm>
            <a:custGeom>
              <a:avLst/>
              <a:gdLst/>
              <a:ahLst/>
              <a:cxnLst/>
              <a:rect l="l" t="t" r="r" b="b"/>
              <a:pathLst>
                <a:path w="121444" h="114840">
                  <a:moveTo>
                    <a:pt x="28575" y="50006"/>
                  </a:moveTo>
                  <a:lnTo>
                    <a:pt x="28575" y="107156"/>
                  </a:lnTo>
                  <a:cubicBezTo>
                    <a:pt x="28575" y="111102"/>
                    <a:pt x="25377" y="114300"/>
                    <a:pt x="21431" y="114300"/>
                  </a:cubicBezTo>
                  <a:lnTo>
                    <a:pt x="7144" y="114300"/>
                  </a:lnTo>
                  <a:cubicBezTo>
                    <a:pt x="3198" y="114300"/>
                    <a:pt x="0" y="111102"/>
                    <a:pt x="0" y="107156"/>
                  </a:cubicBezTo>
                  <a:lnTo>
                    <a:pt x="0" y="57150"/>
                  </a:lnTo>
                  <a:cubicBezTo>
                    <a:pt x="0" y="53205"/>
                    <a:pt x="3198" y="50006"/>
                    <a:pt x="7144" y="50006"/>
                  </a:cubicBezTo>
                  <a:lnTo>
                    <a:pt x="28575" y="50006"/>
                  </a:lnTo>
                  <a:cubicBezTo>
                    <a:pt x="44357" y="50006"/>
                    <a:pt x="57150" y="37213"/>
                    <a:pt x="57150" y="21431"/>
                  </a:cubicBezTo>
                  <a:lnTo>
                    <a:pt x="57150" y="14288"/>
                  </a:lnTo>
                  <a:cubicBezTo>
                    <a:pt x="57150" y="6397"/>
                    <a:pt x="63547" y="0"/>
                    <a:pt x="71438" y="0"/>
                  </a:cubicBezTo>
                  <a:cubicBezTo>
                    <a:pt x="79328" y="0"/>
                    <a:pt x="85725" y="6397"/>
                    <a:pt x="85725" y="14288"/>
                  </a:cubicBezTo>
                  <a:lnTo>
                    <a:pt x="85725" y="50006"/>
                  </a:lnTo>
                  <a:lnTo>
                    <a:pt x="107156" y="50006"/>
                  </a:lnTo>
                  <a:cubicBezTo>
                    <a:pt x="115047" y="50006"/>
                    <a:pt x="121444" y="56403"/>
                    <a:pt x="121444" y="64294"/>
                  </a:cubicBezTo>
                  <a:lnTo>
                    <a:pt x="114300" y="100012"/>
                  </a:lnTo>
                  <a:cubicBezTo>
                    <a:pt x="112189" y="109015"/>
                    <a:pt x="106365" y="114840"/>
                    <a:pt x="100012" y="114300"/>
                  </a:cubicBezTo>
                  <a:lnTo>
                    <a:pt x="50006" y="114300"/>
                  </a:lnTo>
                  <a:cubicBezTo>
                    <a:pt x="38170" y="114300"/>
                    <a:pt x="28575" y="104705"/>
                    <a:pt x="28575" y="92869"/>
                  </a:cubicBezTo>
                </a:path>
              </a:pathLst>
            </a:custGeom>
            <a:noFill/>
            <a:ln w="14288">
              <a:solidFill>
                <a:srgbClr val="3DDC9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97140" y="1356360"/>
              <a:ext cx="1092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spc="75" dirty="0">
                  <a:solidFill>
                    <a:srgbClr val="3DDC97"/>
                  </a:solidFill>
                  <a:latin typeface="Consolas"/>
                  <a:ea typeface="Microsoft YaHei"/>
                  <a:cs typeface="Consolas"/>
                </a:rPr>
                <a:t>장점 · PROS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0" y="1257300"/>
              <a:ext cx="5143500" cy="342900"/>
            </a:xfrm>
            <a:prstGeom prst="roundRect">
              <a:avLst>
                <a:gd name="adj" fmla="val 22222"/>
              </a:avLst>
            </a:prstGeom>
            <a:solidFill>
              <a:srgbClr val="E2574C">
                <a:alpha val="1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688931" y="1380585"/>
              <a:ext cx="121444" cy="114840"/>
            </a:xfrm>
            <a:custGeom>
              <a:avLst/>
              <a:gdLst/>
              <a:ahLst/>
              <a:cxnLst/>
              <a:rect l="l" t="t" r="r" b="b"/>
              <a:pathLst>
                <a:path w="121444" h="114840">
                  <a:moveTo>
                    <a:pt x="28575" y="64834"/>
                  </a:moveTo>
                  <a:lnTo>
                    <a:pt x="28575" y="7684"/>
                  </a:lnTo>
                  <a:cubicBezTo>
                    <a:pt x="28575" y="3739"/>
                    <a:pt x="25377" y="540"/>
                    <a:pt x="21431" y="540"/>
                  </a:cubicBezTo>
                  <a:lnTo>
                    <a:pt x="7144" y="540"/>
                  </a:lnTo>
                  <a:cubicBezTo>
                    <a:pt x="3198" y="540"/>
                    <a:pt x="0" y="3739"/>
                    <a:pt x="0" y="7684"/>
                  </a:cubicBezTo>
                  <a:lnTo>
                    <a:pt x="0" y="57690"/>
                  </a:lnTo>
                  <a:cubicBezTo>
                    <a:pt x="0" y="61636"/>
                    <a:pt x="3198" y="64834"/>
                    <a:pt x="7144" y="64834"/>
                  </a:cubicBezTo>
                  <a:lnTo>
                    <a:pt x="28575" y="64834"/>
                  </a:lnTo>
                  <a:cubicBezTo>
                    <a:pt x="44357" y="64834"/>
                    <a:pt x="57150" y="77628"/>
                    <a:pt x="57150" y="93409"/>
                  </a:cubicBezTo>
                  <a:lnTo>
                    <a:pt x="57150" y="100553"/>
                  </a:lnTo>
                  <a:cubicBezTo>
                    <a:pt x="57150" y="108444"/>
                    <a:pt x="63547" y="114840"/>
                    <a:pt x="71438" y="114840"/>
                  </a:cubicBezTo>
                  <a:cubicBezTo>
                    <a:pt x="79328" y="114840"/>
                    <a:pt x="85725" y="108444"/>
                    <a:pt x="85725" y="100553"/>
                  </a:cubicBezTo>
                  <a:lnTo>
                    <a:pt x="85725" y="64834"/>
                  </a:lnTo>
                  <a:lnTo>
                    <a:pt x="107156" y="64834"/>
                  </a:lnTo>
                  <a:cubicBezTo>
                    <a:pt x="115047" y="64834"/>
                    <a:pt x="121444" y="58437"/>
                    <a:pt x="121444" y="50547"/>
                  </a:cubicBezTo>
                  <a:lnTo>
                    <a:pt x="114300" y="14828"/>
                  </a:lnTo>
                  <a:cubicBezTo>
                    <a:pt x="112189" y="5825"/>
                    <a:pt x="106365" y="0"/>
                    <a:pt x="100012" y="540"/>
                  </a:cubicBezTo>
                  <a:lnTo>
                    <a:pt x="50006" y="540"/>
                  </a:lnTo>
                  <a:cubicBezTo>
                    <a:pt x="38170" y="540"/>
                    <a:pt x="28575" y="10135"/>
                    <a:pt x="28575" y="21972"/>
                  </a:cubicBezTo>
                </a:path>
              </a:pathLst>
            </a:custGeom>
            <a:noFill/>
            <a:ln w="14288">
              <a:solidFill>
                <a:srgbClr val="E257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2640" y="1356360"/>
              <a:ext cx="1092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spc="75" dirty="0">
                  <a:solidFill>
                    <a:srgbClr val="E2574C"/>
                  </a:solidFill>
                  <a:latin typeface="Consolas"/>
                  <a:ea typeface="Microsoft YaHei"/>
                  <a:cs typeface="Consolas"/>
                </a:rPr>
                <a:t>단점 · CONS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733550"/>
            <a:ext cx="5143500" cy="628650"/>
            <a:chOff x="571500" y="1733550"/>
            <a:chExt cx="5143500" cy="628650"/>
          </a:xfrm>
        </p:grpSpPr>
        <p:sp>
          <p:nvSpPr>
            <p:cNvPr id="13" name="Rectangle 13"/>
            <p:cNvSpPr/>
            <p:nvPr/>
          </p:nvSpPr>
          <p:spPr>
            <a:xfrm>
              <a:off x="571500" y="1733550"/>
              <a:ext cx="5143500" cy="628650"/>
            </a:xfrm>
            <a:prstGeom prst="roundRect">
              <a:avLst>
                <a:gd name="adj" fmla="val 9091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1733550"/>
              <a:ext cx="38100" cy="6286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904" y="1870710"/>
              <a:ext cx="3214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새 탭 추가 시 Panel/Context 코드 무수정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2099310"/>
              <a:ext cx="20775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개방-폐쇄 원칙(OCP) 준수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2457450"/>
            <a:ext cx="5143500" cy="628650"/>
            <a:chOff x="571500" y="2457450"/>
            <a:chExt cx="5143500" cy="628650"/>
          </a:xfrm>
        </p:grpSpPr>
        <p:sp>
          <p:nvSpPr>
            <p:cNvPr id="18" name="Rectangle 18"/>
            <p:cNvSpPr/>
            <p:nvPr/>
          </p:nvSpPr>
          <p:spPr>
            <a:xfrm>
              <a:off x="571500" y="2457450"/>
              <a:ext cx="5143500" cy="628650"/>
            </a:xfrm>
            <a:prstGeom prst="roundRect">
              <a:avLst>
                <a:gd name="adj" fmla="val 9091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2457450"/>
              <a:ext cx="38100" cy="6286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5904" y="2594610"/>
              <a:ext cx="1962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탭 전환 시 내부 상태 유지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2823210"/>
              <a:ext cx="2144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객체를 새로 만들지 않기 때문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181350"/>
            <a:ext cx="5143500" cy="628650"/>
            <a:chOff x="571500" y="3181350"/>
            <a:chExt cx="5143500" cy="628650"/>
          </a:xfrm>
        </p:grpSpPr>
        <p:sp>
          <p:nvSpPr>
            <p:cNvPr id="23" name="Rectangle 23"/>
            <p:cNvSpPr/>
            <p:nvPr/>
          </p:nvSpPr>
          <p:spPr>
            <a:xfrm>
              <a:off x="571500" y="3181350"/>
              <a:ext cx="5143500" cy="628650"/>
            </a:xfrm>
            <a:prstGeom prst="roundRect">
              <a:avLst>
                <a:gd name="adj" fmla="val 9091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3181350"/>
              <a:ext cx="38100" cy="6286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904" y="3318510"/>
              <a:ext cx="3370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패널이 구체 타입을 몰라 컴파일 의존성 감소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3547110"/>
              <a:ext cx="14580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헤더 include 최소화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3905250"/>
            <a:ext cx="5143500" cy="628650"/>
            <a:chOff x="571500" y="3905250"/>
            <a:chExt cx="5143500" cy="628650"/>
          </a:xfrm>
        </p:grpSpPr>
        <p:sp>
          <p:nvSpPr>
            <p:cNvPr id="28" name="Rectangle 28"/>
            <p:cNvSpPr/>
            <p:nvPr/>
          </p:nvSpPr>
          <p:spPr>
            <a:xfrm>
              <a:off x="571500" y="3905250"/>
              <a:ext cx="5143500" cy="628650"/>
            </a:xfrm>
            <a:prstGeom prst="roundRect">
              <a:avLst>
                <a:gd name="adj" fmla="val 9091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" y="3905250"/>
              <a:ext cx="38100" cy="62865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5904" y="4042410"/>
              <a:ext cx="2641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탭 로직이 독립 파일로 완전히 분리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904" y="42710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병렬 작업 · 유지보수 용이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77000" y="1733550"/>
            <a:ext cx="5143500" cy="933450"/>
            <a:chOff x="6477000" y="1733550"/>
            <a:chExt cx="5143500" cy="933450"/>
          </a:xfrm>
        </p:grpSpPr>
        <p:sp>
          <p:nvSpPr>
            <p:cNvPr id="33" name="Rectangle 33"/>
            <p:cNvSpPr/>
            <p:nvPr/>
          </p:nvSpPr>
          <p:spPr>
            <a:xfrm>
              <a:off x="6477000" y="1733550"/>
              <a:ext cx="5143500" cy="933450"/>
            </a:xfrm>
            <a:prstGeom prst="roundRect">
              <a:avLst>
                <a:gd name="adj" fmla="val 6122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7000" y="1733550"/>
              <a:ext cx="38100" cy="933450"/>
            </a:xfrm>
            <a:prstGeom prst="rect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61404" y="1870710"/>
              <a:ext cx="2658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반환 타입 불일치 → 다운캐스팅 6곳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404" y="2099310"/>
              <a:ext cx="3750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CUBE_TYPE / uint / vector&lt;SelectedHelperIcon&gt;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404" y="2346960"/>
              <a:ext cx="2872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Select_Cube/Color/Helper_1P/2P × 6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77000" y="2819400"/>
            <a:ext cx="5143500" cy="933450"/>
            <a:chOff x="6477000" y="2819400"/>
            <a:chExt cx="5143500" cy="933450"/>
          </a:xfrm>
        </p:grpSpPr>
        <p:sp>
          <p:nvSpPr>
            <p:cNvPr id="39" name="Rectangle 39"/>
            <p:cNvSpPr/>
            <p:nvPr/>
          </p:nvSpPr>
          <p:spPr>
            <a:xfrm>
              <a:off x="6477000" y="2819400"/>
              <a:ext cx="5143500" cy="933450"/>
            </a:xfrm>
            <a:prstGeom prst="roundRect">
              <a:avLst>
                <a:gd name="adj" fmla="val 6122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7000" y="2819400"/>
              <a:ext cx="38100" cy="933450"/>
            </a:xfrm>
            <a:prstGeom prst="rect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61404" y="2956560"/>
              <a:ext cx="3099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인터페이스가 늘어날수록 구현 부담 증가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404" y="3185160"/>
              <a:ext cx="34936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현재 6개 가상함수 — 모든 ConcreteStrategy가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404" y="337566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전부 구현해야 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477000" y="3905250"/>
            <a:ext cx="5143500" cy="933450"/>
            <a:chOff x="6477000" y="3905250"/>
            <a:chExt cx="5143500" cy="933450"/>
          </a:xfrm>
        </p:grpSpPr>
        <p:sp>
          <p:nvSpPr>
            <p:cNvPr id="45" name="Rectangle 45"/>
            <p:cNvSpPr/>
            <p:nvPr/>
          </p:nvSpPr>
          <p:spPr>
            <a:xfrm>
              <a:off x="6477000" y="3905250"/>
              <a:ext cx="5143500" cy="933450"/>
            </a:xfrm>
            <a:prstGeom prst="roundRect">
              <a:avLst>
                <a:gd name="adj" fmla="val 6122"/>
              </a:avLst>
            </a:prstGeom>
            <a:solidFill>
              <a:srgbClr val="232932"/>
            </a:solidFill>
            <a:ln w="14288">
              <a:solidFill>
                <a:srgbClr val="333B4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3905250"/>
              <a:ext cx="38100" cy="933450"/>
            </a:xfrm>
            <a:prstGeom prst="rect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61404" y="4042410"/>
              <a:ext cx="3428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E8ECF1"/>
                  </a:solidFill>
                  <a:latin typeface="Pretendard"/>
                  <a:ea typeface="Pretendard"/>
                  <a:cs typeface="Pretendard"/>
                </a:rPr>
                <a:t>m_pCurTab 세팅 전 호출 시 null 역참조 위험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404" y="42710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현재는 초기화 순서로만 방어, 명시적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404" y="44615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방어 코드는 없음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4991100"/>
            <a:ext cx="11049000" cy="994601"/>
            <a:chOff x="571500" y="4991100"/>
            <a:chExt cx="11049000" cy="994601"/>
          </a:xfrm>
        </p:grpSpPr>
        <p:sp>
          <p:nvSpPr>
            <p:cNvPr id="51" name="Rectangle 51"/>
            <p:cNvSpPr/>
            <p:nvPr/>
          </p:nvSpPr>
          <p:spPr>
            <a:xfrm>
              <a:off x="571500" y="49911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1B2028"/>
            </a:solidFill>
            <a:ln w="14288">
              <a:solidFill>
                <a:srgbClr val="E2574C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00100" y="5200650"/>
              <a:ext cx="114300" cy="114300"/>
            </a:xfrm>
            <a:prstGeom prst="ellipse">
              <a:avLst/>
            </a:prstGeom>
            <a:solidFill>
              <a:srgbClr val="E257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60704" y="5185410"/>
              <a:ext cx="317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Consolas"/>
                  <a:ea typeface="Microsoft YaHei"/>
                  <a:cs typeface="Consolas"/>
                </a:rPr>
                <a:t>Level_Select.cpp — 다운캐스팅 6곳 중 1곳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0392" y="5493068"/>
              <a:ext cx="6635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static_cast&lt;</a:t>
              </a:r>
              <a:r>
                <a:rPr lang="en-US" sz="1350" b="1" dirty="0">
                  <a:solidFill>
                    <a:srgbClr val="E2574C"/>
                  </a:solidFill>
                  <a:latin typeface="Consolas"/>
                  <a:ea typeface="Consolas"/>
                  <a:cs typeface="Consolas"/>
                </a:rPr>
                <a:t>CAttributeTab_Cube*</a:t>
              </a:r>
              <a:r>
                <a:rPr lang="en-US" sz="135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&gt;(panel-&gt;Get_Tab(TAB_ORDER::CUBE))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392" y="5721668"/>
              <a:ext cx="2496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-&gt;Get_SelectedCubeType();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1208" y="441960"/>
            <a:ext cx="8754225" cy="720852"/>
            <a:chOff x="521208" y="441960"/>
            <a:chExt cx="8754225" cy="720852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1960"/>
              <a:ext cx="1894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12 / ALTERNATIVES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693420"/>
              <a:ext cx="38238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대안이 될 수 있었던 접근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16567" y="806768"/>
              <a:ext cx="6358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switch 분기보다는 낫지만, 다운캐스팅은 Commit() 하나로 해결할 수 있었다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143000"/>
            <a:ext cx="10801350" cy="723900"/>
            <a:chOff x="533400" y="1143000"/>
            <a:chExt cx="10801350" cy="723900"/>
          </a:xfrm>
        </p:grpSpPr>
        <p:sp>
          <p:nvSpPr>
            <p:cNvPr id="6" name="Rectangle 6"/>
            <p:cNvSpPr/>
            <p:nvPr/>
          </p:nvSpPr>
          <p:spPr>
            <a:xfrm>
              <a:off x="533400" y="1333500"/>
              <a:ext cx="1809750" cy="533400"/>
            </a:xfrm>
            <a:prstGeom prst="roundRect">
              <a:avLst>
                <a:gd name="adj" fmla="val 10714"/>
              </a:avLst>
            </a:prstGeom>
            <a:solidFill>
              <a:srgbClr val="1B202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7493" y="1527810"/>
              <a:ext cx="741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평가 기준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457450" y="1333500"/>
              <a:ext cx="2133600" cy="533400"/>
            </a:xfrm>
            <a:prstGeom prst="roundRect">
              <a:avLst>
                <a:gd name="adj" fmla="val 10714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53468" y="1432560"/>
              <a:ext cx="741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E8ECF1"/>
                  </a:solidFill>
                  <a:latin typeface="Consolas"/>
                  <a:ea typeface="Microsoft YaHei"/>
                  <a:cs typeface="Consolas"/>
                </a:rPr>
                <a:t>현재 구조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73153" y="1623060"/>
              <a:ext cx="1102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Strategy 패턴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05350" y="1333500"/>
              <a:ext cx="2133600" cy="533400"/>
            </a:xfrm>
            <a:prstGeom prst="roundRect">
              <a:avLst>
                <a:gd name="adj" fmla="val 10714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86874" y="1432560"/>
              <a:ext cx="970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E8ECF1"/>
                  </a:solidFill>
                  <a:latin typeface="Consolas"/>
                  <a:ea typeface="Microsoft YaHei"/>
                  <a:cs typeface="Consolas"/>
                </a:rPr>
                <a:t>if/else 분기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47183" y="1623060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패턴 없이 직접 분기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953250" y="1276350"/>
              <a:ext cx="2133600" cy="590550"/>
            </a:xfrm>
            <a:prstGeom prst="roundRect">
              <a:avLst>
                <a:gd name="adj" fmla="val 9677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80812" y="1375410"/>
              <a:ext cx="878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E8ECF1"/>
                  </a:solidFill>
                  <a:latin typeface="Consolas"/>
                  <a:ea typeface="Microsoft YaHei"/>
                  <a:cs typeface="Consolas"/>
                </a:rPr>
                <a:t>State 패턴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00087" y="156591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전이 주체만 다름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201150" y="1219200"/>
              <a:ext cx="2133600" cy="647700"/>
            </a:xfrm>
            <a:prstGeom prst="roundRect">
              <a:avLst>
                <a:gd name="adj" fmla="val 8824"/>
              </a:avLst>
            </a:prstGeom>
            <a:solidFill>
              <a:srgbClr val="3DDC97">
                <a:alpha val="12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810750" y="1143000"/>
              <a:ext cx="914400" cy="190500"/>
            </a:xfrm>
            <a:prstGeom prst="roundRect">
              <a:avLst>
                <a:gd name="adj" fmla="val 50000"/>
              </a:avLst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97168" y="1146810"/>
              <a:ext cx="741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b="1" dirty="0">
                  <a:solidFill>
                    <a:srgbClr val="12161C"/>
                  </a:solidFill>
                  <a:latin typeface="Consolas"/>
                  <a:ea typeface="Microsoft YaHei"/>
                  <a:cs typeface="Consolas"/>
                </a:rPr>
                <a:t>개선 제안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72325" y="1432560"/>
              <a:ext cx="791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Commit()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41750" y="1623060"/>
              <a:ext cx="1852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Strategy + Commit 추가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962150"/>
            <a:ext cx="10801350" cy="762000"/>
            <a:chOff x="533400" y="1962150"/>
            <a:chExt cx="10801350" cy="762000"/>
          </a:xfrm>
        </p:grpSpPr>
        <p:sp>
          <p:nvSpPr>
            <p:cNvPr id="23" name="Rectangle 23"/>
            <p:cNvSpPr/>
            <p:nvPr/>
          </p:nvSpPr>
          <p:spPr>
            <a:xfrm>
              <a:off x="533400" y="1962150"/>
              <a:ext cx="1809750" cy="762000"/>
            </a:xfrm>
            <a:prstGeom prst="roundRect">
              <a:avLst>
                <a:gd name="adj" fmla="val 7500"/>
              </a:avLst>
            </a:prstGeom>
            <a:solidFill>
              <a:srgbClr val="1B202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804" y="21564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확장성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7804" y="2366010"/>
              <a:ext cx="12883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새 탭 추가 용이성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457450" y="19621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67504" y="22545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★★★★★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05350" y="19621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15404" y="22545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2574C"/>
                  </a:solidFill>
                  <a:latin typeface="Pretendard"/>
                  <a:ea typeface="Pretendard"/>
                  <a:cs typeface="Pretendard"/>
                </a:rPr>
                <a:t>★★☆☆☆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953250" y="19621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63304" y="22545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★★★★★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01150" y="19621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3DDC97">
                <a:alpha val="5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11204" y="22545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★★★★★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2819400"/>
            <a:ext cx="10801350" cy="762000"/>
            <a:chOff x="533400" y="2819400"/>
            <a:chExt cx="10801350" cy="762000"/>
          </a:xfrm>
        </p:grpSpPr>
        <p:sp>
          <p:nvSpPr>
            <p:cNvPr id="35" name="Rectangle 35"/>
            <p:cNvSpPr/>
            <p:nvPr/>
          </p:nvSpPr>
          <p:spPr>
            <a:xfrm>
              <a:off x="533400" y="2819400"/>
              <a:ext cx="1809750" cy="762000"/>
            </a:xfrm>
            <a:prstGeom prst="roundRect">
              <a:avLst>
                <a:gd name="adj" fmla="val 7500"/>
              </a:avLst>
            </a:prstGeom>
            <a:solidFill>
              <a:srgbClr val="1B202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7804" y="3013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다운캐스팅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7804" y="3223260"/>
              <a:ext cx="1383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Level_Select 기준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57450" y="28194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69504" y="3111818"/>
              <a:ext cx="309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E2574C"/>
                  </a:solidFill>
                  <a:latin typeface="Consolas"/>
                  <a:ea typeface="Microsoft YaHei"/>
                  <a:cs typeface="Consolas"/>
                </a:rPr>
                <a:t>6곳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05350" y="28194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17404" y="3111818"/>
              <a:ext cx="309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3DDC97"/>
                  </a:solidFill>
                  <a:latin typeface="Consolas"/>
                  <a:ea typeface="Microsoft YaHei"/>
                  <a:cs typeface="Consolas"/>
                </a:rPr>
                <a:t>0곳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953250" y="28194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65304" y="3111818"/>
              <a:ext cx="309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E2574C"/>
                  </a:solidFill>
                  <a:latin typeface="Consolas"/>
                  <a:ea typeface="Microsoft YaHei"/>
                  <a:cs typeface="Consolas"/>
                </a:rPr>
                <a:t>6곳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01150" y="28194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3DDC97">
                <a:alpha val="5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113204" y="3111818"/>
              <a:ext cx="309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3DDC97"/>
                  </a:solidFill>
                  <a:latin typeface="Consolas"/>
                  <a:ea typeface="Microsoft YaHei"/>
                  <a:cs typeface="Consolas"/>
                </a:rPr>
                <a:t>0곳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3400" y="3676650"/>
            <a:ext cx="10801350" cy="762000"/>
            <a:chOff x="533400" y="3676650"/>
            <a:chExt cx="10801350" cy="762000"/>
          </a:xfrm>
        </p:grpSpPr>
        <p:sp>
          <p:nvSpPr>
            <p:cNvPr id="47" name="Rectangle 47"/>
            <p:cNvSpPr/>
            <p:nvPr/>
          </p:nvSpPr>
          <p:spPr>
            <a:xfrm>
              <a:off x="533400" y="3676650"/>
              <a:ext cx="1809750" cy="762000"/>
            </a:xfrm>
            <a:prstGeom prst="roundRect">
              <a:avLst>
                <a:gd name="adj" fmla="val 7500"/>
              </a:avLst>
            </a:prstGeom>
            <a:solidFill>
              <a:srgbClr val="1B202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804" y="3870960"/>
              <a:ext cx="1057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Level_Select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7804" y="40805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비대화 위험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457450" y="36766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356610" y="3985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없음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05350" y="36766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32959" y="398526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E2574C"/>
                  </a:solidFill>
                  <a:latin typeface="Pretendard"/>
                  <a:ea typeface="Pretendard"/>
                  <a:cs typeface="Pretendard"/>
                </a:rPr>
                <a:t>탭 늘수록 심화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953250" y="36766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52410" y="3985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없음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201150" y="367665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3DDC97">
                <a:alpha val="5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100310" y="3985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3DDC97"/>
                  </a:solidFill>
                  <a:latin typeface="Pretendard"/>
                  <a:ea typeface="Pretendard"/>
                  <a:cs typeface="Pretendard"/>
                </a:rPr>
                <a:t>없음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33400" y="4533900"/>
            <a:ext cx="10801350" cy="762000"/>
            <a:chOff x="533400" y="4533900"/>
            <a:chExt cx="10801350" cy="762000"/>
          </a:xfrm>
        </p:grpSpPr>
        <p:sp>
          <p:nvSpPr>
            <p:cNvPr id="59" name="Rectangle 59"/>
            <p:cNvSpPr/>
            <p:nvPr/>
          </p:nvSpPr>
          <p:spPr>
            <a:xfrm>
              <a:off x="533400" y="4533900"/>
              <a:ext cx="1809750" cy="762000"/>
            </a:xfrm>
            <a:prstGeom prst="roundRect">
              <a:avLst>
                <a:gd name="adj" fmla="val 7500"/>
              </a:avLst>
            </a:prstGeom>
            <a:solidFill>
              <a:srgbClr val="1B202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7804" y="4728210"/>
              <a:ext cx="741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전이 주체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7804" y="49377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8A93A0"/>
                  </a:solidFill>
                  <a:latin typeface="Pretendard"/>
                  <a:ea typeface="Pretendard"/>
                  <a:cs typeface="Pretendard"/>
                </a:rPr>
                <a:t>누가 다음 탭을 정하나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457450" y="45339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767404" y="4842510"/>
              <a:ext cx="1513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외부(Level_Select)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705350" y="45339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015304" y="4842510"/>
              <a:ext cx="1513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외부(Level_Select)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953250" y="45339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232932"/>
            </a:solidFill>
            <a:ln w="9525">
              <a:solidFill>
                <a:srgbClr val="333B45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47406" y="484251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4FA3D1"/>
                  </a:solidFill>
                  <a:latin typeface="Pretendard"/>
                  <a:ea typeface="Pretendard"/>
                  <a:cs typeface="Pretendard"/>
                </a:rPr>
                <a:t>탭 자신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201150" y="4533900"/>
              <a:ext cx="2133600" cy="762000"/>
            </a:xfrm>
            <a:prstGeom prst="roundRect">
              <a:avLst>
                <a:gd name="adj" fmla="val 7500"/>
              </a:avLst>
            </a:prstGeom>
            <a:solidFill>
              <a:srgbClr val="3DDC97">
                <a:alpha val="5000"/>
              </a:srgbClr>
            </a:solidFill>
            <a:ln w="14288">
              <a:solidFill>
                <a:srgbClr val="3DDC97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11104" y="4842510"/>
              <a:ext cx="1513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외부(Level_Select)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33400" y="5486400"/>
            <a:ext cx="11125200" cy="571500"/>
            <a:chOff x="533400" y="5486400"/>
            <a:chExt cx="11125200" cy="571500"/>
          </a:xfrm>
        </p:grpSpPr>
        <p:sp>
          <p:nvSpPr>
            <p:cNvPr id="71" name="Rectangle 71"/>
            <p:cNvSpPr/>
            <p:nvPr/>
          </p:nvSpPr>
          <p:spPr>
            <a:xfrm>
              <a:off x="533400" y="5486400"/>
              <a:ext cx="11125200" cy="571500"/>
            </a:xfrm>
            <a:prstGeom prst="roundRect">
              <a:avLst>
                <a:gd name="adj" fmla="val 13333"/>
              </a:avLst>
            </a:prstGeom>
            <a:solidFill>
              <a:srgbClr val="1B2028"/>
            </a:solidFill>
            <a:ln w="14288">
              <a:solidFill>
                <a:srgbClr val="333B45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2956" y="5669756"/>
              <a:ext cx="185737" cy="185737"/>
              <a:chOff x="792956" y="5669756"/>
              <a:chExt cx="185737" cy="18573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92956" y="56697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rgbClr val="3DDC9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9856" y="57110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rgbClr val="3DDC9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62092" y="58142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rgbClr val="3DDC9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94054" y="5699760"/>
              <a:ext cx="7792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 xml:space="preserve">virtual void </a:t>
              </a:r>
              <a:r>
                <a:rPr lang="en-US" sz="12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Commit</a:t>
              </a:r>
              <a:r>
                <a:rPr lang="en-US" sz="12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 xml:space="preserve">(BATTLE_LEVEL_DESC&amp; desc, bool bIs1P) = 0; </a:t>
              </a:r>
              <a:r>
                <a:rPr lang="ko-KR" sz="120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// 각 탭이 자기 결과를 직접 써넣음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1113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2161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3DDC97">
                    <a:alpha val="10000"/>
                  </a:srgbClr>
                </a:gs>
                <a:gs pos="100000">
                  <a:srgbClr val="3DDC97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33400" y="1428750"/>
            <a:ext cx="1477488" cy="257556"/>
            <a:chOff x="533400" y="1428750"/>
            <a:chExt cx="1477488" cy="257556"/>
          </a:xfrm>
        </p:grpSpPr>
        <p:sp>
          <p:nvSpPr>
            <p:cNvPr id="5" name="Rectangle 5"/>
            <p:cNvSpPr/>
            <p:nvPr/>
          </p:nvSpPr>
          <p:spPr>
            <a:xfrm>
              <a:off x="533400" y="1428750"/>
              <a:ext cx="38100" cy="190500"/>
            </a:xfrm>
            <a:prstGeom prst="rect">
              <a:avLst/>
            </a:prstGeom>
            <a:solidFill>
              <a:srgbClr val="3DDC97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79704" y="1451610"/>
              <a:ext cx="133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13 / CLOSING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7398" y="2060258"/>
            <a:ext cx="6227778" cy="1130427"/>
            <a:chOff x="517398" y="2060258"/>
            <a:chExt cx="6227778" cy="1130427"/>
          </a:xfrm>
        </p:grpSpPr>
        <p:sp>
          <p:nvSpPr>
            <p:cNvPr id="8" name="TextBox 8"/>
            <p:cNvSpPr txBox="1"/>
            <p:nvPr/>
          </p:nvSpPr>
          <p:spPr>
            <a:xfrm>
              <a:off x="517398" y="2060258"/>
              <a:ext cx="6227778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Strategy + Factory Method로 </a:t>
              </a:r>
              <a:r>
                <a:rPr lang="ko-KR" sz="3150" b="1" dirty="0">
                  <a:solidFill>
                    <a:srgbClr val="E8ECF1"/>
                  </a:solidFill>
                  <a:latin typeface="Pretendard ExtraBold"/>
                  <a:ea typeface="Pretendard ExtraBold"/>
                  <a:cs typeface="Pretendard ExtraBold"/>
                </a:rPr>
                <a:t>탭 전환은 이미 깔끔하게 풀렸다.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1970" y="3376612"/>
            <a:ext cx="11271574" cy="440055"/>
            <a:chOff x="521970" y="3376612"/>
            <a:chExt cx="11271574" cy="440055"/>
          </a:xfrm>
        </p:grpSpPr>
        <p:sp>
          <p:nvSpPr>
            <p:cNvPr id="10" name="TextBox 10"/>
            <p:cNvSpPr txBox="1"/>
            <p:nvPr/>
          </p:nvSpPr>
          <p:spPr>
            <a:xfrm>
              <a:off x="521970" y="3376612"/>
              <a:ext cx="112715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250" dirty="0">
                  <a:solidFill>
                    <a:srgbClr val="C6CDD6"/>
                  </a:solidFill>
                  <a:latin typeface="Pretendard"/>
                  <a:ea typeface="Pretendard"/>
                  <a:cs typeface="Pretendard"/>
                </a:rPr>
                <a:t>다음 개선은 IAttributeTab에 Commit()을 추가해 6곳의 다운캐스팅을 지우는 것.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4286250"/>
            <a:ext cx="11125200" cy="857250"/>
            <a:chOff x="533400" y="4286250"/>
            <a:chExt cx="11125200" cy="857250"/>
          </a:xfrm>
        </p:grpSpPr>
        <p:sp>
          <p:nvSpPr>
            <p:cNvPr id="12" name="Rectangle 12"/>
            <p:cNvSpPr/>
            <p:nvPr/>
          </p:nvSpPr>
          <p:spPr>
            <a:xfrm>
              <a:off x="533400" y="4286250"/>
              <a:ext cx="11125200" cy="857250"/>
            </a:xfrm>
            <a:prstGeom prst="roundRect">
              <a:avLst>
                <a:gd name="adj" fmla="val 8889"/>
              </a:avLst>
            </a:prstGeom>
            <a:solidFill>
              <a:srgbClr val="1B2028"/>
            </a:solidFill>
            <a:ln w="14288">
              <a:solidFill>
                <a:srgbClr val="3DDC97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73919" y="4607719"/>
              <a:ext cx="214312" cy="214313"/>
              <a:chOff x="873919" y="4607719"/>
              <a:chExt cx="214312" cy="2143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3919" y="460771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23812">
                <a:solidFill>
                  <a:srgbClr val="3DDC9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16496" y="465534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23812">
                <a:solidFill>
                  <a:srgbClr val="3DDC9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53691" y="477440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23812">
                <a:solidFill>
                  <a:srgbClr val="3DDC9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21308" y="4541520"/>
              <a:ext cx="102298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 xml:space="preserve">virtual void </a:t>
              </a:r>
              <a:r>
                <a:rPr lang="en-US" sz="2400" b="1" dirty="0">
                  <a:solidFill>
                    <a:srgbClr val="3DDC97"/>
                  </a:solidFill>
                  <a:latin typeface="Consolas"/>
                  <a:ea typeface="Consolas"/>
                  <a:cs typeface="Consolas"/>
                </a:rPr>
                <a:t>Commit</a:t>
              </a:r>
              <a:r>
                <a:rPr lang="en-US" sz="2400" dirty="0">
                  <a:solidFill>
                    <a:srgbClr val="C6CDD6"/>
                  </a:solidFill>
                  <a:latin typeface="Consolas"/>
                  <a:ea typeface="Consolas"/>
                  <a:cs typeface="Consolas"/>
                </a:rPr>
                <a:t>(BATTLE_LEVEL_DESC&amp; desc, bool bIs1P) = 0;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27304" y="6176010"/>
            <a:ext cx="3816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8A93A0"/>
                </a:solidFill>
                <a:latin typeface="Consolas"/>
                <a:ea typeface="Microsoft YaHei"/>
                <a:cs typeface="Consolas"/>
              </a:rPr>
              <a:t>DNF_DUEL · Level_Select 코드 리뷰 / 2026-09-04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2026-09-04T04:03:28Z</dcterms:created>
  <dcterms:modified xsi:type="dcterms:W3CDTF">2026-09-04T04:03:28Z</dcterms:modified>
  <cp:category/>
  <cp:contentStatus/>
</cp:coreProperties>
</file>