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2F648-A62E-475A-D383-8F11A1370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12E6527-4CE9-8673-822E-7113379EF1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75FD7C-72A2-71ED-C3AD-A8221E44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571F2-B575-ED6B-B2B5-B5C0158F5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55E64-DD05-7085-97E7-FC48F5E8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37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FDFC08-2341-0AF8-67E8-B2166A0F1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B6B23-71CD-2C50-4064-0D531D65E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4170A5-6E78-EF54-DE89-D271B489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5ADAA-C781-1BE4-34EB-7036FDF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695038-B3DC-6670-A41C-1444B84FB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02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6248F-DEED-3982-0B46-070EE2D2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0F72A2-4CF5-4783-B256-2FFCC07EE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A4EE3A-F3BD-E8D2-CB59-C52DC68CE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5663F3-9016-EDB2-F6F6-24B77A22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EE930-DBD2-AC6D-BB48-D9AFBC37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08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CFF60-4107-AAE7-254D-93EE3E7F5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C24CCD-7C14-A676-0D49-3AB0AEE051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EFC9C8-0EBE-2AF6-7BF3-19749C14F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58B935-8B85-A2F3-0447-FA7AB4C2B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B762C4-BE15-C470-F400-76EAA32E9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38C1CB-BE18-437F-18ED-E8530686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623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1DAFF-759E-EC63-40EC-72EA42FE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8E272B-401C-4BB2-5C78-C6E8C9F40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2B523F-9AE4-19E9-65F6-3A7DA3581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29B4E6-0723-00C6-5FA5-CCA51E837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C3B91C-5619-940F-D1E1-A2AFB2FF7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59FCCA0-AFAA-6F49-8A1C-E29E518B7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2D2A90-5B82-9C87-98EF-59242FCAB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40AF4B-7159-3479-3837-3C79F9D7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42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CA7A10-735C-88D1-2A0F-BF1A8D6B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3A1EBC-408A-FA68-7EC0-F2E80AAA5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A84666-BF5D-29AC-0D05-5E95B614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8D2929-5C82-4347-05D8-A72E45C1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685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BF92455-5A9E-A916-C83E-9E6CEA38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1EB48F-643A-5B55-58E9-9DFA7932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3CD067-BB01-925C-8951-FD978455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338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7E499-C190-FDA0-76BE-B12C42863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0432C7-7CDF-F3A6-47EB-B6C0EF015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2D4910-697C-FBF5-15F5-7DC992245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9086D6-256B-807A-85BB-EE5EEF39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8FC2B7-BA2A-8CD6-FE6D-A437CD13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450A8E-5C28-A2AB-3562-E909AC63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19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3B8686-C273-D1AE-A59E-C7983B81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DFC0A1-1C0D-9614-2137-001D5787E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93212B-02D7-91D4-53BA-F287650CE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AD78EE-52F7-B53D-F297-29C5B7192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D31A5BF-6856-54B7-A4AB-052974DDF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2BEB1B-E858-735E-5A74-425009572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40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46B16-D022-0AC6-538A-7EDC56226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8984F1-7A94-F5CF-74F7-82C7968BD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FD583-F3DA-07F2-EAC7-19F2BB961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51D40-76C6-4221-16B3-50348283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B59A2E-0905-1E49-DDF0-7E9899D9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681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27552FF-BB88-5421-95D7-7EC41DA372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2E8811C-CEFC-4466-C609-44124A8F7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B14BE5-D7A3-0E40-6B00-41E2556A5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9559E-8701-776E-6246-2CD20A41B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23C68-3DC0-03B7-2E78-831ECAF0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5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D68786D-68B0-1A5C-51FF-6F506BF6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9D3BA9-8957-8BA7-DD9A-64F7C8875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DEBE43-0DEC-D234-DFF2-F9A97A2837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CF01C-1072-4ECD-8CF7-5300D1B8750B}" type="datetimeFigureOut">
              <a:rPr lang="ko-KR" altLang="en-US" smtClean="0"/>
              <a:t>2026-09-02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B96E4B-E6D0-F59B-0C3F-D80E7EB683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3970C1-CC98-098F-E986-0E7A9A6F4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76F5C-BE7D-4601-973E-1B2659D68A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70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2BF7A4-FCBA-864A-0F5C-63D7627638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파일 입출력 최적화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482BFA-247D-BC54-354D-3A5EDCCD5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36762"/>
          </a:xfrm>
        </p:spPr>
        <p:txBody>
          <a:bodyPr>
            <a:normAutofit/>
          </a:bodyPr>
          <a:lstStyle/>
          <a:p>
            <a:r>
              <a:rPr lang="en-US" altLang="ko-KR"/>
              <a:t>~ </a:t>
            </a:r>
            <a:r>
              <a:rPr lang="ko-KR" altLang="en-US"/>
              <a:t>버퍼 단위로 파일을 로딩 해 시스템 콜 최적화 전략 </a:t>
            </a:r>
            <a:r>
              <a:rPr lang="en-US" altLang="ko-KR"/>
              <a:t>~</a:t>
            </a:r>
          </a:p>
          <a:p>
            <a:r>
              <a:rPr lang="ko-KR" altLang="en-US"/>
              <a:t>팩토리 패턴</a:t>
            </a:r>
            <a:r>
              <a:rPr lang="en-US" altLang="ko-KR"/>
              <a:t>, RAII</a:t>
            </a:r>
          </a:p>
          <a:p>
            <a:r>
              <a:rPr lang="ko-KR" altLang="en-US"/>
              <a:t>오버로딩</a:t>
            </a:r>
            <a:r>
              <a:rPr lang="en-US" altLang="ko-KR"/>
              <a:t>, </a:t>
            </a:r>
            <a:r>
              <a:rPr lang="ko-KR" altLang="en-US"/>
              <a:t>템플릿</a:t>
            </a:r>
            <a:endParaRPr lang="en-US" altLang="ko-KR"/>
          </a:p>
          <a:p>
            <a:r>
              <a:rPr lang="ko-KR" altLang="en-US"/>
              <a:t>컴파일 타임 타입 제약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601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31D44-C7A6-39E9-03A3-10BD04E3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커스텀한 데이터를 읽어 들일 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B95D6F-72FD-5EDC-F857-FAA28C768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/>
              <a:t>HANDLE</a:t>
            </a:r>
            <a:r>
              <a:rPr lang="ko-KR" altLang="en-US"/>
              <a:t> </a:t>
            </a:r>
            <a:r>
              <a:rPr lang="en-US" altLang="ko-KR"/>
              <a:t>hFile = CreateFile ( L“</a:t>
            </a:r>
            <a:r>
              <a:rPr lang="ko-KR" altLang="en-US"/>
              <a:t>파일명</a:t>
            </a:r>
            <a:r>
              <a:rPr lang="en-US" altLang="ko-KR"/>
              <a:t>”, GENERIC_READ, … ) </a:t>
            </a:r>
          </a:p>
          <a:p>
            <a:pPr marL="0" indent="0">
              <a:buNone/>
            </a:pPr>
            <a:r>
              <a:rPr lang="en-US" altLang="ko-KR"/>
              <a:t>float3 pos;</a:t>
            </a:r>
          </a:p>
          <a:p>
            <a:pPr marL="0" indent="0">
              <a:buNone/>
            </a:pPr>
            <a:r>
              <a:rPr lang="en-US" altLang="ko-KR"/>
              <a:t>DWORD bytesREAD = 0;</a:t>
            </a:r>
          </a:p>
          <a:p>
            <a:pPr marL="0" indent="0">
              <a:buNone/>
            </a:pPr>
            <a:r>
              <a:rPr lang="en-US" altLang="ko-KR"/>
              <a:t>ReadFile(hFile, &amp;pos, sizeof(float3), &amp;bytesRead, NULL);</a:t>
            </a:r>
          </a:p>
          <a:p>
            <a:pPr marL="0" indent="0">
              <a:buNone/>
            </a:pPr>
            <a:r>
              <a:rPr lang="en-US" altLang="ko-KR"/>
              <a:t>float4 rotation;</a:t>
            </a:r>
          </a:p>
          <a:p>
            <a:pPr marL="0" indent="0">
              <a:buNone/>
            </a:pPr>
            <a:r>
              <a:rPr lang="en-US" altLang="ko-KR"/>
              <a:t>DWORD bytesREAD = 0;</a:t>
            </a:r>
          </a:p>
          <a:p>
            <a:pPr marL="0" indent="0">
              <a:buNone/>
            </a:pPr>
            <a:r>
              <a:rPr lang="en-US" altLang="ko-KR"/>
              <a:t>ReadFile(hFile, &amp;rotation, sizeof(float4), &amp;bytesRead, NULL);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5413CC4-0973-852E-325A-F025610EB709}"/>
              </a:ext>
            </a:extLst>
          </p:cNvPr>
          <p:cNvSpPr/>
          <p:nvPr/>
        </p:nvSpPr>
        <p:spPr>
          <a:xfrm>
            <a:off x="764384" y="3258059"/>
            <a:ext cx="9362842" cy="635515"/>
          </a:xfrm>
          <a:prstGeom prst="roundRect">
            <a:avLst/>
          </a:prstGeom>
          <a:noFill/>
          <a:ln w="38100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1ED84A1-FD9B-AB06-0DA0-36192CE67393}"/>
              </a:ext>
            </a:extLst>
          </p:cNvPr>
          <p:cNvSpPr/>
          <p:nvPr/>
        </p:nvSpPr>
        <p:spPr>
          <a:xfrm>
            <a:off x="764384" y="4840178"/>
            <a:ext cx="9992106" cy="635515"/>
          </a:xfrm>
          <a:prstGeom prst="roundRect">
            <a:avLst/>
          </a:prstGeom>
          <a:noFill/>
          <a:ln w="38100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A4F68E66-DB59-FE88-6744-EB039ED6FF59}"/>
              </a:ext>
            </a:extLst>
          </p:cNvPr>
          <p:cNvSpPr txBox="1">
            <a:spLocks/>
          </p:cNvSpPr>
          <p:nvPr/>
        </p:nvSpPr>
        <p:spPr>
          <a:xfrm>
            <a:off x="838200" y="5786781"/>
            <a:ext cx="10515600" cy="63551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1. </a:t>
            </a:r>
            <a:r>
              <a:rPr lang="ko-KR" altLang="en-US"/>
              <a:t>핸들을 선언하고</a:t>
            </a:r>
            <a:r>
              <a:rPr lang="en-US" altLang="ko-KR"/>
              <a:t>, </a:t>
            </a:r>
            <a:r>
              <a:rPr lang="ko-KR" altLang="en-US"/>
              <a:t>닫아줘야 하며</a:t>
            </a:r>
            <a:endParaRPr lang="en-US" altLang="ko-KR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/>
              <a:t>2. </a:t>
            </a:r>
            <a:r>
              <a:rPr lang="ko-KR" altLang="en-US"/>
              <a:t>자신이 원하는 데이터 형식을 반복해서 읽어들인다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41006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604EC-C34B-14D6-66D5-EA68C5BC9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270" y="18255"/>
            <a:ext cx="10515600" cy="1325563"/>
          </a:xfrm>
        </p:spPr>
        <p:txBody>
          <a:bodyPr/>
          <a:lstStyle/>
          <a:p>
            <a:r>
              <a:rPr lang="en-US" altLang="ko-KR"/>
              <a:t>File Buffer class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94A02-A53B-BA07-E900-6576B492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5571C80-8E45-EA8B-6C12-4491AA52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70" y="1086899"/>
            <a:ext cx="6954220" cy="5601482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955BE92-2A17-DF0D-433A-1740D1D36A09}"/>
              </a:ext>
            </a:extLst>
          </p:cNvPr>
          <p:cNvSpPr txBox="1">
            <a:spLocks/>
          </p:cNvSpPr>
          <p:nvPr/>
        </p:nvSpPr>
        <p:spPr>
          <a:xfrm>
            <a:off x="5650064" y="1343818"/>
            <a:ext cx="6376517" cy="19598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앞서 말한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1. </a:t>
            </a:r>
            <a:r>
              <a:rPr lang="ko-KR" altLang="en-US" sz="2000"/>
              <a:t>핸들을 선언하고</a:t>
            </a:r>
            <a:r>
              <a:rPr lang="en-US" altLang="ko-KR" sz="2000"/>
              <a:t>, </a:t>
            </a:r>
            <a:r>
              <a:rPr lang="ko-KR" altLang="en-US" sz="2000"/>
              <a:t>닫는 것을 자동화하며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2. </a:t>
            </a:r>
            <a:r>
              <a:rPr lang="ko-KR" altLang="en-US" sz="2000"/>
              <a:t>데이터 형식을 반복해서 읽어들일 때의 오버헤드를 줄인다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를 책임질 클래스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725245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60739-21EC-A92C-CF0A-B3EFE6EB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DC2D1-63D1-05FE-6A63-F86D77848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E4C7E3-1213-97E7-2ED0-4DB63C4F3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4639" y="365124"/>
            <a:ext cx="6516009" cy="62778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136D53F-58F8-F96A-D8CC-2FE7D88F1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3" y="1465006"/>
            <a:ext cx="3605545" cy="1090049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6901F14-DE55-8C3B-8CFE-0593D600FEA8}"/>
              </a:ext>
            </a:extLst>
          </p:cNvPr>
          <p:cNvSpPr txBox="1">
            <a:spLocks/>
          </p:cNvSpPr>
          <p:nvPr/>
        </p:nvSpPr>
        <p:spPr>
          <a:xfrm>
            <a:off x="657054" y="2555056"/>
            <a:ext cx="3342832" cy="12930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생성자가 </a:t>
            </a:r>
            <a:r>
              <a:rPr lang="en-US" altLang="ko-KR" sz="2000"/>
              <a:t>private </a:t>
            </a:r>
            <a:r>
              <a:rPr lang="ko-KR" altLang="en-US" sz="2000"/>
              <a:t>이므로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Create() </a:t>
            </a:r>
            <a:r>
              <a:rPr lang="ko-KR" altLang="en-US" sz="2000"/>
              <a:t>함수를 통해 생성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(</a:t>
            </a:r>
            <a:r>
              <a:rPr lang="ko-KR" altLang="en-US" sz="2000"/>
              <a:t>팩토리 메서드</a:t>
            </a:r>
            <a:r>
              <a:rPr lang="en-US" altLang="ko-KR" sz="2000"/>
              <a:t>)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14AD496-8701-59D1-8026-0D23DA383FD3}"/>
              </a:ext>
            </a:extLst>
          </p:cNvPr>
          <p:cNvSpPr/>
          <p:nvPr/>
        </p:nvSpPr>
        <p:spPr>
          <a:xfrm>
            <a:off x="4719484" y="405068"/>
            <a:ext cx="4296697" cy="1059938"/>
          </a:xfrm>
          <a:prstGeom prst="roundRect">
            <a:avLst>
              <a:gd name="adj" fmla="val 5536"/>
            </a:avLst>
          </a:prstGeom>
          <a:noFill/>
          <a:ln w="38100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517FDCD-3474-17AF-0FBF-B243A3D283F8}"/>
              </a:ext>
            </a:extLst>
          </p:cNvPr>
          <p:cNvSpPr/>
          <p:nvPr/>
        </p:nvSpPr>
        <p:spPr>
          <a:xfrm>
            <a:off x="4719484" y="3094191"/>
            <a:ext cx="5506064" cy="3548784"/>
          </a:xfrm>
          <a:prstGeom prst="roundRect">
            <a:avLst>
              <a:gd name="adj" fmla="val 5536"/>
            </a:avLst>
          </a:prstGeom>
          <a:noFill/>
          <a:ln w="38100">
            <a:solidFill>
              <a:srgbClr val="FF0000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A78FD49-4CFF-8164-94DE-F951EC7A28F5}"/>
              </a:ext>
            </a:extLst>
          </p:cNvPr>
          <p:cNvSpPr txBox="1">
            <a:spLocks/>
          </p:cNvSpPr>
          <p:nvPr/>
        </p:nvSpPr>
        <p:spPr>
          <a:xfrm>
            <a:off x="9016181" y="472920"/>
            <a:ext cx="2949677" cy="8836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소멸자에서 핸들을 닫는다</a:t>
            </a:r>
            <a:endParaRPr lang="en-US" altLang="ko-KR" sz="2000"/>
          </a:p>
        </p:txBody>
      </p:sp>
      <p:sp>
        <p:nvSpPr>
          <p:cNvPr id="17" name="내용 개체 틀 2">
            <a:extLst>
              <a:ext uri="{FF2B5EF4-FFF2-40B4-BE49-F238E27FC236}">
                <a16:creationId xmlns:a16="http://schemas.microsoft.com/office/drawing/2014/main" id="{A704BE08-841A-BF3E-CB97-C0F2C59030E3}"/>
              </a:ext>
            </a:extLst>
          </p:cNvPr>
          <p:cNvSpPr txBox="1">
            <a:spLocks/>
          </p:cNvSpPr>
          <p:nvPr/>
        </p:nvSpPr>
        <p:spPr>
          <a:xfrm>
            <a:off x="9016180" y="2536927"/>
            <a:ext cx="2949677" cy="11145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생성할 때 핸들을 생성하고 멤버로 저장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=&gt; RAII</a:t>
            </a:r>
          </a:p>
        </p:txBody>
      </p:sp>
    </p:spTree>
    <p:extLst>
      <p:ext uri="{BB962C8B-B14F-4D97-AF65-F5344CB8AC3E}">
        <p14:creationId xmlns:p14="http://schemas.microsoft.com/office/powerpoint/2010/main" val="333332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273EE-959B-FCDE-7B10-0C9C404A2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4350"/>
            <a:ext cx="10515600" cy="5662613"/>
          </a:xfrm>
        </p:spPr>
        <p:txBody>
          <a:bodyPr/>
          <a:lstStyle/>
          <a:p>
            <a:r>
              <a:rPr lang="ko-KR" altLang="en-US"/>
              <a:t>목적인 </a:t>
            </a:r>
            <a:r>
              <a:rPr lang="en-US" altLang="ko-KR"/>
              <a:t>File Read </a:t>
            </a:r>
            <a:r>
              <a:rPr lang="ko-KR" altLang="en-US"/>
              <a:t>를 두 가지 방식으로 구현</a:t>
            </a:r>
            <a:r>
              <a:rPr lang="en-US" altLang="ko-KR"/>
              <a:t>,</a:t>
            </a:r>
            <a:br>
              <a:rPr lang="en-US" altLang="ko-KR"/>
            </a:br>
            <a:r>
              <a:rPr lang="en-US" altLang="ko-KR"/>
              <a:t>1. </a:t>
            </a:r>
            <a:r>
              <a:rPr lang="ko-KR" altLang="en-US"/>
              <a:t>단일 읽기</a:t>
            </a:r>
            <a:br>
              <a:rPr lang="en-US" altLang="ko-KR"/>
            </a:br>
            <a:r>
              <a:rPr lang="en-US" altLang="ko-KR"/>
              <a:t>   </a:t>
            </a:r>
            <a:r>
              <a:rPr lang="ko-KR" altLang="en-US"/>
              <a:t>인자를 참조로 받아 값을 채워 반환한다</a:t>
            </a:r>
            <a:br>
              <a:rPr lang="en-US" altLang="ko-KR"/>
            </a:br>
            <a:r>
              <a:rPr lang="en-US" altLang="ko-KR"/>
              <a:t>2. </a:t>
            </a:r>
            <a:r>
              <a:rPr lang="ko-KR" altLang="en-US"/>
              <a:t>배열 읽기</a:t>
            </a:r>
            <a:br>
              <a:rPr lang="en-US" altLang="ko-KR"/>
            </a:br>
            <a:r>
              <a:rPr lang="en-US" altLang="ko-KR"/>
              <a:t>   </a:t>
            </a:r>
            <a:r>
              <a:rPr lang="ko-KR" altLang="en-US"/>
              <a:t>인자를 포인터로 받아 값을 채워 반환한다</a:t>
            </a:r>
            <a:br>
              <a:rPr lang="en-US" altLang="ko-KR"/>
            </a:br>
            <a:r>
              <a:rPr lang="ko-KR" altLang="en-US"/>
              <a:t>   다른 인자로 </a:t>
            </a:r>
            <a:r>
              <a:rPr lang="en-US" altLang="ko-KR"/>
              <a:t>size </a:t>
            </a:r>
            <a:r>
              <a:rPr lang="ko-KR" altLang="en-US"/>
              <a:t>를 받는다</a:t>
            </a:r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EE5E87-C159-861D-7931-63B6EAF6A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51" y="3024188"/>
            <a:ext cx="5010849" cy="181952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77187C-F773-1B14-D134-85F7A3BAC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76" y="5424350"/>
            <a:ext cx="8907118" cy="990738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CEDD9C61-6FFE-F2EE-43DC-A51FC6B7E099}"/>
              </a:ext>
            </a:extLst>
          </p:cNvPr>
          <p:cNvSpPr txBox="1">
            <a:spLocks/>
          </p:cNvSpPr>
          <p:nvPr/>
        </p:nvSpPr>
        <p:spPr>
          <a:xfrm>
            <a:off x="1018476" y="5100892"/>
            <a:ext cx="8444534" cy="4204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이름을 읽는다면</a:t>
            </a:r>
            <a:r>
              <a:rPr lang="en-US" altLang="ko-KR" sz="2000"/>
              <a:t>, (</a:t>
            </a:r>
            <a:r>
              <a:rPr lang="ko-KR" altLang="en-US" sz="2000"/>
              <a:t>이름의 길이</a:t>
            </a:r>
            <a:r>
              <a:rPr lang="en-US" altLang="ko-KR" sz="2000"/>
              <a:t>, int) (</a:t>
            </a:r>
            <a:r>
              <a:rPr lang="ko-KR" altLang="en-US" sz="2000"/>
              <a:t>이름</a:t>
            </a:r>
            <a:r>
              <a:rPr lang="en-US" altLang="ko-KR" sz="2000"/>
              <a:t>, char[]) </a:t>
            </a:r>
            <a:r>
              <a:rPr lang="ko-KR" altLang="en-US" sz="2000"/>
              <a:t>으로 저장해둔 것을 읽는다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3150669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A9F2DC-D59A-BBB2-B7AA-102D85016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2BC310-0F52-204A-3D5B-AE2686D3E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컴파일타임의 타입 제약</a:t>
            </a:r>
            <a:r>
              <a:rPr lang="en-US" altLang="ko-KR"/>
              <a:t>) </a:t>
            </a:r>
            <a:r>
              <a:rPr lang="ko-KR" altLang="en-US"/>
              <a:t>인자가 </a:t>
            </a:r>
            <a:r>
              <a:rPr lang="en-US" altLang="ko-KR"/>
              <a:t>1</a:t>
            </a:r>
            <a:r>
              <a:rPr lang="ko-KR" altLang="en-US"/>
              <a:t>개인 </a:t>
            </a:r>
            <a:r>
              <a:rPr lang="en-US" altLang="ko-KR"/>
              <a:t>Read </a:t>
            </a:r>
            <a:r>
              <a:rPr lang="ko-KR" altLang="en-US"/>
              <a:t>에 </a:t>
            </a:r>
            <a:r>
              <a:rPr lang="en-US" altLang="ko-KR"/>
              <a:t>…</a:t>
            </a:r>
          </a:p>
          <a:p>
            <a:r>
              <a:rPr lang="en-US" altLang="ko-KR"/>
              <a:t>char name[256] </a:t>
            </a:r>
            <a:r>
              <a:rPr lang="ko-KR" altLang="en-US"/>
              <a:t>같은 배열 형태가 들어간다면</a:t>
            </a:r>
            <a:r>
              <a:rPr lang="en-US" altLang="ko-KR"/>
              <a:t>, static_assert. </a:t>
            </a:r>
            <a:r>
              <a:rPr lang="ko-KR" altLang="en-US"/>
              <a:t>컴파일 타임에 막는다</a:t>
            </a:r>
            <a:r>
              <a:rPr lang="en-US" altLang="ko-KR"/>
              <a:t>.</a:t>
            </a:r>
          </a:p>
          <a:p>
            <a:r>
              <a:rPr lang="ko-KR" altLang="en-US"/>
              <a:t>포인터가 들어간다면</a:t>
            </a:r>
            <a:r>
              <a:rPr lang="en-US" altLang="ko-KR"/>
              <a:t>, </a:t>
            </a:r>
            <a:r>
              <a:rPr lang="ko-KR" altLang="en-US"/>
              <a:t>주소를 저장해놨다는 것인데 주소를 직렬화하는 경우는 없으니 컴파일 타임에 막는다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오버로딩하면서 코드 중복을 막기 위해 </a:t>
            </a:r>
            <a:br>
              <a:rPr lang="en-US" altLang="ko-KR"/>
            </a:br>
            <a:r>
              <a:rPr lang="ko-KR" altLang="en-US"/>
              <a:t>실제 구현은 </a:t>
            </a:r>
            <a:r>
              <a:rPr lang="en-US" altLang="ko-KR"/>
              <a:t>Read(T*, _uint) </a:t>
            </a:r>
            <a:r>
              <a:rPr lang="ko-KR" altLang="en-US"/>
              <a:t>에 </a:t>
            </a:r>
            <a:r>
              <a:rPr lang="en-US" altLang="ko-KR"/>
              <a:t>1</a:t>
            </a:r>
            <a:r>
              <a:rPr lang="ko-KR" altLang="en-US"/>
              <a:t>개만 읽겠다는 의미로 전달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C855FC-8FE6-F776-43F7-F6A47960B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0" y="509423"/>
            <a:ext cx="931675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0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20A6-9CDB-EB93-C272-CD5651930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30DF5-E4AA-AAA7-AA04-F07E3167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B1C1D2-7AA4-5DC4-5BB4-38B72D9F2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(</a:t>
            </a:r>
            <a:r>
              <a:rPr lang="ko-KR" altLang="en-US"/>
              <a:t>컴파일타임의 타입 제약</a:t>
            </a:r>
            <a:r>
              <a:rPr lang="en-US" altLang="ko-KR"/>
              <a:t>) </a:t>
            </a:r>
            <a:r>
              <a:rPr lang="ko-KR" altLang="en-US"/>
              <a:t>인자가 </a:t>
            </a:r>
            <a:r>
              <a:rPr lang="en-US" altLang="ko-KR"/>
              <a:t>1</a:t>
            </a:r>
            <a:r>
              <a:rPr lang="ko-KR" altLang="en-US"/>
              <a:t>개인 </a:t>
            </a:r>
            <a:r>
              <a:rPr lang="en-US" altLang="ko-KR"/>
              <a:t>Read </a:t>
            </a:r>
            <a:r>
              <a:rPr lang="ko-KR" altLang="en-US"/>
              <a:t>에 </a:t>
            </a:r>
            <a:r>
              <a:rPr lang="en-US" altLang="ko-KR"/>
              <a:t>…</a:t>
            </a:r>
          </a:p>
          <a:p>
            <a:r>
              <a:rPr lang="en-US" altLang="ko-KR"/>
              <a:t>char name[256] </a:t>
            </a:r>
            <a:r>
              <a:rPr lang="ko-KR" altLang="en-US"/>
              <a:t>같은 배열 형태가 들어간다면</a:t>
            </a:r>
            <a:r>
              <a:rPr lang="en-US" altLang="ko-KR"/>
              <a:t>, static_assert. </a:t>
            </a:r>
            <a:r>
              <a:rPr lang="ko-KR" altLang="en-US"/>
              <a:t>컴파일 타임에 막는다</a:t>
            </a:r>
            <a:r>
              <a:rPr lang="en-US" altLang="ko-KR"/>
              <a:t>.</a:t>
            </a:r>
          </a:p>
          <a:p>
            <a:r>
              <a:rPr lang="ko-KR" altLang="en-US"/>
              <a:t>포인터가 들어간다면</a:t>
            </a:r>
            <a:r>
              <a:rPr lang="en-US" altLang="ko-KR"/>
              <a:t>, </a:t>
            </a:r>
            <a:r>
              <a:rPr lang="ko-KR" altLang="en-US"/>
              <a:t>주소를 저장해놨다는 것인데 주소를 직렬화하는 경우는 없으니 컴파일 타임에 막는다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오버로딩하면서 코드 중복을 막기 위해 </a:t>
            </a:r>
            <a:br>
              <a:rPr lang="en-US" altLang="ko-KR"/>
            </a:br>
            <a:r>
              <a:rPr lang="ko-KR" altLang="en-US"/>
              <a:t>실제 구현은 </a:t>
            </a:r>
            <a:r>
              <a:rPr lang="en-US" altLang="ko-KR"/>
              <a:t>Read(T*, _uint) </a:t>
            </a:r>
            <a:r>
              <a:rPr lang="ko-KR" altLang="en-US"/>
              <a:t>에 </a:t>
            </a:r>
            <a:r>
              <a:rPr lang="en-US" altLang="ko-KR"/>
              <a:t>1</a:t>
            </a:r>
            <a:r>
              <a:rPr lang="ko-KR" altLang="en-US"/>
              <a:t>개만 읽겠다는 의미로 전달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172B258-FE20-35DA-BC97-3BCA9195D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50" y="509423"/>
            <a:ext cx="931675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366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8467B8-BC49-AFB9-44C0-DBC4054E5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버퍼 단위 읽기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2D3758-62EC-6799-8627-935C1BCFF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97BCB4-23D6-4F02-2CBD-052468967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97" y="1642430"/>
            <a:ext cx="8106906" cy="4534533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A075BCC2-9457-D093-8803-127CC1B012DC}"/>
              </a:ext>
            </a:extLst>
          </p:cNvPr>
          <p:cNvSpPr txBox="1">
            <a:spLocks/>
          </p:cNvSpPr>
          <p:nvPr/>
        </p:nvSpPr>
        <p:spPr>
          <a:xfrm>
            <a:off x="7010400" y="1994002"/>
            <a:ext cx="4936407" cy="26786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256KB </a:t>
            </a:r>
            <a:r>
              <a:rPr lang="ko-KR" altLang="en-US" sz="2000"/>
              <a:t>를 한번에 읽어들이고</a:t>
            </a:r>
            <a:r>
              <a:rPr lang="en-US" altLang="ko-KR" sz="2000"/>
              <a:t>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/>
              <a:t>float3 </a:t>
            </a:r>
            <a:r>
              <a:rPr lang="ko-KR" altLang="en-US" sz="2000"/>
              <a:t>를 요청하면</a:t>
            </a:r>
            <a:r>
              <a:rPr lang="en-US" altLang="ko-KR" sz="2000"/>
              <a:t>, offset</a:t>
            </a:r>
            <a:r>
              <a:rPr lang="ko-KR" altLang="en-US" sz="2000"/>
              <a:t>을 조정하며</a:t>
            </a:r>
            <a:br>
              <a:rPr lang="en-US" altLang="ko-KR" sz="2000"/>
            </a:br>
            <a:r>
              <a:rPr lang="ko-KR" altLang="en-US" sz="2000"/>
              <a:t>형변환해서 돌려준다</a:t>
            </a:r>
            <a:endParaRPr lang="en-US" altLang="ko-KR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000"/>
              <a:t>예외처리</a:t>
            </a:r>
            <a:endParaRPr lang="en-US" altLang="ko-KR" sz="200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ko-KR" altLang="en-US" sz="2000"/>
              <a:t>한 번에 읽어들이려는게 버퍼 크기보다 큰 경우</a:t>
            </a:r>
            <a:br>
              <a:rPr lang="en-US" altLang="ko-KR" sz="2000"/>
            </a:br>
            <a:r>
              <a:rPr lang="en-US" altLang="ko-KR" sz="2000"/>
              <a:t>=&gt; </a:t>
            </a:r>
            <a:r>
              <a:rPr lang="ko-KR" altLang="en-US" sz="2000"/>
              <a:t>반복적으로 읽어서 채우기</a:t>
            </a:r>
            <a:endParaRPr lang="en-US" altLang="ko-KR" sz="20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DAAE60E-D349-C182-ABBE-F36F5035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578" y="1427195"/>
            <a:ext cx="5038725" cy="5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87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B808C3-F8C7-689F-A294-175916824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버퍼의 크기는 어떻게 책정했는가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916023-5BF4-C5B2-07E3-F781BBFA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크면 클수록 시스템 콜이 줄어 좋지 않을까</a:t>
            </a:r>
            <a:r>
              <a:rPr lang="en-US" altLang="ko-KR"/>
              <a:t>?</a:t>
            </a:r>
          </a:p>
          <a:p>
            <a:r>
              <a:rPr lang="ko-KR" altLang="en-US"/>
              <a:t>한번에 </a:t>
            </a:r>
            <a:r>
              <a:rPr lang="en-US" altLang="ko-KR"/>
              <a:t>L1/L2/L3 </a:t>
            </a:r>
            <a:r>
              <a:rPr lang="ko-KR" altLang="en-US"/>
              <a:t>캐시에 맞출 수 있는 크기가 좋지 않을까</a:t>
            </a:r>
            <a:r>
              <a:rPr lang="en-US" altLang="ko-KR"/>
              <a:t>?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/>
              <a:t> 실제로 해보니</a:t>
            </a:r>
            <a:r>
              <a:rPr lang="en-US" altLang="ko-KR"/>
              <a:t>, 1MB </a:t>
            </a:r>
            <a:r>
              <a:rPr lang="ko-KR" altLang="en-US"/>
              <a:t>는 오히려 로딩 시간이 길어진다</a:t>
            </a:r>
            <a:endParaRPr lang="en-US" altLang="ko-KR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/>
              <a:t> 프로젝트와 내 컴퓨터에서 적당했던 건 </a:t>
            </a:r>
            <a:r>
              <a:rPr lang="en-US" altLang="ko-KR"/>
              <a:t>256KB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직접 트라이해보면서 기록 측정하여 결정</a:t>
            </a:r>
            <a:r>
              <a:rPr lang="en-US" altLang="ko-KR"/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01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427</Words>
  <Application>Microsoft Office PowerPoint</Application>
  <PresentationFormat>와이드스크린</PresentationFormat>
  <Paragraphs>48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Symbol</vt:lpstr>
      <vt:lpstr>Office 테마</vt:lpstr>
      <vt:lpstr>파일 입출력 최적화</vt:lpstr>
      <vt:lpstr>커스텀한 데이터를 읽어 들일 때</vt:lpstr>
      <vt:lpstr>File Buffer class</vt:lpstr>
      <vt:lpstr>PowerPoint 프레젠테이션</vt:lpstr>
      <vt:lpstr>PowerPoint 프레젠테이션</vt:lpstr>
      <vt:lpstr>PowerPoint 프레젠테이션</vt:lpstr>
      <vt:lpstr>PowerPoint 프레젠테이션</vt:lpstr>
      <vt:lpstr>버퍼 단위 읽기</vt:lpstr>
      <vt:lpstr>버퍼의 크기는 어떻게 책정했는가?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SungHyun Moon</dc:creator>
  <cp:lastModifiedBy>SungHyun Moon</cp:lastModifiedBy>
  <cp:revision>7</cp:revision>
  <dcterms:created xsi:type="dcterms:W3CDTF">2026-09-02T03:01:21Z</dcterms:created>
  <dcterms:modified xsi:type="dcterms:W3CDTF">2026-09-02T05:02:38Z</dcterms:modified>
</cp:coreProperties>
</file>